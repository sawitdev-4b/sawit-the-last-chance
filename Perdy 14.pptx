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8F7D-53F7-2535-EE3E-32CEC44B8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7CDD5-3DEC-6420-578C-CB701F63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3B078-4D23-579E-3E9A-9D38E75C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07EC0-0F3A-4B52-A94B-28B4E057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C3C91-F65D-7CC9-C99D-F59377E0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482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E77F-9BE4-8A41-0300-F8F3BC61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7E678-BF28-EC7A-6F47-58C9C914D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5E91A-5A39-4377-756B-31F45DE7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938F9-D9FA-2B4A-69DE-2DA5A228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27793-FBA3-B52C-6708-137F4973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821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9F3B-68C8-1E11-0C7F-E7E3AAD2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0545B-76CE-8C8A-785E-5C5E58203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58145-89DF-9ED3-049F-4FD6E76C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AE6DD-5AD0-41CA-39BB-D82B444A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CD862-054E-DE48-A9E0-7CA7FE1E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833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177F-CFDB-ED1A-E274-5D8C461E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0129-C1EE-D640-F7A9-72A3B5283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5C064-71B0-DF6A-C9EE-2B7A4A3BB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9334-1C68-59E0-7B91-1D86745D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AB5EA-5EF8-9BE6-AB7D-394E416E1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A8F02-28EF-B1ED-F06C-68A630CB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545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FFB2-476A-D111-63A8-4B38F50F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4D56-A2E3-5F4A-92E9-2EBC9C391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A2ED3-3F0F-4D52-3CCA-71435C128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0A683-A2A3-70DD-72CB-7C2CFABBE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D14C0-5512-6B35-4F92-EE30D8C80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F0A10-D478-AB15-1B66-AFA56FC7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0787D-5273-3E4F-2F28-2214EB43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A37B9-CACC-4B33-5A37-630FFC1C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351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969F-3CBC-C7D1-4D61-C53FE1B9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5C0CE-4FB5-D3E0-32B1-A7084954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C98E1-4F49-C458-565F-A798998E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5CB34-2186-8200-2424-FC752218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115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F4125-032E-E939-F95A-0D96213C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582F4-41C2-E704-79D1-B711D00F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818B7-26CD-2375-D508-5C6704E1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861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11B2-D01F-7F6A-B446-E533725CA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24A83-E539-BAD6-3744-674D32ACE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C6C9F-1E71-C37B-3A29-347922E8B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4733E-6F28-C68D-2890-A50114A3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1F32E-1B1B-4675-054E-6BFFEC42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4B635-48E6-3F46-DC83-1EAC7A86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895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ECB8-E8D8-3C19-345D-1999F856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15E4-6E94-2219-6F95-539F71A14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E3759-27EB-06BD-5FAD-92FEF1EA0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0A2BC-E4BC-E01B-11D7-140484ED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58276-D89E-BA8E-E8ED-BDDFB293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CE5B4-EAC8-3D74-0B52-BA3045C33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4864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F482-1723-F407-A95C-FFC87225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6E5B6-C28C-99E7-834F-602762F5C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F4F06-BD73-CC4C-CC44-E2EAECC8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6CAA6-31D6-330B-8282-86E29D3B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37E93-9B64-5902-5CE8-FF43CCCA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831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32B66-8E9B-9FD4-D688-AF5210DB7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BDF90-26EA-1B71-7667-21131DCBD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00A99-48AA-0DA8-C836-B8480852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D9D84-D6C0-E32A-7864-2A7A0231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27F3-B5FA-5EED-D728-8A9E0A06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992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11320-7C75-C6E5-B24C-BF1D853B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361C2-8CB8-8F38-395E-5500588A2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1DC55-EBE9-880B-765E-86A1FD965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CFD4F-2F86-4AF1-9985-F1A8DE959219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F4F08-66F7-31B3-10AA-15690AE92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C402F-7CB7-21E1-23CD-861D42894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FA9F2-4627-4BAA-8C46-B3F60DF353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6944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9A7B-050D-FC25-FF08-0F7A6658E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1709"/>
            <a:ext cx="9144000" cy="893608"/>
          </a:xfrm>
        </p:spPr>
        <p:txBody>
          <a:bodyPr>
            <a:normAutofit fontScale="90000"/>
          </a:bodyPr>
          <a:lstStyle/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Sawit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Last Chance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87061-E487-31CC-F80B-D871F68F6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081" y="531806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ID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Nama			: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Perdylasta</a:t>
            </a:r>
            <a:endParaRPr lang="en-ID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D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			: 2403015006</a:t>
            </a:r>
          </a:p>
          <a:p>
            <a:pPr algn="l"/>
            <a:r>
              <a:rPr lang="en-ID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Dosen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Pengampu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: Ir. Arry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Avorizano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Kom., M. Kom.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0BF65-7C41-01AF-BB99-FDF5C80C7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850" y="1581226"/>
            <a:ext cx="3978300" cy="373684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8D5C36-772D-3690-6741-8DCD98EEE5BC}"/>
              </a:ext>
            </a:extLst>
          </p:cNvPr>
          <p:cNvSpPr txBox="1">
            <a:spLocks/>
          </p:cNvSpPr>
          <p:nvPr/>
        </p:nvSpPr>
        <p:spPr>
          <a:xfrm>
            <a:off x="3784268" y="2839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06357A3-E966-640B-989F-885F933B5FDD}"/>
              </a:ext>
            </a:extLst>
          </p:cNvPr>
          <p:cNvSpPr txBox="1">
            <a:spLocks/>
          </p:cNvSpPr>
          <p:nvPr/>
        </p:nvSpPr>
        <p:spPr>
          <a:xfrm>
            <a:off x="5259107" y="351259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1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A9649-D6F7-9C85-7D42-8441CA43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9950-CDFD-CCF1-C96D-449B2EBF1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2978"/>
            <a:ext cx="12192000" cy="1655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LATAR BELAKANG &amp;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 PROYEK</a:t>
            </a:r>
            <a:endParaRPr lang="en-ID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D5833-FE5F-340B-78D6-71EAF330B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59" y="2776637"/>
            <a:ext cx="9398001" cy="3962400"/>
          </a:xfrm>
        </p:spPr>
        <p:txBody>
          <a:bodyPr>
            <a:normAutofit/>
          </a:bodyPr>
          <a:lstStyle/>
          <a:p>
            <a:pPr marL="342900" indent="-342900" algn="just">
              <a:buFontTx/>
              <a:buChar char="-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berangkat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khususnya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deforestasi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Kami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merancang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game di mana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pemain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berperan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kelapa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sawit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mematuhi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serakah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demi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hadiah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Tx/>
              <a:buChar char="-"/>
            </a:pPr>
            <a:endParaRPr lang="en-ID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Char char="-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bertujuan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menciptakan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edukasi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interaktif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Roblox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berfokus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dampak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praktik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perkebunan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kelapa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sawit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bertanggung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jawab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F04B6C9-E359-B448-EC14-57D4CDBB78EB}"/>
              </a:ext>
            </a:extLst>
          </p:cNvPr>
          <p:cNvSpPr txBox="1">
            <a:spLocks/>
          </p:cNvSpPr>
          <p:nvPr/>
        </p:nvSpPr>
        <p:spPr>
          <a:xfrm>
            <a:off x="3784268" y="2839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F3BCE32-E969-FB48-9EA2-0A8839234512}"/>
              </a:ext>
            </a:extLst>
          </p:cNvPr>
          <p:cNvSpPr txBox="1">
            <a:spLocks/>
          </p:cNvSpPr>
          <p:nvPr/>
        </p:nvSpPr>
        <p:spPr>
          <a:xfrm>
            <a:off x="5259107" y="351259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4619AE-55D5-A34C-B775-ECCD13410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393"/>
          <a:stretch>
            <a:fillRect/>
          </a:stretch>
        </p:blipFill>
        <p:spPr>
          <a:xfrm>
            <a:off x="4106850" y="118963"/>
            <a:ext cx="3978300" cy="471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3A194-B59D-FF67-CE56-EEC55B85A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>
            <a:off x="10202850" y="6470422"/>
            <a:ext cx="1989150" cy="36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D7D431-B06F-1ED5-1884-C0FEEE8D9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>
            <a:off x="0" y="890"/>
            <a:ext cx="1989150" cy="36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9B01FA-627C-0DF1-CA2C-C9BF4A481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flipH="1">
            <a:off x="0" y="6491811"/>
            <a:ext cx="1989150" cy="3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CF2843-88D3-378A-F564-5B202BF60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 flipH="1">
            <a:off x="10202850" y="891"/>
            <a:ext cx="1989150" cy="3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1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BD773-20F5-0055-FAB4-775ACB83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3127-7F04-DF6F-8531-226D3D581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9905"/>
            <a:ext cx="12192000" cy="893608"/>
          </a:xfrm>
        </p:spPr>
        <p:txBody>
          <a:bodyPr>
            <a:normAutofit fontScale="90000"/>
          </a:bodyPr>
          <a:lstStyle/>
          <a:p>
            <a:r>
              <a:rPr lang="en-ID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NARASI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018D0-01B5-DE5C-93A4-B90D6279C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777" y="1791530"/>
            <a:ext cx="8657864" cy="4308327"/>
          </a:xfrm>
        </p:spPr>
        <p:txBody>
          <a:bodyPr>
            <a:normAutofit/>
          </a:bodyPr>
          <a:lstStyle/>
          <a:p>
            <a:pPr algn="just"/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(player)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bekerja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sawit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Bos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tamak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memperluas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lahan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sawitnya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menebang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pohon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lindung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menyuruh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menebangnya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Bos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menjanjikan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reward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pohon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ditebang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mencapai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pohon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karakter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tergiur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10683DA-D622-AA7C-D6C6-0437B98C7D7D}"/>
              </a:ext>
            </a:extLst>
          </p:cNvPr>
          <p:cNvSpPr txBox="1">
            <a:spLocks/>
          </p:cNvSpPr>
          <p:nvPr/>
        </p:nvSpPr>
        <p:spPr>
          <a:xfrm>
            <a:off x="3784268" y="2839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59DC7C6-EA95-1411-97DD-F9CD24D196CD}"/>
              </a:ext>
            </a:extLst>
          </p:cNvPr>
          <p:cNvSpPr txBox="1">
            <a:spLocks/>
          </p:cNvSpPr>
          <p:nvPr/>
        </p:nvSpPr>
        <p:spPr>
          <a:xfrm>
            <a:off x="5259107" y="351259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197D46-00A7-1D6B-27F8-6D4B45281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>
            <a:off x="10202850" y="6470422"/>
            <a:ext cx="1989150" cy="36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4EB22-6A59-1756-15DB-D7C799FE4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>
            <a:off x="0" y="890"/>
            <a:ext cx="1989150" cy="36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6C5E36-D84A-E376-6D38-2C59001B4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flipH="1">
            <a:off x="0" y="6491811"/>
            <a:ext cx="1989150" cy="3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5D6B23-FFE1-642F-13BF-B8B7B0C4D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 flipH="1">
            <a:off x="10202850" y="891"/>
            <a:ext cx="1989150" cy="365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129B04-077B-D3F1-7D95-0630BC454F35}"/>
              </a:ext>
            </a:extLst>
          </p:cNvPr>
          <p:cNvSpPr txBox="1"/>
          <p:nvPr/>
        </p:nvSpPr>
        <p:spPr>
          <a:xfrm>
            <a:off x="1786359" y="4789534"/>
            <a:ext cx="86964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Alur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cerita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berpusat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Quest</a:t>
            </a:r>
          </a:p>
          <a:p>
            <a:pPr marL="285750" indent="-285750">
              <a:buFontTx/>
              <a:buChar char="-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Tujuan: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Menebang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lindung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Iming-iming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Hadiah: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sedan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dijanjikan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menebang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pohon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Kenyataannya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Alam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murka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membalas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hadiah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dicapai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598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2206D-6DA2-C2F0-3C04-30899F09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D934-EC2E-F760-E733-AA51454E6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38851" y="2537696"/>
            <a:ext cx="5496560" cy="1782608"/>
          </a:xfrm>
        </p:spPr>
        <p:txBody>
          <a:bodyPr>
            <a:normAutofit/>
          </a:bodyPr>
          <a:lstStyle/>
          <a:p>
            <a:r>
              <a:rPr lang="en-ID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C5E4D79-C77E-6557-1AEB-9E5A17E79046}"/>
              </a:ext>
            </a:extLst>
          </p:cNvPr>
          <p:cNvSpPr txBox="1">
            <a:spLocks/>
          </p:cNvSpPr>
          <p:nvPr/>
        </p:nvSpPr>
        <p:spPr>
          <a:xfrm>
            <a:off x="3784268" y="2839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9BDA2AB-560D-8ECF-F2AC-EC1A3391A776}"/>
              </a:ext>
            </a:extLst>
          </p:cNvPr>
          <p:cNvSpPr txBox="1">
            <a:spLocks/>
          </p:cNvSpPr>
          <p:nvPr/>
        </p:nvSpPr>
        <p:spPr>
          <a:xfrm>
            <a:off x="5259107" y="351259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4499B-9B92-DD38-8B57-3F5154291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>
            <a:off x="10202850" y="6470422"/>
            <a:ext cx="1989150" cy="36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454ACD-CDE6-B0E4-66BE-E7B21749B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>
            <a:off x="0" y="890"/>
            <a:ext cx="1989150" cy="36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1DE982-F97D-8304-2EFB-739211FD4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flipH="1">
            <a:off x="0" y="6491811"/>
            <a:ext cx="1989150" cy="3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FA2796-404C-3661-5EF3-74652E638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 flipH="1">
            <a:off x="10202850" y="891"/>
            <a:ext cx="1989150" cy="3653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6A47E73-4C2F-30B0-B5F0-2F115348A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24926"/>
              </p:ext>
            </p:extLst>
          </p:nvPr>
        </p:nvGraphicFramePr>
        <p:xfrm>
          <a:off x="4664598" y="369756"/>
          <a:ext cx="6748040" cy="6112383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803894">
                  <a:extLst>
                    <a:ext uri="{9D8B030D-6E8A-4147-A177-3AD203B41FA5}">
                      <a16:colId xmlns:a16="http://schemas.microsoft.com/office/drawing/2014/main" val="2375424490"/>
                    </a:ext>
                  </a:extLst>
                </a:gridCol>
                <a:gridCol w="5944146">
                  <a:extLst>
                    <a:ext uri="{9D8B030D-6E8A-4147-A177-3AD203B41FA5}">
                      <a16:colId xmlns:a16="http://schemas.microsoft.com/office/drawing/2014/main" val="2489148421"/>
                    </a:ext>
                  </a:extLst>
                </a:gridCol>
              </a:tblGrid>
              <a:tr h="25141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Deskripsi Requirement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2619257871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FR-01 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memungkinkan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player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memulai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permainan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masuk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game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1572065931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FR-02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menangani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interaksi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dasar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player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seperti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bergerak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memilih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dan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berinteraksi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objek</a:t>
                      </a:r>
                      <a:endParaRPr lang="en-ID" sz="1600" kern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952428436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Player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dapat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menyimpan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melanjutkan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progress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permainan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(save/load)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3405286672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menyediakan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currency (uang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game) dan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mekanisme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penggunaannya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2733520853"/>
                  </a:ext>
                </a:extLst>
              </a:tr>
              <a:tr h="25488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Player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dapat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memanen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buah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Sawit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4185591138"/>
                  </a:ext>
                </a:extLst>
              </a:tr>
              <a:tr h="25141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mampu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menghitung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buah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Sawit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dipanen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24206199"/>
                  </a:ext>
                </a:extLst>
              </a:tr>
              <a:tr h="25141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FR-07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mampu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memberikan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penjualan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buah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Sawit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2251785862"/>
                  </a:ext>
                </a:extLst>
              </a:tr>
              <a:tr h="25141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FR-08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menyediakan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NPC yang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memberikan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dialog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interaktif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2008136518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FR-09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menampilkan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narasi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berkembang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sesuai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progress player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2189817465"/>
                  </a:ext>
                </a:extLst>
              </a:tr>
              <a:tr h="25141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FR-10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mengelola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inventory player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2304019937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FR-11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menyediakan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antarmuka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pengguna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(UI)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navigasi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interaksi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3491952682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FR-12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menampilkan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informasi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status player (uang,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sawit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dipanen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1097786266"/>
                  </a:ext>
                </a:extLst>
              </a:tr>
              <a:tr h="25141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FR-13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harus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berjalan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pada platform Roblox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tanpa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instalasi</a:t>
                      </a:r>
                      <a:r>
                        <a:rPr lang="en-ID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tambahan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4020088291"/>
                  </a:ext>
                </a:extLst>
              </a:tr>
              <a:tr h="52473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FR-14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mampu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menyediakan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mekanisme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hujan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banjir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terpicu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beberapa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pohon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ditebang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289" marR="56289" marT="0" marB="0"/>
                </a:tc>
                <a:extLst>
                  <a:ext uri="{0D108BD9-81ED-4DB2-BD59-A6C34878D82A}">
                    <a16:rowId xmlns:a16="http://schemas.microsoft.com/office/drawing/2014/main" val="1563217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497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9DDFF-7A9F-83A0-F761-745206B7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A21E79F-62F4-1443-FAFD-FF3B52F91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891" y="-10250"/>
            <a:ext cx="12387207" cy="6902267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CFC50768-5DF9-276C-1D2F-1057CE850556}"/>
              </a:ext>
            </a:extLst>
          </p:cNvPr>
          <p:cNvSpPr txBox="1">
            <a:spLocks/>
          </p:cNvSpPr>
          <p:nvPr/>
        </p:nvSpPr>
        <p:spPr>
          <a:xfrm>
            <a:off x="3784268" y="2839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9441D32-A61B-906F-BBDC-50368E8BC691}"/>
              </a:ext>
            </a:extLst>
          </p:cNvPr>
          <p:cNvSpPr txBox="1">
            <a:spLocks/>
          </p:cNvSpPr>
          <p:nvPr/>
        </p:nvSpPr>
        <p:spPr>
          <a:xfrm>
            <a:off x="5259107" y="351259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E662C-947A-4DC3-1C72-9722D3705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>
            <a:off x="10202850" y="6470422"/>
            <a:ext cx="1989150" cy="36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159EE8-33E4-F7BB-87C7-6A9CEE0D8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>
            <a:off x="0" y="890"/>
            <a:ext cx="1989150" cy="36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2B506-F9FC-0485-BC36-F2BF6715A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flipH="1">
            <a:off x="0" y="6491811"/>
            <a:ext cx="1989150" cy="3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994930-B2D4-D901-F6A6-957546B6D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 flipH="1">
            <a:off x="10202850" y="891"/>
            <a:ext cx="1989150" cy="3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1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0575B-2907-120F-160F-5756D9E5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67CC43F-6004-18DA-8CC6-0A5EE642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1563" y="-43084"/>
            <a:ext cx="12343563" cy="690019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0CE5E64-3E0F-883F-BD6A-F1DE8DCA56AD}"/>
              </a:ext>
            </a:extLst>
          </p:cNvPr>
          <p:cNvSpPr txBox="1">
            <a:spLocks/>
          </p:cNvSpPr>
          <p:nvPr/>
        </p:nvSpPr>
        <p:spPr>
          <a:xfrm>
            <a:off x="3784268" y="2839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16F0CF5-FBC7-D89E-7668-E18E8C48667A}"/>
              </a:ext>
            </a:extLst>
          </p:cNvPr>
          <p:cNvSpPr txBox="1">
            <a:spLocks/>
          </p:cNvSpPr>
          <p:nvPr/>
        </p:nvSpPr>
        <p:spPr>
          <a:xfrm>
            <a:off x="5259107" y="351259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BD232-69D9-5974-3294-C3C211C35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>
            <a:off x="10202850" y="6470422"/>
            <a:ext cx="1989150" cy="36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A3038C-2476-6920-7E90-E34C8FFB2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>
            <a:off x="0" y="890"/>
            <a:ext cx="1989150" cy="36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129524-0D82-BC0F-D91E-E3F822355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flipH="1">
            <a:off x="0" y="6491811"/>
            <a:ext cx="1989150" cy="3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B14946-B682-6AC4-83C0-466555EBF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 flipH="1">
            <a:off x="10202850" y="891"/>
            <a:ext cx="1989150" cy="3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45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A1DC5-33EC-6CFE-F09D-69FE0902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8D3A8BF1-497B-997E-A752-FB9ECC3E94AE}"/>
              </a:ext>
            </a:extLst>
          </p:cNvPr>
          <p:cNvSpPr txBox="1">
            <a:spLocks/>
          </p:cNvSpPr>
          <p:nvPr/>
        </p:nvSpPr>
        <p:spPr>
          <a:xfrm>
            <a:off x="5259107" y="351170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55350-7158-0086-F28B-2C0BDE2D6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>
            <a:off x="10202850" y="6469532"/>
            <a:ext cx="1989150" cy="36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FBB9D5-D5E6-B471-618A-D6359F9FB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>
            <a:off x="0" y="0"/>
            <a:ext cx="1989150" cy="36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841163-701D-9207-2E4F-735DEDF06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flipH="1">
            <a:off x="0" y="6490921"/>
            <a:ext cx="1989150" cy="3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35C4D2-E5ED-59B5-29FD-2C6049AAD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 flipH="1">
            <a:off x="10202850" y="1"/>
            <a:ext cx="1989150" cy="365300"/>
          </a:xfrm>
          <a:prstGeom prst="rect">
            <a:avLst/>
          </a:prstGeom>
        </p:spPr>
      </p:pic>
      <p:sp>
        <p:nvSpPr>
          <p:cNvPr id="20" name="Rectangle 4">
            <a:extLst>
              <a:ext uri="{FF2B5EF4-FFF2-40B4-BE49-F238E27FC236}">
                <a16:creationId xmlns:a16="http://schemas.microsoft.com/office/drawing/2014/main" id="{8212BB75-3C17-6E91-19FE-65545D7EF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37" y="669512"/>
            <a:ext cx="155174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 sz="24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8B1F87E-B226-2217-01AF-E0556B57F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644187"/>
              </p:ext>
            </p:extLst>
          </p:nvPr>
        </p:nvGraphicFramePr>
        <p:xfrm>
          <a:off x="891457" y="1820131"/>
          <a:ext cx="10130504" cy="3983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32626">
                  <a:extLst>
                    <a:ext uri="{9D8B030D-6E8A-4147-A177-3AD203B41FA5}">
                      <a16:colId xmlns:a16="http://schemas.microsoft.com/office/drawing/2014/main" val="2059973275"/>
                    </a:ext>
                  </a:extLst>
                </a:gridCol>
                <a:gridCol w="2532626">
                  <a:extLst>
                    <a:ext uri="{9D8B030D-6E8A-4147-A177-3AD203B41FA5}">
                      <a16:colId xmlns:a16="http://schemas.microsoft.com/office/drawing/2014/main" val="4230215826"/>
                    </a:ext>
                  </a:extLst>
                </a:gridCol>
                <a:gridCol w="2532626">
                  <a:extLst>
                    <a:ext uri="{9D8B030D-6E8A-4147-A177-3AD203B41FA5}">
                      <a16:colId xmlns:a16="http://schemas.microsoft.com/office/drawing/2014/main" val="2272402884"/>
                    </a:ext>
                  </a:extLst>
                </a:gridCol>
                <a:gridCol w="2532626">
                  <a:extLst>
                    <a:ext uri="{9D8B030D-6E8A-4147-A177-3AD203B41FA5}">
                      <a16:colId xmlns:a16="http://schemas.microsoft.com/office/drawing/2014/main" val="1665975841"/>
                    </a:ext>
                  </a:extLst>
                </a:gridCol>
              </a:tblGrid>
              <a:tr h="90444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1" u="none" strike="noStrike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Fitur </a:t>
                      </a:r>
                      <a:endParaRPr lang="en-ID" sz="240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1" u="none" strike="noStrike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Alat Terkait</a:t>
                      </a:r>
                      <a:endParaRPr lang="en-ID" sz="240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1" u="none" strike="noStrike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Formula / Hasil</a:t>
                      </a:r>
                      <a:endParaRPr lang="en-ID" sz="240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1" u="none" strike="noStrike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Waktu </a:t>
                      </a:r>
                      <a:r>
                        <a:rPr lang="en-ID" sz="2400" b="1" u="none" strike="noStrike" dirty="0" err="1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Pemulihan</a:t>
                      </a:r>
                      <a:r>
                        <a:rPr lang="en-ID" sz="2400" b="1" u="none" strike="noStrike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 (Cooldown)</a:t>
                      </a:r>
                      <a:endParaRPr lang="en-ID" sz="2400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</a:endParaRPr>
                    </a:p>
                  </a:txBody>
                  <a:tcPr marL="53340" marR="53340" marT="22860" marB="22860" anchor="ctr"/>
                </a:tc>
                <a:extLst>
                  <a:ext uri="{0D108BD9-81ED-4DB2-BD59-A6C34878D82A}">
                    <a16:rowId xmlns:a16="http://schemas.microsoft.com/office/drawing/2014/main" val="937885551"/>
                  </a:ext>
                </a:extLst>
              </a:tr>
              <a:tr h="69867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 dirty="0" err="1">
                          <a:solidFill>
                            <a:srgbClr val="475569"/>
                          </a:solidFill>
                          <a:effectLst/>
                        </a:rPr>
                        <a:t>Memanen</a:t>
                      </a:r>
                      <a:r>
                        <a:rPr lang="en-ID" sz="2400" b="0" u="none" strike="noStrike" dirty="0">
                          <a:solidFill>
                            <a:srgbClr val="475569"/>
                          </a:solidFill>
                          <a:effectLst/>
                        </a:rPr>
                        <a:t> </a:t>
                      </a:r>
                      <a:r>
                        <a:rPr lang="en-ID" sz="2400" b="0" u="none" strike="noStrike" dirty="0" err="1">
                          <a:solidFill>
                            <a:srgbClr val="475569"/>
                          </a:solidFill>
                          <a:effectLst/>
                        </a:rPr>
                        <a:t>Sawit</a:t>
                      </a:r>
                      <a:endParaRPr lang="en-ID" sz="2400" dirty="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 dirty="0">
                          <a:solidFill>
                            <a:srgbClr val="475569"/>
                          </a:solidFill>
                          <a:effectLst/>
                        </a:rPr>
                        <a:t>Scythe</a:t>
                      </a:r>
                      <a:endParaRPr lang="en-ID" sz="2400" dirty="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24 unit / pohon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30 Detik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extLst>
                  <a:ext uri="{0D108BD9-81ED-4DB2-BD59-A6C34878D82A}">
                    <a16:rowId xmlns:a16="http://schemas.microsoft.com/office/drawing/2014/main" val="687503868"/>
                  </a:ext>
                </a:extLst>
              </a:tr>
              <a:tr h="69867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Penjualan (NPC Muis)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 dirty="0" err="1">
                          <a:solidFill>
                            <a:srgbClr val="475569"/>
                          </a:solidFill>
                          <a:effectLst/>
                        </a:rPr>
                        <a:t>Interaksi</a:t>
                      </a:r>
                      <a:r>
                        <a:rPr lang="en-ID" sz="2400" b="0" u="none" strike="noStrike" dirty="0">
                          <a:solidFill>
                            <a:srgbClr val="475569"/>
                          </a:solidFill>
                          <a:effectLst/>
                        </a:rPr>
                        <a:t> [E]</a:t>
                      </a:r>
                      <a:endParaRPr lang="en-ID" sz="2400" dirty="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D" sz="2400" b="0" u="none" strike="noStrike" dirty="0" err="1">
                          <a:solidFill>
                            <a:srgbClr val="475569"/>
                          </a:solidFill>
                          <a:effectLst/>
                        </a:rPr>
                        <a:t>Pendapatan</a:t>
                      </a:r>
                      <a:r>
                        <a:rPr lang="en-ID" sz="2400" b="0" u="none" strike="noStrike" dirty="0">
                          <a:solidFill>
                            <a:srgbClr val="475569"/>
                          </a:solidFill>
                          <a:effectLst/>
                        </a:rPr>
                        <a:t> = Jumlah×10</a:t>
                      </a:r>
                      <a:endParaRPr lang="en-ID" sz="2400" dirty="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Instan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extLst>
                  <a:ext uri="{0D108BD9-81ED-4DB2-BD59-A6C34878D82A}">
                    <a16:rowId xmlns:a16="http://schemas.microsoft.com/office/drawing/2014/main" val="2425850428"/>
                  </a:ext>
                </a:extLst>
              </a:tr>
              <a:tr h="69867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Deforestasi Hutan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Chainsaw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1 pohon tumbang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5 Detik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extLst>
                  <a:ext uri="{0D108BD9-81ED-4DB2-BD59-A6C34878D82A}">
                    <a16:rowId xmlns:a16="http://schemas.microsoft.com/office/drawing/2014/main" val="2550548552"/>
                  </a:ext>
                </a:extLst>
              </a:tr>
              <a:tr h="90444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 dirty="0" err="1">
                          <a:solidFill>
                            <a:srgbClr val="475569"/>
                          </a:solidFill>
                          <a:effectLst/>
                        </a:rPr>
                        <a:t>Memanggil</a:t>
                      </a:r>
                      <a:r>
                        <a:rPr lang="en-ID" sz="2400" b="0" u="none" strike="noStrike" dirty="0">
                          <a:solidFill>
                            <a:srgbClr val="475569"/>
                          </a:solidFill>
                          <a:effectLst/>
                        </a:rPr>
                        <a:t> Mobil (Spawn)</a:t>
                      </a:r>
                      <a:endParaRPr lang="en-ID" sz="2400" dirty="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Car Spawner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>
                          <a:solidFill>
                            <a:srgbClr val="475569"/>
                          </a:solidFill>
                          <a:effectLst/>
                        </a:rPr>
                        <a:t>Biaya 20.000 Koin</a:t>
                      </a:r>
                      <a:endParaRPr lang="en-ID" sz="2400">
                        <a:effectLst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400" b="0" u="none" strike="noStrike" dirty="0">
                          <a:solidFill>
                            <a:srgbClr val="475569"/>
                          </a:solidFill>
                          <a:effectLst/>
                        </a:rPr>
                        <a:t>120 </a:t>
                      </a:r>
                      <a:r>
                        <a:rPr lang="en-ID" sz="2400" b="0" u="none" strike="noStrike" dirty="0" err="1">
                          <a:solidFill>
                            <a:srgbClr val="475569"/>
                          </a:solidFill>
                          <a:effectLst/>
                        </a:rPr>
                        <a:t>Detik</a:t>
                      </a:r>
                      <a:endParaRPr lang="en-ID" sz="2400" dirty="0">
                        <a:effectLst/>
                      </a:endParaRPr>
                    </a:p>
                  </a:txBody>
                  <a:tcPr marL="53340" marR="53340" marT="22860" marB="22860" anchor="ctr"/>
                </a:tc>
                <a:extLst>
                  <a:ext uri="{0D108BD9-81ED-4DB2-BD59-A6C34878D82A}">
                    <a16:rowId xmlns:a16="http://schemas.microsoft.com/office/drawing/2014/main" val="96774135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558D04-30A7-74C2-73F5-2C119F8C7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457" y="9040"/>
            <a:ext cx="10130504" cy="1782608"/>
          </a:xfrm>
        </p:spPr>
        <p:txBody>
          <a:bodyPr>
            <a:normAutofit/>
          </a:bodyPr>
          <a:lstStyle/>
          <a:p>
            <a:r>
              <a:rPr lang="en-ID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FITUR/MEKANISME GAME</a:t>
            </a:r>
          </a:p>
        </p:txBody>
      </p:sp>
    </p:spTree>
    <p:extLst>
      <p:ext uri="{BB962C8B-B14F-4D97-AF65-F5344CB8AC3E}">
        <p14:creationId xmlns:p14="http://schemas.microsoft.com/office/powerpoint/2010/main" val="101748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31927-94D5-9CC4-E49A-0C9739A5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BFC3AE59-4126-9C82-5586-463EEE05913C}"/>
              </a:ext>
            </a:extLst>
          </p:cNvPr>
          <p:cNvSpPr txBox="1">
            <a:spLocks/>
          </p:cNvSpPr>
          <p:nvPr/>
        </p:nvSpPr>
        <p:spPr>
          <a:xfrm>
            <a:off x="5259107" y="3511707"/>
            <a:ext cx="9144000" cy="1132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AD8C4F-95F9-F95D-2674-665A0EEE4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>
            <a:off x="10202850" y="6469532"/>
            <a:ext cx="1989150" cy="36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27E357-EFF4-9DE2-BAD6-52D15A695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>
            <a:off x="0" y="0"/>
            <a:ext cx="1989150" cy="36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F87868-2559-0991-6248-E895AC872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flipH="1">
            <a:off x="0" y="6490921"/>
            <a:ext cx="1989150" cy="3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7C1CB3-A195-78CD-032E-CCC7C3B2D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1" r="50000" b="64173"/>
          <a:stretch>
            <a:fillRect/>
          </a:stretch>
        </p:blipFill>
        <p:spPr>
          <a:xfrm rot="10800000" flipH="1">
            <a:off x="10202850" y="1"/>
            <a:ext cx="1989150" cy="365300"/>
          </a:xfrm>
          <a:prstGeom prst="rect">
            <a:avLst/>
          </a:prstGeom>
        </p:spPr>
      </p:pic>
      <p:sp>
        <p:nvSpPr>
          <p:cNvPr id="20" name="Rectangle 4">
            <a:extLst>
              <a:ext uri="{FF2B5EF4-FFF2-40B4-BE49-F238E27FC236}">
                <a16:creationId xmlns:a16="http://schemas.microsoft.com/office/drawing/2014/main" id="{E79F1D07-87C3-40D4-CAB4-E9CA91EFB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37" y="669512"/>
            <a:ext cx="155174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880AB-0AAF-5BD5-597B-48CC0E835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457" y="9040"/>
            <a:ext cx="10130504" cy="1782608"/>
          </a:xfrm>
        </p:spPr>
        <p:txBody>
          <a:bodyPr>
            <a:normAutofit/>
          </a:bodyPr>
          <a:lstStyle/>
          <a:p>
            <a:r>
              <a:rPr lang="en-ID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KESESUAIAN KEBUTUHAN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65084-9A0B-70A6-F233-B84D435B3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777" y="1791530"/>
            <a:ext cx="8657864" cy="4308327"/>
          </a:xfrm>
        </p:spPr>
        <p:txBody>
          <a:bodyPr>
            <a:normAutofit/>
          </a:bodyPr>
          <a:lstStyle/>
          <a:p>
            <a:pPr algn="just"/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sebagian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diidentifikasi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Fitur-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interkasi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NPC,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memanen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sawit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menjual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sawit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membeli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menebang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pohon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hujan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banjir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diimplementasikan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konsep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diimplementasikan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1253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487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Sawit: The Last Chance</vt:lpstr>
      <vt:lpstr>LATAR BELAKANG &amp; TUJUAN PROYEK</vt:lpstr>
      <vt:lpstr>NARASI GAME</vt:lpstr>
      <vt:lpstr>FUNCTIONAL REQUIREMENT</vt:lpstr>
      <vt:lpstr>PowerPoint Presentation</vt:lpstr>
      <vt:lpstr>PowerPoint Presentation</vt:lpstr>
      <vt:lpstr>FITUR/MEKANISME GAME</vt:lpstr>
      <vt:lpstr>KESESUAIAN KEBUTUHAN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Perdy Lasta</dc:creator>
  <cp:lastModifiedBy>Perdy Lasta</cp:lastModifiedBy>
  <cp:revision>2</cp:revision>
  <dcterms:created xsi:type="dcterms:W3CDTF">2026-06-09T13:38:49Z</dcterms:created>
  <dcterms:modified xsi:type="dcterms:W3CDTF">2026-06-10T02:19:00Z</dcterms:modified>
</cp:coreProperties>
</file>