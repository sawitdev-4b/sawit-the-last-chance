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nton" pitchFamily="2" charset="0"/>
      <p:regular r:id="rId9"/>
    </p:embeddedFont>
    <p:embeddedFont>
      <p:font typeface="Calibri" panose="020F0502020204030204" pitchFamily="34" charset="0"/>
      <p:regular r:id="rId10"/>
      <p:bold r:id="rId11"/>
      <p:italic r:id="rId12"/>
      <p:boldItalic r:id="rId13"/>
    </p:embeddedFont>
    <p:embeddedFont>
      <p:font typeface="Open Sans" panose="020B0606030504020204" pitchFamily="34" charset="0"/>
      <p:regular r:id="rId14"/>
    </p:embeddedFont>
    <p:embeddedFont>
      <p:font typeface="Open Sans Bold" panose="020B0806030504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dan Faiz" initials="WF" lastIdx="1" clrIdx="0">
    <p:extLst>
      <p:ext uri="{19B8F6BF-5375-455C-9EA6-DF929625EA0E}">
        <p15:presenceInfo xmlns:p15="http://schemas.microsoft.com/office/powerpoint/2012/main" userId="83000b4953c2d5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5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sv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sv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0"/>
            <a:ext cx="7202359" cy="10287000"/>
            <a:chOff x="0" y="0"/>
            <a:chExt cx="1896918" cy="2709333"/>
          </a:xfrm>
        </p:grpSpPr>
        <p:sp>
          <p:nvSpPr>
            <p:cNvPr id="4" name="Freeform 4"/>
            <p:cNvSpPr/>
            <p:nvPr/>
          </p:nvSpPr>
          <p:spPr>
            <a:xfrm>
              <a:off x="0" y="0"/>
              <a:ext cx="1896918" cy="2709333"/>
            </a:xfrm>
            <a:custGeom>
              <a:avLst/>
              <a:gdLst/>
              <a:ahLst/>
              <a:cxnLst/>
              <a:rect l="l" t="t" r="r" b="b"/>
              <a:pathLst>
                <a:path w="1896918" h="2709333">
                  <a:moveTo>
                    <a:pt x="0" y="0"/>
                  </a:moveTo>
                  <a:lnTo>
                    <a:pt x="1896918" y="0"/>
                  </a:lnTo>
                  <a:lnTo>
                    <a:pt x="1896918" y="2709333"/>
                  </a:lnTo>
                  <a:lnTo>
                    <a:pt x="0" y="2709333"/>
                  </a:lnTo>
                  <a:close/>
                </a:path>
              </a:pathLst>
            </a:custGeom>
            <a:gradFill rotWithShape="1">
              <a:gsLst>
                <a:gs pos="0">
                  <a:srgbClr val="0A2700">
                    <a:alpha val="90000"/>
                  </a:srgbClr>
                </a:gs>
                <a:gs pos="100000">
                  <a:srgbClr val="0A2700">
                    <a:alpha val="0"/>
                  </a:srgbClr>
                </a:gs>
              </a:gsLst>
              <a:lin ang="0"/>
            </a:gradFill>
          </p:spPr>
        </p:sp>
        <p:sp>
          <p:nvSpPr>
            <p:cNvPr id="5" name="TextBox 5"/>
            <p:cNvSpPr txBox="1"/>
            <p:nvPr/>
          </p:nvSpPr>
          <p:spPr>
            <a:xfrm>
              <a:off x="0" y="-38100"/>
              <a:ext cx="1896918" cy="27474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1085641" y="0"/>
            <a:ext cx="7202359" cy="10287000"/>
            <a:chOff x="0" y="0"/>
            <a:chExt cx="1896918" cy="2709333"/>
          </a:xfrm>
        </p:grpSpPr>
        <p:sp>
          <p:nvSpPr>
            <p:cNvPr id="7" name="Freeform 7"/>
            <p:cNvSpPr/>
            <p:nvPr/>
          </p:nvSpPr>
          <p:spPr>
            <a:xfrm>
              <a:off x="0" y="0"/>
              <a:ext cx="1896918" cy="2709333"/>
            </a:xfrm>
            <a:custGeom>
              <a:avLst/>
              <a:gdLst/>
              <a:ahLst/>
              <a:cxnLst/>
              <a:rect l="l" t="t" r="r" b="b"/>
              <a:pathLst>
                <a:path w="1896918" h="2709333">
                  <a:moveTo>
                    <a:pt x="0" y="0"/>
                  </a:moveTo>
                  <a:lnTo>
                    <a:pt x="1896918" y="0"/>
                  </a:lnTo>
                  <a:lnTo>
                    <a:pt x="1896918" y="2709333"/>
                  </a:lnTo>
                  <a:lnTo>
                    <a:pt x="0" y="2709333"/>
                  </a:lnTo>
                  <a:close/>
                </a:path>
              </a:pathLst>
            </a:custGeom>
            <a:gradFill rotWithShape="1">
              <a:gsLst>
                <a:gs pos="0">
                  <a:srgbClr val="0A2700">
                    <a:alpha val="0"/>
                  </a:srgbClr>
                </a:gs>
                <a:gs pos="100000">
                  <a:srgbClr val="0A2700">
                    <a:alpha val="89500"/>
                  </a:srgbClr>
                </a:gs>
              </a:gsLst>
              <a:lin ang="0"/>
            </a:gradFill>
          </p:spPr>
        </p:sp>
        <p:sp>
          <p:nvSpPr>
            <p:cNvPr id="8" name="TextBox 8"/>
            <p:cNvSpPr txBox="1"/>
            <p:nvPr/>
          </p:nvSpPr>
          <p:spPr>
            <a:xfrm>
              <a:off x="0" y="-38100"/>
              <a:ext cx="1896918"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Freeform 11"/>
          <p:cNvSpPr/>
          <p:nvPr/>
        </p:nvSpPr>
        <p:spPr>
          <a:xfrm rot="-5798278">
            <a:off x="13782934" y="2252236"/>
            <a:ext cx="1543821" cy="2024683"/>
          </a:xfrm>
          <a:custGeom>
            <a:avLst/>
            <a:gdLst/>
            <a:ahLst/>
            <a:cxnLst/>
            <a:rect l="l" t="t" r="r" b="b"/>
            <a:pathLst>
              <a:path w="1543821" h="2024683">
                <a:moveTo>
                  <a:pt x="0" y="0"/>
                </a:moveTo>
                <a:lnTo>
                  <a:pt x="1543821" y="0"/>
                </a:lnTo>
                <a:lnTo>
                  <a:pt x="1543821" y="2024683"/>
                </a:lnTo>
                <a:lnTo>
                  <a:pt x="0" y="2024683"/>
                </a:lnTo>
                <a:lnTo>
                  <a:pt x="0" y="0"/>
                </a:lnTo>
                <a:close/>
              </a:path>
            </a:pathLst>
          </a:custGeom>
          <a:blipFill>
            <a:blip r:embed="rId3"/>
            <a:stretch>
              <a:fillRect/>
            </a:stretch>
          </a:blipFill>
        </p:spPr>
      </p:sp>
      <p:sp>
        <p:nvSpPr>
          <p:cNvPr id="9" name="TextBox 9"/>
          <p:cNvSpPr txBox="1"/>
          <p:nvPr/>
        </p:nvSpPr>
        <p:spPr>
          <a:xfrm>
            <a:off x="2038463" y="2085545"/>
            <a:ext cx="14211073" cy="5513059"/>
          </a:xfrm>
          <a:prstGeom prst="rect">
            <a:avLst/>
          </a:prstGeom>
        </p:spPr>
        <p:txBody>
          <a:bodyPr lIns="0" tIns="0" rIns="0" bIns="0" rtlCol="0" anchor="t">
            <a:spAutoFit/>
          </a:bodyPr>
          <a:lstStyle/>
          <a:p>
            <a:pPr marL="0" lvl="0" indent="0" algn="ctr">
              <a:lnSpc>
                <a:spcPts val="22155"/>
              </a:lnSpc>
              <a:spcBef>
                <a:spcPct val="0"/>
              </a:spcBef>
            </a:pPr>
            <a:r>
              <a:rPr lang="en-US" sz="15825">
                <a:solidFill>
                  <a:srgbClr val="FFFFFF"/>
                </a:solidFill>
                <a:latin typeface="Anton"/>
                <a:ea typeface="Anton"/>
                <a:cs typeface="Anton"/>
                <a:sym typeface="Anton"/>
              </a:rPr>
              <a:t>Sawit: The Last Chance</a:t>
            </a:r>
          </a:p>
        </p:txBody>
      </p:sp>
      <p:sp>
        <p:nvSpPr>
          <p:cNvPr id="10" name="Freeform 10"/>
          <p:cNvSpPr/>
          <p:nvPr/>
        </p:nvSpPr>
        <p:spPr>
          <a:xfrm>
            <a:off x="2418633" y="3565835"/>
            <a:ext cx="1626612" cy="1812382"/>
          </a:xfrm>
          <a:custGeom>
            <a:avLst/>
            <a:gdLst/>
            <a:ahLst/>
            <a:cxnLst/>
            <a:rect l="l" t="t" r="r" b="b"/>
            <a:pathLst>
              <a:path w="1626612" h="1812382">
                <a:moveTo>
                  <a:pt x="0" y="0"/>
                </a:moveTo>
                <a:lnTo>
                  <a:pt x="1626613" y="0"/>
                </a:lnTo>
                <a:lnTo>
                  <a:pt x="1626613" y="1812382"/>
                </a:lnTo>
                <a:lnTo>
                  <a:pt x="0" y="1812382"/>
                </a:lnTo>
                <a:lnTo>
                  <a:pt x="0" y="0"/>
                </a:lnTo>
                <a:close/>
              </a:path>
            </a:pathLst>
          </a:custGeom>
          <a:blipFill>
            <a:blip r:embed="rId4"/>
            <a:stretch>
              <a:fillRect/>
            </a:stretch>
          </a:blipFill>
        </p:spPr>
      </p:sp>
      <p:sp>
        <p:nvSpPr>
          <p:cNvPr id="12" name="TextBox 12"/>
          <p:cNvSpPr txBox="1"/>
          <p:nvPr/>
        </p:nvSpPr>
        <p:spPr>
          <a:xfrm>
            <a:off x="3941811" y="8322888"/>
            <a:ext cx="10404378" cy="1239827"/>
          </a:xfrm>
          <a:prstGeom prst="rect">
            <a:avLst/>
          </a:prstGeom>
        </p:spPr>
        <p:txBody>
          <a:bodyPr wrap="square" lIns="0" tIns="0" rIns="0" bIns="0" rtlCol="0" anchor="t">
            <a:spAutoFit/>
          </a:bodyPr>
          <a:lstStyle/>
          <a:p>
            <a:pPr marL="0" lvl="0" indent="0" algn="ctr">
              <a:lnSpc>
                <a:spcPts val="4979"/>
              </a:lnSpc>
              <a:spcBef>
                <a:spcPct val="0"/>
              </a:spcBef>
            </a:pPr>
            <a:r>
              <a:rPr lang="en-US" sz="3557">
                <a:solidFill>
                  <a:srgbClr val="FFFFFF"/>
                </a:solidFill>
                <a:latin typeface="Open Sans"/>
                <a:ea typeface="Open Sans"/>
                <a:cs typeface="Open Sans"/>
                <a:sym typeface="Open Sans"/>
              </a:rPr>
              <a:t>Muhammad Wildan Faiz Althafah</a:t>
            </a:r>
          </a:p>
          <a:p>
            <a:pPr marL="0" lvl="0" indent="0" algn="ctr">
              <a:lnSpc>
                <a:spcPts val="4979"/>
              </a:lnSpc>
              <a:spcBef>
                <a:spcPct val="0"/>
              </a:spcBef>
            </a:pPr>
            <a:r>
              <a:rPr lang="en-US" sz="3557">
                <a:solidFill>
                  <a:srgbClr val="FFFFFF"/>
                </a:solidFill>
                <a:latin typeface="Open Sans"/>
                <a:ea typeface="Open Sans"/>
                <a:cs typeface="Open Sans"/>
                <a:sym typeface="Open Sans"/>
              </a:rPr>
              <a:t>2403015078</a:t>
            </a:r>
          </a:p>
        </p:txBody>
      </p:sp>
      <p:sp>
        <p:nvSpPr>
          <p:cNvPr id="13" name="TextBox 13"/>
          <p:cNvSpPr txBox="1"/>
          <p:nvPr/>
        </p:nvSpPr>
        <p:spPr>
          <a:xfrm>
            <a:off x="5521422" y="686775"/>
            <a:ext cx="7245156" cy="406190"/>
          </a:xfrm>
          <a:prstGeom prst="rect">
            <a:avLst/>
          </a:prstGeom>
        </p:spPr>
        <p:txBody>
          <a:bodyPr lIns="0" tIns="0" rIns="0" bIns="0" rtlCol="0" anchor="t">
            <a:spAutoFit/>
          </a:bodyPr>
          <a:lstStyle/>
          <a:p>
            <a:pPr marL="0" lvl="0" indent="0" algn="ctr">
              <a:lnSpc>
                <a:spcPts val="3336"/>
              </a:lnSpc>
              <a:spcBef>
                <a:spcPct val="0"/>
              </a:spcBef>
            </a:pPr>
            <a:r>
              <a:rPr lang="en-US" sz="2383" b="1">
                <a:solidFill>
                  <a:srgbClr val="FFFFFF"/>
                </a:solidFill>
                <a:latin typeface="Open Sans Bold"/>
                <a:ea typeface="Open Sans Bold"/>
                <a:cs typeface="Open Sans Bold"/>
                <a:sym typeface="Open Sans Bold"/>
              </a:rPr>
              <a:t>REKAYASA PERANGKAT LUNAK – PERTEMUAN 14</a:t>
            </a:r>
          </a:p>
        </p:txBody>
      </p:sp>
      <p:sp>
        <p:nvSpPr>
          <p:cNvPr id="14" name="Freeform 14"/>
          <p:cNvSpPr/>
          <p:nvPr/>
        </p:nvSpPr>
        <p:spPr>
          <a:xfrm flipH="1">
            <a:off x="12766578" y="6337612"/>
            <a:ext cx="878735" cy="979092"/>
          </a:xfrm>
          <a:custGeom>
            <a:avLst/>
            <a:gdLst/>
            <a:ahLst/>
            <a:cxnLst/>
            <a:rect l="l" t="t" r="r" b="b"/>
            <a:pathLst>
              <a:path w="878735" h="979092">
                <a:moveTo>
                  <a:pt x="878734" y="0"/>
                </a:moveTo>
                <a:lnTo>
                  <a:pt x="0" y="0"/>
                </a:lnTo>
                <a:lnTo>
                  <a:pt x="0" y="979091"/>
                </a:lnTo>
                <a:lnTo>
                  <a:pt x="878734" y="979091"/>
                </a:lnTo>
                <a:lnTo>
                  <a:pt x="878734" y="0"/>
                </a:lnTo>
                <a:close/>
              </a:path>
            </a:pathLst>
          </a:custGeom>
          <a:blipFill>
            <a:blip r:embed="rId4"/>
            <a:stretch>
              <a:fillRect/>
            </a:stretch>
          </a:blipFill>
        </p:spPr>
      </p:sp>
      <p:sp>
        <p:nvSpPr>
          <p:cNvPr id="15" name="Freeform 15"/>
          <p:cNvSpPr/>
          <p:nvPr/>
        </p:nvSpPr>
        <p:spPr>
          <a:xfrm rot="-5798278" flipV="1">
            <a:off x="5115596" y="5805381"/>
            <a:ext cx="811652" cy="1064461"/>
          </a:xfrm>
          <a:custGeom>
            <a:avLst/>
            <a:gdLst/>
            <a:ahLst/>
            <a:cxnLst/>
            <a:rect l="l" t="t" r="r" b="b"/>
            <a:pathLst>
              <a:path w="811652" h="1064461">
                <a:moveTo>
                  <a:pt x="0" y="1064461"/>
                </a:moveTo>
                <a:lnTo>
                  <a:pt x="811652" y="1064461"/>
                </a:lnTo>
                <a:lnTo>
                  <a:pt x="811652" y="0"/>
                </a:lnTo>
                <a:lnTo>
                  <a:pt x="0" y="0"/>
                </a:lnTo>
                <a:lnTo>
                  <a:pt x="0" y="1064461"/>
                </a:lnTo>
                <a:close/>
              </a:path>
            </a:pathLst>
          </a:custGeom>
          <a:blipFill>
            <a:blip r:embed="rId3"/>
            <a:stretch>
              <a:fillRect/>
            </a:stretch>
          </a:blipFill>
        </p:spPr>
      </p:sp>
      <p:sp>
        <p:nvSpPr>
          <p:cNvPr id="16" name="Freeform 16"/>
          <p:cNvSpPr/>
          <p:nvPr/>
        </p:nvSpPr>
        <p:spPr>
          <a:xfrm flipH="1">
            <a:off x="6762992" y="3391055"/>
            <a:ext cx="679660" cy="757281"/>
          </a:xfrm>
          <a:custGeom>
            <a:avLst/>
            <a:gdLst/>
            <a:ahLst/>
            <a:cxnLst/>
            <a:rect l="l" t="t" r="r" b="b"/>
            <a:pathLst>
              <a:path w="679660" h="757281">
                <a:moveTo>
                  <a:pt x="679659" y="0"/>
                </a:moveTo>
                <a:lnTo>
                  <a:pt x="0" y="0"/>
                </a:lnTo>
                <a:lnTo>
                  <a:pt x="0" y="757281"/>
                </a:lnTo>
                <a:lnTo>
                  <a:pt x="679659" y="757281"/>
                </a:lnTo>
                <a:lnTo>
                  <a:pt x="679659" y="0"/>
                </a:lnTo>
                <a:close/>
              </a:path>
            </a:pathLst>
          </a:custGeom>
          <a:blipFill>
            <a:blip r:embed="rId4"/>
            <a:stretch>
              <a:fillRect/>
            </a:stretch>
          </a:blipFill>
        </p:spPr>
      </p:sp>
      <p:sp>
        <p:nvSpPr>
          <p:cNvPr id="17" name="Freeform 17"/>
          <p:cNvSpPr/>
          <p:nvPr/>
        </p:nvSpPr>
        <p:spPr>
          <a:xfrm rot="-5798278" flipV="1">
            <a:off x="11018605" y="3224145"/>
            <a:ext cx="617999" cy="810491"/>
          </a:xfrm>
          <a:custGeom>
            <a:avLst/>
            <a:gdLst/>
            <a:ahLst/>
            <a:cxnLst/>
            <a:rect l="l" t="t" r="r" b="b"/>
            <a:pathLst>
              <a:path w="617999" h="810491">
                <a:moveTo>
                  <a:pt x="0" y="810491"/>
                </a:moveTo>
                <a:lnTo>
                  <a:pt x="617999" y="810491"/>
                </a:lnTo>
                <a:lnTo>
                  <a:pt x="617999" y="0"/>
                </a:lnTo>
                <a:lnTo>
                  <a:pt x="0" y="0"/>
                </a:lnTo>
                <a:lnTo>
                  <a:pt x="0" y="810491"/>
                </a:lnTo>
                <a:close/>
              </a:path>
            </a:pathLst>
          </a:custGeom>
          <a:blipFill>
            <a:blip r:embed="rId3"/>
            <a:stretch>
              <a:fillRect/>
            </a:stretch>
          </a:blipFill>
        </p:spPr>
      </p:sp>
      <p:sp>
        <p:nvSpPr>
          <p:cNvPr id="18" name="Freeform 18"/>
          <p:cNvSpPr/>
          <p:nvPr/>
        </p:nvSpPr>
        <p:spPr>
          <a:xfrm rot="-5798278">
            <a:off x="-444701" y="7253641"/>
            <a:ext cx="2231288" cy="2926279"/>
          </a:xfrm>
          <a:custGeom>
            <a:avLst/>
            <a:gdLst/>
            <a:ahLst/>
            <a:cxnLst/>
            <a:rect l="l" t="t" r="r" b="b"/>
            <a:pathLst>
              <a:path w="2231288" h="2926279">
                <a:moveTo>
                  <a:pt x="0" y="0"/>
                </a:moveTo>
                <a:lnTo>
                  <a:pt x="2231288" y="0"/>
                </a:lnTo>
                <a:lnTo>
                  <a:pt x="2231288" y="2926279"/>
                </a:lnTo>
                <a:lnTo>
                  <a:pt x="0" y="2926279"/>
                </a:lnTo>
                <a:lnTo>
                  <a:pt x="0" y="0"/>
                </a:lnTo>
                <a:close/>
              </a:path>
            </a:pathLst>
          </a:custGeom>
          <a:blipFill>
            <a:blip r:embed="rId3"/>
            <a:stretch>
              <a:fillRect/>
            </a:stretch>
          </a:blipFill>
        </p:spPr>
      </p:sp>
      <p:sp>
        <p:nvSpPr>
          <p:cNvPr id="19" name="Freeform 19"/>
          <p:cNvSpPr/>
          <p:nvPr/>
        </p:nvSpPr>
        <p:spPr>
          <a:xfrm>
            <a:off x="16944862" y="734400"/>
            <a:ext cx="2038463" cy="2271268"/>
          </a:xfrm>
          <a:custGeom>
            <a:avLst/>
            <a:gdLst/>
            <a:ahLst/>
            <a:cxnLst/>
            <a:rect l="l" t="t" r="r" b="b"/>
            <a:pathLst>
              <a:path w="2038463" h="2271268">
                <a:moveTo>
                  <a:pt x="0" y="0"/>
                </a:moveTo>
                <a:lnTo>
                  <a:pt x="2038463" y="0"/>
                </a:lnTo>
                <a:lnTo>
                  <a:pt x="2038463" y="2271269"/>
                </a:lnTo>
                <a:lnTo>
                  <a:pt x="0" y="2271269"/>
                </a:lnTo>
                <a:lnTo>
                  <a:pt x="0" y="0"/>
                </a:lnTo>
                <a:close/>
              </a:path>
            </a:pathLst>
          </a:custGeom>
          <a:blipFill>
            <a:blip r:embed="rId4"/>
            <a:stretch>
              <a:fillRect/>
            </a:stretch>
          </a:blipFill>
        </p:spPr>
      </p:sp>
      <p:sp>
        <p:nvSpPr>
          <p:cNvPr id="20" name="Freeform 20"/>
          <p:cNvSpPr/>
          <p:nvPr/>
        </p:nvSpPr>
        <p:spPr>
          <a:xfrm flipH="1">
            <a:off x="1028700" y="787923"/>
            <a:ext cx="1429624" cy="1592896"/>
          </a:xfrm>
          <a:custGeom>
            <a:avLst/>
            <a:gdLst/>
            <a:ahLst/>
            <a:cxnLst/>
            <a:rect l="l" t="t" r="r" b="b"/>
            <a:pathLst>
              <a:path w="1429624" h="1592896">
                <a:moveTo>
                  <a:pt x="1429624" y="0"/>
                </a:moveTo>
                <a:lnTo>
                  <a:pt x="0" y="0"/>
                </a:lnTo>
                <a:lnTo>
                  <a:pt x="0" y="1592897"/>
                </a:lnTo>
                <a:lnTo>
                  <a:pt x="1429624" y="1592897"/>
                </a:lnTo>
                <a:lnTo>
                  <a:pt x="1429624" y="0"/>
                </a:lnTo>
                <a:close/>
              </a:path>
            </a:pathLst>
          </a:custGeom>
          <a:blipFill>
            <a:blip r:embed="rId4"/>
            <a:stretch>
              <a:fillRect/>
            </a:stretch>
          </a:blipFill>
        </p:spPr>
      </p:sp>
      <p:sp>
        <p:nvSpPr>
          <p:cNvPr id="21" name="Freeform 21"/>
          <p:cNvSpPr/>
          <p:nvPr/>
        </p:nvSpPr>
        <p:spPr>
          <a:xfrm rot="-5798278" flipV="1">
            <a:off x="15886992" y="7486378"/>
            <a:ext cx="1134946" cy="1488454"/>
          </a:xfrm>
          <a:custGeom>
            <a:avLst/>
            <a:gdLst/>
            <a:ahLst/>
            <a:cxnLst/>
            <a:rect l="l" t="t" r="r" b="b"/>
            <a:pathLst>
              <a:path w="1134946" h="1488454">
                <a:moveTo>
                  <a:pt x="0" y="1488454"/>
                </a:moveTo>
                <a:lnTo>
                  <a:pt x="1134946" y="1488454"/>
                </a:lnTo>
                <a:lnTo>
                  <a:pt x="1134946" y="0"/>
                </a:lnTo>
                <a:lnTo>
                  <a:pt x="0" y="0"/>
                </a:lnTo>
                <a:lnTo>
                  <a:pt x="0" y="1488454"/>
                </a:lnTo>
                <a:close/>
              </a:path>
            </a:pathLst>
          </a:custGeom>
          <a:blipFill>
            <a:blip r:embed="rId3"/>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0"/>
            <a:ext cx="16230600" cy="1028700"/>
            <a:chOff x="0" y="0"/>
            <a:chExt cx="4274726" cy="270933"/>
          </a:xfrm>
        </p:grpSpPr>
        <p:sp>
          <p:nvSpPr>
            <p:cNvPr id="3" name="Freeform 3"/>
            <p:cNvSpPr/>
            <p:nvPr/>
          </p:nvSpPr>
          <p:spPr>
            <a:xfrm>
              <a:off x="0" y="0"/>
              <a:ext cx="4274726" cy="270933"/>
            </a:xfrm>
            <a:custGeom>
              <a:avLst/>
              <a:gdLst/>
              <a:ahLst/>
              <a:cxnLst/>
              <a:rect l="l" t="t" r="r" b="b"/>
              <a:pathLst>
                <a:path w="4274726" h="270933">
                  <a:moveTo>
                    <a:pt x="0" y="0"/>
                  </a:moveTo>
                  <a:lnTo>
                    <a:pt x="4274726" y="0"/>
                  </a:lnTo>
                  <a:lnTo>
                    <a:pt x="4274726" y="270933"/>
                  </a:lnTo>
                  <a:lnTo>
                    <a:pt x="0" y="270933"/>
                  </a:lnTo>
                  <a:close/>
                </a:path>
              </a:pathLst>
            </a:custGeom>
            <a:solidFill>
              <a:srgbClr val="25380F"/>
            </a:solidFill>
          </p:spPr>
        </p:sp>
        <p:sp>
          <p:nvSpPr>
            <p:cNvPr id="4" name="TextBox 4"/>
            <p:cNvSpPr txBox="1"/>
            <p:nvPr/>
          </p:nvSpPr>
          <p:spPr>
            <a:xfrm>
              <a:off x="0" y="-38100"/>
              <a:ext cx="4274726"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25304" y="404515"/>
            <a:ext cx="514121" cy="219670"/>
          </a:xfrm>
          <a:custGeom>
            <a:avLst/>
            <a:gdLst/>
            <a:ahLst/>
            <a:cxnLst/>
            <a:rect l="l" t="t" r="r" b="b"/>
            <a:pathLst>
              <a:path w="514121" h="219670">
                <a:moveTo>
                  <a:pt x="0" y="0"/>
                </a:moveTo>
                <a:lnTo>
                  <a:pt x="514121" y="0"/>
                </a:lnTo>
                <a:lnTo>
                  <a:pt x="514121" y="219670"/>
                </a:lnTo>
                <a:lnTo>
                  <a:pt x="0" y="219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343619" y="404515"/>
            <a:ext cx="365073" cy="201122"/>
          </a:xfrm>
          <a:custGeom>
            <a:avLst/>
            <a:gdLst/>
            <a:ahLst/>
            <a:cxnLst/>
            <a:rect l="l" t="t" r="r" b="b"/>
            <a:pathLst>
              <a:path w="365073" h="201122">
                <a:moveTo>
                  <a:pt x="0" y="0"/>
                </a:moveTo>
                <a:lnTo>
                  <a:pt x="365073" y="0"/>
                </a:lnTo>
                <a:lnTo>
                  <a:pt x="365073" y="201122"/>
                </a:lnTo>
                <a:lnTo>
                  <a:pt x="0" y="2011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7865131" y="8825906"/>
            <a:ext cx="432394" cy="432394"/>
            <a:chOff x="0" y="0"/>
            <a:chExt cx="368876" cy="368876"/>
          </a:xfrm>
        </p:grpSpPr>
        <p:sp>
          <p:nvSpPr>
            <p:cNvPr id="8" name="Freeform 8"/>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25380F"/>
            </a:solidFill>
          </p:spPr>
        </p:sp>
        <p:sp>
          <p:nvSpPr>
            <p:cNvPr id="9" name="TextBox 9"/>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2086857" y="404515"/>
            <a:ext cx="2635247" cy="223138"/>
          </a:xfrm>
          <a:prstGeom prst="rect">
            <a:avLst/>
          </a:prstGeom>
        </p:spPr>
        <p:txBody>
          <a:bodyPr wrap="square" lIns="0" tIns="0" rIns="0" bIns="0" rtlCol="0" anchor="t">
            <a:spAutoFit/>
          </a:bodyPr>
          <a:lstStyle/>
          <a:p>
            <a:pPr marL="0" lvl="0" indent="0" algn="l">
              <a:lnSpc>
                <a:spcPts val="1679"/>
              </a:lnSpc>
              <a:spcBef>
                <a:spcPct val="0"/>
              </a:spcBef>
            </a:pPr>
            <a:r>
              <a:rPr lang="en-US">
                <a:solidFill>
                  <a:srgbClr val="FFFFFF"/>
                </a:solidFill>
                <a:latin typeface="Open Sans"/>
                <a:ea typeface="Open Sans"/>
                <a:cs typeface="Open Sans"/>
                <a:sym typeface="Open Sans"/>
              </a:rPr>
              <a:t>Sawit: The Last Chance</a:t>
            </a:r>
          </a:p>
        </p:txBody>
      </p:sp>
      <p:sp>
        <p:nvSpPr>
          <p:cNvPr id="11" name="TextBox 11"/>
          <p:cNvSpPr txBox="1"/>
          <p:nvPr/>
        </p:nvSpPr>
        <p:spPr>
          <a:xfrm>
            <a:off x="15121692" y="405840"/>
            <a:ext cx="9784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Contact</a:t>
            </a:r>
          </a:p>
        </p:txBody>
      </p:sp>
      <p:sp>
        <p:nvSpPr>
          <p:cNvPr id="12" name="TextBox 12"/>
          <p:cNvSpPr txBox="1"/>
          <p:nvPr/>
        </p:nvSpPr>
        <p:spPr>
          <a:xfrm>
            <a:off x="13565896" y="405840"/>
            <a:ext cx="1060497"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About Us</a:t>
            </a:r>
          </a:p>
        </p:txBody>
      </p:sp>
      <p:sp>
        <p:nvSpPr>
          <p:cNvPr id="13" name="TextBox 13"/>
          <p:cNvSpPr txBox="1"/>
          <p:nvPr/>
        </p:nvSpPr>
        <p:spPr>
          <a:xfrm>
            <a:off x="12335139" y="405840"/>
            <a:ext cx="735456"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Video</a:t>
            </a:r>
          </a:p>
        </p:txBody>
      </p:sp>
      <p:sp>
        <p:nvSpPr>
          <p:cNvPr id="14" name="TextBox 14"/>
          <p:cNvSpPr txBox="1"/>
          <p:nvPr/>
        </p:nvSpPr>
        <p:spPr>
          <a:xfrm>
            <a:off x="11079380" y="405840"/>
            <a:ext cx="8097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Home</a:t>
            </a:r>
          </a:p>
        </p:txBody>
      </p:sp>
      <p:grpSp>
        <p:nvGrpSpPr>
          <p:cNvPr id="15" name="Group 15"/>
          <p:cNvGrpSpPr/>
          <p:nvPr/>
        </p:nvGrpSpPr>
        <p:grpSpPr>
          <a:xfrm>
            <a:off x="17865131" y="8399394"/>
            <a:ext cx="432394" cy="432394"/>
            <a:chOff x="0" y="0"/>
            <a:chExt cx="368876" cy="368876"/>
          </a:xfrm>
        </p:grpSpPr>
        <p:sp>
          <p:nvSpPr>
            <p:cNvPr id="16" name="Freeform 16"/>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8DAD39"/>
            </a:solidFill>
          </p:spPr>
        </p:sp>
        <p:sp>
          <p:nvSpPr>
            <p:cNvPr id="17" name="TextBox 17"/>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9029700" y="1028700"/>
            <a:ext cx="8229600" cy="8229600"/>
            <a:chOff x="0" y="0"/>
            <a:chExt cx="10972800" cy="10972800"/>
          </a:xfrm>
        </p:grpSpPr>
        <p:pic>
          <p:nvPicPr>
            <p:cNvPr id="19" name="Picture 19"/>
            <p:cNvPicPr>
              <a:picLocks noChangeAspect="1"/>
            </p:cNvPicPr>
            <p:nvPr/>
          </p:nvPicPr>
          <p:blipFill>
            <a:blip r:embed="rId6"/>
            <a:srcRect/>
            <a:stretch>
              <a:fillRect/>
            </a:stretch>
          </p:blipFill>
          <p:spPr>
            <a:xfrm>
              <a:off x="0" y="0"/>
              <a:ext cx="10972800" cy="10972800"/>
            </a:xfrm>
            <a:prstGeom prst="rect">
              <a:avLst/>
            </a:prstGeom>
          </p:spPr>
        </p:pic>
      </p:grpSp>
      <p:sp>
        <p:nvSpPr>
          <p:cNvPr id="20" name="TextBox 20"/>
          <p:cNvSpPr txBox="1"/>
          <p:nvPr/>
        </p:nvSpPr>
        <p:spPr>
          <a:xfrm>
            <a:off x="1939425" y="2115365"/>
            <a:ext cx="5202853" cy="2493666"/>
          </a:xfrm>
          <a:prstGeom prst="rect">
            <a:avLst/>
          </a:prstGeom>
        </p:spPr>
        <p:txBody>
          <a:bodyPr lIns="0" tIns="0" rIns="0" bIns="0" rtlCol="0" anchor="t">
            <a:spAutoFit/>
          </a:bodyPr>
          <a:lstStyle/>
          <a:p>
            <a:pPr marL="0" lvl="0" indent="0" algn="l">
              <a:lnSpc>
                <a:spcPts val="9833"/>
              </a:lnSpc>
            </a:pPr>
            <a:r>
              <a:rPr lang="en-US" sz="7994">
                <a:solidFill>
                  <a:srgbClr val="8DAD39"/>
                </a:solidFill>
                <a:latin typeface="Anton"/>
                <a:ea typeface="Anton"/>
                <a:cs typeface="Anton"/>
                <a:sym typeface="Anton"/>
              </a:rPr>
              <a:t>Deskripsi Proyek</a:t>
            </a:r>
          </a:p>
        </p:txBody>
      </p:sp>
      <p:sp>
        <p:nvSpPr>
          <p:cNvPr id="21" name="TextBox 21"/>
          <p:cNvSpPr txBox="1"/>
          <p:nvPr/>
        </p:nvSpPr>
        <p:spPr>
          <a:xfrm>
            <a:off x="1939425" y="4909137"/>
            <a:ext cx="5409002" cy="2403222"/>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Sawit: The Last Chance adalah game edukasi berbasis cerita yang dikembangkan di platform Roblox Studio. Game ini dirancang untuk menyampaikan pesan lingkungan yang penting kepada pemain melalui pengalaman bermain yang interaktif dan imersif.</a:t>
            </a:r>
          </a:p>
          <a:p>
            <a:pPr marL="0" lvl="0" indent="0" algn="l">
              <a:lnSpc>
                <a:spcPts val="1679"/>
              </a:lnSpc>
              <a:spcBef>
                <a:spcPct val="0"/>
              </a:spcBef>
            </a:pPr>
            <a:endParaRPr lang="en-US">
              <a:solidFill>
                <a:srgbClr val="1F2020"/>
              </a:solidFill>
              <a:latin typeface="Open Sans"/>
              <a:ea typeface="Open Sans"/>
              <a:cs typeface="Open Sans"/>
              <a:sym typeface="Open Sans"/>
            </a:endParaRPr>
          </a:p>
          <a:p>
            <a:pPr marL="0" lvl="0" indent="0" algn="l">
              <a:lnSpc>
                <a:spcPts val="1679"/>
              </a:lnSpc>
              <a:spcBef>
                <a:spcPct val="0"/>
              </a:spcBef>
            </a:pPr>
            <a:r>
              <a:rPr lang="en-US">
                <a:solidFill>
                  <a:srgbClr val="1F2020"/>
                </a:solidFill>
                <a:latin typeface="Open Sans"/>
                <a:ea typeface="Open Sans"/>
                <a:cs typeface="Open Sans"/>
                <a:sym typeface="Open Sans"/>
              </a:rPr>
              <a:t>Game ini membahas dampak nyata dari deforestasi, banjir, dan kerusakan lingkungan yang terjadi akibat pengelolaan perkebunan sawit yang tidak bertanggung jawab.</a:t>
            </a:r>
          </a:p>
        </p:txBody>
      </p:sp>
      <p:sp>
        <p:nvSpPr>
          <p:cNvPr id="22" name="TextBox 22"/>
          <p:cNvSpPr txBox="1"/>
          <p:nvPr/>
        </p:nvSpPr>
        <p:spPr>
          <a:xfrm>
            <a:off x="1939425" y="7525617"/>
            <a:ext cx="5409002" cy="872034"/>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Melalui alur cerita yang menarik, pemain diajak memahami konsekuensi lingkungan dan pentingnya menjaga kelestarian alam demi masa depan yang berkelanjutan.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0"/>
            <a:ext cx="16230600" cy="1028700"/>
            <a:chOff x="0" y="0"/>
            <a:chExt cx="4274726" cy="270933"/>
          </a:xfrm>
        </p:grpSpPr>
        <p:sp>
          <p:nvSpPr>
            <p:cNvPr id="3" name="Freeform 3"/>
            <p:cNvSpPr/>
            <p:nvPr/>
          </p:nvSpPr>
          <p:spPr>
            <a:xfrm>
              <a:off x="0" y="0"/>
              <a:ext cx="4274726" cy="270933"/>
            </a:xfrm>
            <a:custGeom>
              <a:avLst/>
              <a:gdLst/>
              <a:ahLst/>
              <a:cxnLst/>
              <a:rect l="l" t="t" r="r" b="b"/>
              <a:pathLst>
                <a:path w="4274726" h="270933">
                  <a:moveTo>
                    <a:pt x="0" y="0"/>
                  </a:moveTo>
                  <a:lnTo>
                    <a:pt x="4274726" y="0"/>
                  </a:lnTo>
                  <a:lnTo>
                    <a:pt x="4274726" y="270933"/>
                  </a:lnTo>
                  <a:lnTo>
                    <a:pt x="0" y="270933"/>
                  </a:lnTo>
                  <a:close/>
                </a:path>
              </a:pathLst>
            </a:custGeom>
            <a:solidFill>
              <a:srgbClr val="25380F"/>
            </a:solidFill>
          </p:spPr>
        </p:sp>
        <p:sp>
          <p:nvSpPr>
            <p:cNvPr id="4" name="TextBox 4"/>
            <p:cNvSpPr txBox="1"/>
            <p:nvPr/>
          </p:nvSpPr>
          <p:spPr>
            <a:xfrm>
              <a:off x="0" y="-38100"/>
              <a:ext cx="4274726"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25304" y="404515"/>
            <a:ext cx="514121" cy="219670"/>
          </a:xfrm>
          <a:custGeom>
            <a:avLst/>
            <a:gdLst/>
            <a:ahLst/>
            <a:cxnLst/>
            <a:rect l="l" t="t" r="r" b="b"/>
            <a:pathLst>
              <a:path w="514121" h="219670">
                <a:moveTo>
                  <a:pt x="0" y="0"/>
                </a:moveTo>
                <a:lnTo>
                  <a:pt x="514121" y="0"/>
                </a:lnTo>
                <a:lnTo>
                  <a:pt x="514121" y="219670"/>
                </a:lnTo>
                <a:lnTo>
                  <a:pt x="0" y="219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343619" y="404515"/>
            <a:ext cx="365073" cy="201122"/>
          </a:xfrm>
          <a:custGeom>
            <a:avLst/>
            <a:gdLst/>
            <a:ahLst/>
            <a:cxnLst/>
            <a:rect l="l" t="t" r="r" b="b"/>
            <a:pathLst>
              <a:path w="365073" h="201122">
                <a:moveTo>
                  <a:pt x="0" y="0"/>
                </a:moveTo>
                <a:lnTo>
                  <a:pt x="365073" y="0"/>
                </a:lnTo>
                <a:lnTo>
                  <a:pt x="365073" y="201122"/>
                </a:lnTo>
                <a:lnTo>
                  <a:pt x="0" y="2011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7865131" y="8825906"/>
            <a:ext cx="432394" cy="432394"/>
            <a:chOff x="0" y="0"/>
            <a:chExt cx="368876" cy="368876"/>
          </a:xfrm>
        </p:grpSpPr>
        <p:sp>
          <p:nvSpPr>
            <p:cNvPr id="8" name="Freeform 8"/>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25380F"/>
            </a:solidFill>
          </p:spPr>
        </p:sp>
        <p:sp>
          <p:nvSpPr>
            <p:cNvPr id="9" name="TextBox 9"/>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2086857" y="404515"/>
            <a:ext cx="2635247" cy="223138"/>
          </a:xfrm>
          <a:prstGeom prst="rect">
            <a:avLst/>
          </a:prstGeom>
        </p:spPr>
        <p:txBody>
          <a:bodyPr wrap="square" lIns="0" tIns="0" rIns="0" bIns="0" rtlCol="0" anchor="t">
            <a:spAutoFit/>
          </a:bodyPr>
          <a:lstStyle/>
          <a:p>
            <a:pPr marL="0" lvl="0" indent="0" algn="l">
              <a:lnSpc>
                <a:spcPts val="1679"/>
              </a:lnSpc>
              <a:spcBef>
                <a:spcPct val="0"/>
              </a:spcBef>
            </a:pPr>
            <a:r>
              <a:rPr lang="en-US">
                <a:solidFill>
                  <a:srgbClr val="FFFFFF"/>
                </a:solidFill>
                <a:latin typeface="Open Sans"/>
                <a:ea typeface="Open Sans"/>
                <a:cs typeface="Open Sans"/>
                <a:sym typeface="Open Sans"/>
              </a:rPr>
              <a:t>Sawit: The Last Chance</a:t>
            </a:r>
          </a:p>
        </p:txBody>
      </p:sp>
      <p:sp>
        <p:nvSpPr>
          <p:cNvPr id="11" name="TextBox 11"/>
          <p:cNvSpPr txBox="1"/>
          <p:nvPr/>
        </p:nvSpPr>
        <p:spPr>
          <a:xfrm>
            <a:off x="15121692" y="405840"/>
            <a:ext cx="9784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Kontak</a:t>
            </a:r>
          </a:p>
        </p:txBody>
      </p:sp>
      <p:sp>
        <p:nvSpPr>
          <p:cNvPr id="12" name="TextBox 12"/>
          <p:cNvSpPr txBox="1"/>
          <p:nvPr/>
        </p:nvSpPr>
        <p:spPr>
          <a:xfrm>
            <a:off x="13565896" y="405840"/>
            <a:ext cx="1060497"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Evaluasi</a:t>
            </a:r>
          </a:p>
        </p:txBody>
      </p:sp>
      <p:sp>
        <p:nvSpPr>
          <p:cNvPr id="13" name="TextBox 13"/>
          <p:cNvSpPr txBox="1"/>
          <p:nvPr/>
        </p:nvSpPr>
        <p:spPr>
          <a:xfrm>
            <a:off x="12335139" y="405840"/>
            <a:ext cx="735456"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Demo</a:t>
            </a:r>
          </a:p>
        </p:txBody>
      </p:sp>
      <p:sp>
        <p:nvSpPr>
          <p:cNvPr id="14" name="TextBox 14"/>
          <p:cNvSpPr txBox="1"/>
          <p:nvPr/>
        </p:nvSpPr>
        <p:spPr>
          <a:xfrm>
            <a:off x="11079380" y="405840"/>
            <a:ext cx="8097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Home</a:t>
            </a:r>
          </a:p>
        </p:txBody>
      </p:sp>
      <p:grpSp>
        <p:nvGrpSpPr>
          <p:cNvPr id="15" name="Group 15"/>
          <p:cNvGrpSpPr/>
          <p:nvPr/>
        </p:nvGrpSpPr>
        <p:grpSpPr>
          <a:xfrm>
            <a:off x="17865131" y="8399394"/>
            <a:ext cx="432394" cy="432394"/>
            <a:chOff x="0" y="0"/>
            <a:chExt cx="368876" cy="368876"/>
          </a:xfrm>
        </p:grpSpPr>
        <p:sp>
          <p:nvSpPr>
            <p:cNvPr id="16" name="Freeform 16"/>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8DAD39"/>
            </a:solidFill>
          </p:spPr>
        </p:sp>
        <p:sp>
          <p:nvSpPr>
            <p:cNvPr id="17" name="TextBox 17"/>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3144500" y="1028700"/>
            <a:ext cx="4114800" cy="4114800"/>
            <a:chOff x="0" y="0"/>
            <a:chExt cx="5486400" cy="5486400"/>
          </a:xfrm>
        </p:grpSpPr>
        <p:pic>
          <p:nvPicPr>
            <p:cNvPr id="19" name="Picture 19"/>
            <p:cNvPicPr>
              <a:picLocks noChangeAspect="1"/>
            </p:cNvPicPr>
            <p:nvPr/>
          </p:nvPicPr>
          <p:blipFill>
            <a:blip r:embed="rId6"/>
            <a:srcRect/>
            <a:stretch>
              <a:fillRect/>
            </a:stretch>
          </p:blipFill>
          <p:spPr>
            <a:xfrm>
              <a:off x="0" y="0"/>
              <a:ext cx="5486400" cy="5486400"/>
            </a:xfrm>
            <a:prstGeom prst="rect">
              <a:avLst/>
            </a:prstGeom>
          </p:spPr>
        </p:pic>
      </p:grpSp>
      <p:grpSp>
        <p:nvGrpSpPr>
          <p:cNvPr id="20" name="Group 20"/>
          <p:cNvGrpSpPr/>
          <p:nvPr/>
        </p:nvGrpSpPr>
        <p:grpSpPr>
          <a:xfrm>
            <a:off x="9029700" y="5143500"/>
            <a:ext cx="4114800" cy="4114800"/>
            <a:chOff x="0" y="0"/>
            <a:chExt cx="5486400" cy="5486400"/>
          </a:xfrm>
        </p:grpSpPr>
        <p:pic>
          <p:nvPicPr>
            <p:cNvPr id="21" name="Picture 21"/>
            <p:cNvPicPr>
              <a:picLocks noChangeAspect="1"/>
            </p:cNvPicPr>
            <p:nvPr/>
          </p:nvPicPr>
          <p:blipFill>
            <a:blip r:embed="rId7"/>
            <a:srcRect/>
            <a:stretch>
              <a:fillRect/>
            </a:stretch>
          </p:blipFill>
          <p:spPr>
            <a:xfrm>
              <a:off x="0" y="0"/>
              <a:ext cx="5486400" cy="5486400"/>
            </a:xfrm>
            <a:prstGeom prst="rect">
              <a:avLst/>
            </a:prstGeom>
          </p:spPr>
        </p:pic>
      </p:grpSp>
      <p:grpSp>
        <p:nvGrpSpPr>
          <p:cNvPr id="22" name="Group 22"/>
          <p:cNvGrpSpPr/>
          <p:nvPr/>
        </p:nvGrpSpPr>
        <p:grpSpPr>
          <a:xfrm>
            <a:off x="10322192" y="2339316"/>
            <a:ext cx="2229915" cy="2229915"/>
            <a:chOff x="0" y="0"/>
            <a:chExt cx="2973220" cy="2973220"/>
          </a:xfrm>
        </p:grpSpPr>
        <p:pic>
          <p:nvPicPr>
            <p:cNvPr id="23" name="Picture 23"/>
            <p:cNvPicPr>
              <a:picLocks noChangeAspect="1"/>
            </p:cNvPicPr>
            <p:nvPr/>
          </p:nvPicPr>
          <p:blipFill>
            <a:blip r:embed="rId8"/>
            <a:srcRect/>
            <a:stretch>
              <a:fillRect/>
            </a:stretch>
          </p:blipFill>
          <p:spPr>
            <a:xfrm>
              <a:off x="0" y="0"/>
              <a:ext cx="2973220" cy="2973220"/>
            </a:xfrm>
            <a:prstGeom prst="rect">
              <a:avLst/>
            </a:prstGeom>
          </p:spPr>
        </p:pic>
      </p:grpSp>
      <p:grpSp>
        <p:nvGrpSpPr>
          <p:cNvPr id="24" name="Group 24"/>
          <p:cNvGrpSpPr/>
          <p:nvPr/>
        </p:nvGrpSpPr>
        <p:grpSpPr>
          <a:xfrm>
            <a:off x="13736893" y="5717769"/>
            <a:ext cx="2229915" cy="2229915"/>
            <a:chOff x="0" y="0"/>
            <a:chExt cx="2973220" cy="2973220"/>
          </a:xfrm>
        </p:grpSpPr>
        <p:pic>
          <p:nvPicPr>
            <p:cNvPr id="25" name="Picture 25"/>
            <p:cNvPicPr>
              <a:picLocks noChangeAspect="1"/>
            </p:cNvPicPr>
            <p:nvPr/>
          </p:nvPicPr>
          <p:blipFill>
            <a:blip r:embed="rId9"/>
            <a:srcRect/>
            <a:stretch>
              <a:fillRect/>
            </a:stretch>
          </p:blipFill>
          <p:spPr>
            <a:xfrm>
              <a:off x="0" y="0"/>
              <a:ext cx="2973220" cy="2973220"/>
            </a:xfrm>
            <a:prstGeom prst="rect">
              <a:avLst/>
            </a:prstGeom>
          </p:spPr>
        </p:pic>
      </p:grpSp>
      <p:sp>
        <p:nvSpPr>
          <p:cNvPr id="26" name="TextBox 26"/>
          <p:cNvSpPr txBox="1"/>
          <p:nvPr/>
        </p:nvSpPr>
        <p:spPr>
          <a:xfrm>
            <a:off x="1939425" y="1988760"/>
            <a:ext cx="6109048" cy="1245891"/>
          </a:xfrm>
          <a:prstGeom prst="rect">
            <a:avLst/>
          </a:prstGeom>
        </p:spPr>
        <p:txBody>
          <a:bodyPr lIns="0" tIns="0" rIns="0" bIns="0" rtlCol="0" anchor="t">
            <a:spAutoFit/>
          </a:bodyPr>
          <a:lstStyle/>
          <a:p>
            <a:pPr marL="0" lvl="0" indent="0" algn="l">
              <a:lnSpc>
                <a:spcPts val="9833"/>
              </a:lnSpc>
            </a:pPr>
            <a:r>
              <a:rPr lang="en-US" sz="7994">
                <a:solidFill>
                  <a:srgbClr val="8DAD39"/>
                </a:solidFill>
                <a:latin typeface="Anton"/>
                <a:ea typeface="Anton"/>
                <a:cs typeface="Anton"/>
                <a:sym typeface="Anton"/>
              </a:rPr>
              <a:t>Demo Sistem</a:t>
            </a:r>
          </a:p>
        </p:txBody>
      </p:sp>
      <p:sp>
        <p:nvSpPr>
          <p:cNvPr id="27" name="TextBox 27"/>
          <p:cNvSpPr txBox="1"/>
          <p:nvPr/>
        </p:nvSpPr>
        <p:spPr>
          <a:xfrm>
            <a:off x="1939424" y="3716513"/>
            <a:ext cx="5676035" cy="1095172"/>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Tampilan Main Menu menampilkan judul game dan tombol navigasi utama. Prolog Cerita mengawali permainan dengan narasi tentang kondisi lingkungan dan perkebunan sawit yang membangun konteks edukatif bagi pemain.</a:t>
            </a:r>
          </a:p>
        </p:txBody>
      </p:sp>
      <p:sp>
        <p:nvSpPr>
          <p:cNvPr id="28" name="TextBox 28"/>
          <p:cNvSpPr txBox="1"/>
          <p:nvPr/>
        </p:nvSpPr>
        <p:spPr>
          <a:xfrm>
            <a:off x="1939424" y="3339968"/>
            <a:ext cx="3318375" cy="271228"/>
          </a:xfrm>
          <a:prstGeom prst="rect">
            <a:avLst/>
          </a:prstGeom>
        </p:spPr>
        <p:txBody>
          <a:bodyPr wrap="square"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Main Menu &amp; Prolog Cerita</a:t>
            </a:r>
          </a:p>
        </p:txBody>
      </p:sp>
      <p:sp>
        <p:nvSpPr>
          <p:cNvPr id="29" name="TextBox 29"/>
          <p:cNvSpPr txBox="1"/>
          <p:nvPr/>
        </p:nvSpPr>
        <p:spPr>
          <a:xfrm>
            <a:off x="1939424" y="5545919"/>
            <a:ext cx="5676035" cy="1095172"/>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HUD Gameplay menampilkan informasi misi, status lingkungan, dan panduan aksi pemain. Interaksi NPC menghadirkan dialog edukatif yang memandu pemain memahami dampak deforestasi dan pengelolaan sawit.</a:t>
            </a:r>
          </a:p>
        </p:txBody>
      </p:sp>
      <p:sp>
        <p:nvSpPr>
          <p:cNvPr id="30" name="TextBox 30"/>
          <p:cNvSpPr txBox="1"/>
          <p:nvPr/>
        </p:nvSpPr>
        <p:spPr>
          <a:xfrm>
            <a:off x="1948867" y="5123746"/>
            <a:ext cx="3851775" cy="271228"/>
          </a:xfrm>
          <a:prstGeom prst="rect">
            <a:avLst/>
          </a:prstGeom>
        </p:spPr>
        <p:txBody>
          <a:bodyPr wrap="square"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HUD Gameplay &amp; Interaksi NPC</a:t>
            </a:r>
          </a:p>
        </p:txBody>
      </p:sp>
      <p:sp>
        <p:nvSpPr>
          <p:cNvPr id="31" name="TextBox 31"/>
          <p:cNvSpPr txBox="1"/>
          <p:nvPr/>
        </p:nvSpPr>
        <p:spPr>
          <a:xfrm>
            <a:off x="1939424" y="7450069"/>
            <a:ext cx="5676035" cy="872034"/>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Bagian akhir game menyajikan epilog edukatif yang merangkum pesan lingkungan secara jelas. Pemain diajak merefleksikan dampak pilihan mereka terhadap kelestarian hutan dan lingkungan sekitar.</a:t>
            </a:r>
          </a:p>
        </p:txBody>
      </p:sp>
      <p:sp>
        <p:nvSpPr>
          <p:cNvPr id="32" name="TextBox 32"/>
          <p:cNvSpPr txBox="1"/>
          <p:nvPr/>
        </p:nvSpPr>
        <p:spPr>
          <a:xfrm>
            <a:off x="1939424" y="7011042"/>
            <a:ext cx="2975475" cy="271228"/>
          </a:xfrm>
          <a:prstGeom prst="rect">
            <a:avLst/>
          </a:prstGeom>
        </p:spPr>
        <p:txBody>
          <a:bodyPr wrap="square"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Ending / Epilog Edukatif</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0"/>
            <a:ext cx="16230600" cy="1028700"/>
            <a:chOff x="0" y="0"/>
            <a:chExt cx="4274726" cy="270933"/>
          </a:xfrm>
        </p:grpSpPr>
        <p:sp>
          <p:nvSpPr>
            <p:cNvPr id="3" name="Freeform 3"/>
            <p:cNvSpPr/>
            <p:nvPr/>
          </p:nvSpPr>
          <p:spPr>
            <a:xfrm>
              <a:off x="0" y="0"/>
              <a:ext cx="4274726" cy="270933"/>
            </a:xfrm>
            <a:custGeom>
              <a:avLst/>
              <a:gdLst/>
              <a:ahLst/>
              <a:cxnLst/>
              <a:rect l="l" t="t" r="r" b="b"/>
              <a:pathLst>
                <a:path w="4274726" h="270933">
                  <a:moveTo>
                    <a:pt x="0" y="0"/>
                  </a:moveTo>
                  <a:lnTo>
                    <a:pt x="4274726" y="0"/>
                  </a:lnTo>
                  <a:lnTo>
                    <a:pt x="4274726" y="270933"/>
                  </a:lnTo>
                  <a:lnTo>
                    <a:pt x="0" y="270933"/>
                  </a:lnTo>
                  <a:close/>
                </a:path>
              </a:pathLst>
            </a:custGeom>
            <a:solidFill>
              <a:srgbClr val="25380F"/>
            </a:solidFill>
          </p:spPr>
        </p:sp>
        <p:sp>
          <p:nvSpPr>
            <p:cNvPr id="4" name="TextBox 4"/>
            <p:cNvSpPr txBox="1"/>
            <p:nvPr/>
          </p:nvSpPr>
          <p:spPr>
            <a:xfrm>
              <a:off x="0" y="-38100"/>
              <a:ext cx="4274726"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25304" y="404515"/>
            <a:ext cx="514121" cy="219670"/>
          </a:xfrm>
          <a:custGeom>
            <a:avLst/>
            <a:gdLst/>
            <a:ahLst/>
            <a:cxnLst/>
            <a:rect l="l" t="t" r="r" b="b"/>
            <a:pathLst>
              <a:path w="514121" h="219670">
                <a:moveTo>
                  <a:pt x="0" y="0"/>
                </a:moveTo>
                <a:lnTo>
                  <a:pt x="514121" y="0"/>
                </a:lnTo>
                <a:lnTo>
                  <a:pt x="514121" y="219670"/>
                </a:lnTo>
                <a:lnTo>
                  <a:pt x="0" y="219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343619" y="404515"/>
            <a:ext cx="365073" cy="201122"/>
          </a:xfrm>
          <a:custGeom>
            <a:avLst/>
            <a:gdLst/>
            <a:ahLst/>
            <a:cxnLst/>
            <a:rect l="l" t="t" r="r" b="b"/>
            <a:pathLst>
              <a:path w="365073" h="201122">
                <a:moveTo>
                  <a:pt x="0" y="0"/>
                </a:moveTo>
                <a:lnTo>
                  <a:pt x="365073" y="0"/>
                </a:lnTo>
                <a:lnTo>
                  <a:pt x="365073" y="201122"/>
                </a:lnTo>
                <a:lnTo>
                  <a:pt x="0" y="2011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7865131" y="8825906"/>
            <a:ext cx="432394" cy="432394"/>
            <a:chOff x="0" y="0"/>
            <a:chExt cx="368876" cy="368876"/>
          </a:xfrm>
        </p:grpSpPr>
        <p:sp>
          <p:nvSpPr>
            <p:cNvPr id="8" name="Freeform 8"/>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25380F"/>
            </a:solidFill>
          </p:spPr>
        </p:sp>
        <p:sp>
          <p:nvSpPr>
            <p:cNvPr id="9" name="TextBox 9"/>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2086858" y="404515"/>
            <a:ext cx="2485142" cy="223138"/>
          </a:xfrm>
          <a:prstGeom prst="rect">
            <a:avLst/>
          </a:prstGeom>
        </p:spPr>
        <p:txBody>
          <a:bodyPr wrap="square" lIns="0" tIns="0" rIns="0" bIns="0" rtlCol="0" anchor="t">
            <a:spAutoFit/>
          </a:bodyPr>
          <a:lstStyle/>
          <a:p>
            <a:pPr marL="0" lvl="0" indent="0" algn="l">
              <a:lnSpc>
                <a:spcPts val="1679"/>
              </a:lnSpc>
              <a:spcBef>
                <a:spcPct val="0"/>
              </a:spcBef>
            </a:pPr>
            <a:r>
              <a:rPr lang="en-US">
                <a:solidFill>
                  <a:srgbClr val="FFFFFF"/>
                </a:solidFill>
                <a:latin typeface="Open Sans"/>
                <a:ea typeface="Open Sans"/>
                <a:cs typeface="Open Sans"/>
                <a:sym typeface="Open Sans"/>
              </a:rPr>
              <a:t>Sawit: The Last Chance</a:t>
            </a:r>
          </a:p>
        </p:txBody>
      </p:sp>
      <p:sp>
        <p:nvSpPr>
          <p:cNvPr id="11" name="TextBox 11"/>
          <p:cNvSpPr txBox="1"/>
          <p:nvPr/>
        </p:nvSpPr>
        <p:spPr>
          <a:xfrm>
            <a:off x="15121692" y="405840"/>
            <a:ext cx="9784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Contact</a:t>
            </a:r>
          </a:p>
        </p:txBody>
      </p:sp>
      <p:sp>
        <p:nvSpPr>
          <p:cNvPr id="12" name="TextBox 12"/>
          <p:cNvSpPr txBox="1"/>
          <p:nvPr/>
        </p:nvSpPr>
        <p:spPr>
          <a:xfrm>
            <a:off x="13565896" y="405840"/>
            <a:ext cx="1060497"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About Us</a:t>
            </a:r>
          </a:p>
        </p:txBody>
      </p:sp>
      <p:sp>
        <p:nvSpPr>
          <p:cNvPr id="13" name="TextBox 13"/>
          <p:cNvSpPr txBox="1"/>
          <p:nvPr/>
        </p:nvSpPr>
        <p:spPr>
          <a:xfrm>
            <a:off x="12335139" y="405840"/>
            <a:ext cx="735456"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Video</a:t>
            </a:r>
          </a:p>
        </p:txBody>
      </p:sp>
      <p:sp>
        <p:nvSpPr>
          <p:cNvPr id="14" name="TextBox 14"/>
          <p:cNvSpPr txBox="1"/>
          <p:nvPr/>
        </p:nvSpPr>
        <p:spPr>
          <a:xfrm>
            <a:off x="11079380" y="405840"/>
            <a:ext cx="8097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Home</a:t>
            </a:r>
          </a:p>
        </p:txBody>
      </p:sp>
      <p:grpSp>
        <p:nvGrpSpPr>
          <p:cNvPr id="15" name="Group 15"/>
          <p:cNvGrpSpPr/>
          <p:nvPr/>
        </p:nvGrpSpPr>
        <p:grpSpPr>
          <a:xfrm>
            <a:off x="17865131" y="8399394"/>
            <a:ext cx="432394" cy="432394"/>
            <a:chOff x="0" y="0"/>
            <a:chExt cx="368876" cy="368876"/>
          </a:xfrm>
        </p:grpSpPr>
        <p:sp>
          <p:nvSpPr>
            <p:cNvPr id="16" name="Freeform 16"/>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8DAD39"/>
            </a:solidFill>
          </p:spPr>
        </p:sp>
        <p:sp>
          <p:nvSpPr>
            <p:cNvPr id="17" name="TextBox 17"/>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9029700" y="1028700"/>
            <a:ext cx="8229600" cy="8229600"/>
            <a:chOff x="0" y="0"/>
            <a:chExt cx="10972800" cy="10972800"/>
          </a:xfrm>
        </p:grpSpPr>
        <p:pic>
          <p:nvPicPr>
            <p:cNvPr id="19" name="Picture 19"/>
            <p:cNvPicPr>
              <a:picLocks noChangeAspect="1"/>
            </p:cNvPicPr>
            <p:nvPr/>
          </p:nvPicPr>
          <p:blipFill>
            <a:blip r:embed="rId6"/>
            <a:srcRect/>
            <a:stretch>
              <a:fillRect/>
            </a:stretch>
          </p:blipFill>
          <p:spPr>
            <a:xfrm>
              <a:off x="0" y="0"/>
              <a:ext cx="10972800" cy="10972800"/>
            </a:xfrm>
            <a:prstGeom prst="rect">
              <a:avLst/>
            </a:prstGeom>
          </p:spPr>
        </p:pic>
      </p:grpSp>
      <p:sp>
        <p:nvSpPr>
          <p:cNvPr id="20" name="TextBox 20"/>
          <p:cNvSpPr txBox="1"/>
          <p:nvPr/>
        </p:nvSpPr>
        <p:spPr>
          <a:xfrm>
            <a:off x="1939425" y="2124890"/>
            <a:ext cx="5202853" cy="2853271"/>
          </a:xfrm>
          <a:prstGeom prst="rect">
            <a:avLst/>
          </a:prstGeom>
        </p:spPr>
        <p:txBody>
          <a:bodyPr lIns="0" tIns="0" rIns="0" bIns="0" rtlCol="0" anchor="t">
            <a:spAutoFit/>
          </a:bodyPr>
          <a:lstStyle/>
          <a:p>
            <a:pPr marL="0" lvl="0" indent="0" algn="l">
              <a:lnSpc>
                <a:spcPts val="7515"/>
              </a:lnSpc>
            </a:pPr>
            <a:r>
              <a:rPr lang="en-US" sz="6110">
                <a:solidFill>
                  <a:srgbClr val="8DAD39"/>
                </a:solidFill>
                <a:latin typeface="Anton"/>
                <a:ea typeface="Anton"/>
                <a:cs typeface="Anton"/>
                <a:sym typeface="Anton"/>
              </a:rPr>
              <a:t>Evaluasi Kesesuaian Kebutuhan</a:t>
            </a:r>
          </a:p>
        </p:txBody>
      </p:sp>
      <p:sp>
        <p:nvSpPr>
          <p:cNvPr id="21" name="TextBox 21"/>
          <p:cNvSpPr txBox="1"/>
          <p:nvPr/>
        </p:nvSpPr>
        <p:spPr>
          <a:xfrm>
            <a:off x="1939425" y="5360792"/>
            <a:ext cx="5409002" cy="3275256"/>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 Fitur utama sudah sesuai dengan tujuan awal</a:t>
            </a:r>
          </a:p>
          <a:p>
            <a:pPr marL="0" lvl="0" indent="0" algn="l">
              <a:lnSpc>
                <a:spcPts val="1679"/>
              </a:lnSpc>
              <a:spcBef>
                <a:spcPct val="0"/>
              </a:spcBef>
            </a:pPr>
            <a:endParaRPr lang="en-US">
              <a:solidFill>
                <a:srgbClr val="1F2020"/>
              </a:solidFill>
              <a:latin typeface="Open Sans"/>
              <a:ea typeface="Open Sans"/>
              <a:cs typeface="Open Sans"/>
              <a:sym typeface="Open Sans"/>
            </a:endParaRPr>
          </a:p>
          <a:p>
            <a:pPr marL="0" lvl="0" indent="0" algn="l">
              <a:lnSpc>
                <a:spcPts val="1679"/>
              </a:lnSpc>
              <a:spcBef>
                <a:spcPct val="0"/>
              </a:spcBef>
            </a:pPr>
            <a:r>
              <a:rPr lang="en-US">
                <a:solidFill>
                  <a:srgbClr val="1F2020"/>
                </a:solidFill>
                <a:latin typeface="Open Sans"/>
                <a:ea typeface="Open Sans"/>
                <a:cs typeface="Open Sans"/>
                <a:sym typeface="Open Sans"/>
              </a:rPr>
              <a:t>Semua fitur inti yang direncanakan, termasuk prolog cerita, HUD gameplay, interaksi NPC, dan epilog edukatif telah berhasil diimplementasikan sesuai dengan spesifikasi kebutuhan awal proyek.</a:t>
            </a:r>
          </a:p>
          <a:p>
            <a:pPr marL="0" lvl="0" indent="0" algn="l">
              <a:lnSpc>
                <a:spcPts val="1679"/>
              </a:lnSpc>
              <a:spcBef>
                <a:spcPct val="0"/>
              </a:spcBef>
            </a:pPr>
            <a:endParaRPr lang="en-US">
              <a:solidFill>
                <a:srgbClr val="1F2020"/>
              </a:solidFill>
              <a:latin typeface="Open Sans"/>
              <a:ea typeface="Open Sans"/>
              <a:cs typeface="Open Sans"/>
              <a:sym typeface="Open Sans"/>
            </a:endParaRPr>
          </a:p>
          <a:p>
            <a:pPr marL="0" lvl="0" indent="0" algn="l">
              <a:lnSpc>
                <a:spcPts val="1679"/>
              </a:lnSpc>
              <a:spcBef>
                <a:spcPct val="0"/>
              </a:spcBef>
            </a:pPr>
            <a:r>
              <a:rPr lang="en-US">
                <a:solidFill>
                  <a:srgbClr val="1F2020"/>
                </a:solidFill>
                <a:latin typeface="Open Sans"/>
                <a:ea typeface="Open Sans"/>
                <a:cs typeface="Open Sans"/>
                <a:sym typeface="Open Sans"/>
              </a:rPr>
              <a:t>✔ Berfungsi sebagai media edukasi interaktif yang efektif</a:t>
            </a:r>
          </a:p>
          <a:p>
            <a:pPr marL="0" lvl="0" indent="0" algn="l">
              <a:lnSpc>
                <a:spcPts val="1679"/>
              </a:lnSpc>
              <a:spcBef>
                <a:spcPct val="0"/>
              </a:spcBef>
            </a:pPr>
            <a:endParaRPr lang="en-US">
              <a:solidFill>
                <a:srgbClr val="1F2020"/>
              </a:solidFill>
              <a:latin typeface="Open Sans"/>
              <a:ea typeface="Open Sans"/>
              <a:cs typeface="Open Sans"/>
              <a:sym typeface="Open Sans"/>
            </a:endParaRPr>
          </a:p>
          <a:p>
            <a:pPr marL="0" lvl="0" indent="0" algn="l">
              <a:lnSpc>
                <a:spcPts val="1679"/>
              </a:lnSpc>
              <a:spcBef>
                <a:spcPct val="0"/>
              </a:spcBef>
            </a:pPr>
            <a:r>
              <a:rPr lang="en-US">
                <a:solidFill>
                  <a:srgbClr val="1F2020"/>
                </a:solidFill>
                <a:latin typeface="Open Sans"/>
                <a:ea typeface="Open Sans"/>
                <a:cs typeface="Open Sans"/>
                <a:sym typeface="Open Sans"/>
              </a:rPr>
              <a:t>Game berhasil menyampaikan pesan tentang dampak deforestasi dan pentingnya pengelolaan lingkungan secara bertanggung jawab melalui pengalaman bermain yang interaktif dan berbasis cerita.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0"/>
            <a:ext cx="16230600" cy="1028700"/>
            <a:chOff x="0" y="0"/>
            <a:chExt cx="4274726" cy="270933"/>
          </a:xfrm>
        </p:grpSpPr>
        <p:sp>
          <p:nvSpPr>
            <p:cNvPr id="3" name="Freeform 3"/>
            <p:cNvSpPr/>
            <p:nvPr/>
          </p:nvSpPr>
          <p:spPr>
            <a:xfrm>
              <a:off x="0" y="0"/>
              <a:ext cx="4274726" cy="270933"/>
            </a:xfrm>
            <a:custGeom>
              <a:avLst/>
              <a:gdLst/>
              <a:ahLst/>
              <a:cxnLst/>
              <a:rect l="l" t="t" r="r" b="b"/>
              <a:pathLst>
                <a:path w="4274726" h="270933">
                  <a:moveTo>
                    <a:pt x="0" y="0"/>
                  </a:moveTo>
                  <a:lnTo>
                    <a:pt x="4274726" y="0"/>
                  </a:lnTo>
                  <a:lnTo>
                    <a:pt x="4274726" y="270933"/>
                  </a:lnTo>
                  <a:lnTo>
                    <a:pt x="0" y="270933"/>
                  </a:lnTo>
                  <a:close/>
                </a:path>
              </a:pathLst>
            </a:custGeom>
            <a:solidFill>
              <a:srgbClr val="25380F"/>
            </a:solidFill>
          </p:spPr>
        </p:sp>
        <p:sp>
          <p:nvSpPr>
            <p:cNvPr id="4" name="TextBox 4"/>
            <p:cNvSpPr txBox="1"/>
            <p:nvPr/>
          </p:nvSpPr>
          <p:spPr>
            <a:xfrm>
              <a:off x="0" y="-38100"/>
              <a:ext cx="4274726"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25304" y="404515"/>
            <a:ext cx="514121" cy="219670"/>
          </a:xfrm>
          <a:custGeom>
            <a:avLst/>
            <a:gdLst/>
            <a:ahLst/>
            <a:cxnLst/>
            <a:rect l="l" t="t" r="r" b="b"/>
            <a:pathLst>
              <a:path w="514121" h="219670">
                <a:moveTo>
                  <a:pt x="0" y="0"/>
                </a:moveTo>
                <a:lnTo>
                  <a:pt x="514121" y="0"/>
                </a:lnTo>
                <a:lnTo>
                  <a:pt x="514121" y="219670"/>
                </a:lnTo>
                <a:lnTo>
                  <a:pt x="0" y="219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343619" y="404515"/>
            <a:ext cx="365073" cy="201122"/>
          </a:xfrm>
          <a:custGeom>
            <a:avLst/>
            <a:gdLst/>
            <a:ahLst/>
            <a:cxnLst/>
            <a:rect l="l" t="t" r="r" b="b"/>
            <a:pathLst>
              <a:path w="365073" h="201122">
                <a:moveTo>
                  <a:pt x="0" y="0"/>
                </a:moveTo>
                <a:lnTo>
                  <a:pt x="365073" y="0"/>
                </a:lnTo>
                <a:lnTo>
                  <a:pt x="365073" y="201122"/>
                </a:lnTo>
                <a:lnTo>
                  <a:pt x="0" y="2011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7865131" y="8825906"/>
            <a:ext cx="432394" cy="432394"/>
            <a:chOff x="0" y="0"/>
            <a:chExt cx="368876" cy="368876"/>
          </a:xfrm>
        </p:grpSpPr>
        <p:sp>
          <p:nvSpPr>
            <p:cNvPr id="8" name="Freeform 8"/>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25380F"/>
            </a:solidFill>
          </p:spPr>
        </p:sp>
        <p:sp>
          <p:nvSpPr>
            <p:cNvPr id="9" name="TextBox 9"/>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15121692" y="405840"/>
            <a:ext cx="9784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Contact</a:t>
            </a:r>
          </a:p>
        </p:txBody>
      </p:sp>
      <p:sp>
        <p:nvSpPr>
          <p:cNvPr id="12" name="TextBox 12"/>
          <p:cNvSpPr txBox="1"/>
          <p:nvPr/>
        </p:nvSpPr>
        <p:spPr>
          <a:xfrm>
            <a:off x="13565896" y="405840"/>
            <a:ext cx="1060497"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About Us</a:t>
            </a:r>
          </a:p>
        </p:txBody>
      </p:sp>
      <p:sp>
        <p:nvSpPr>
          <p:cNvPr id="13" name="TextBox 13"/>
          <p:cNvSpPr txBox="1"/>
          <p:nvPr/>
        </p:nvSpPr>
        <p:spPr>
          <a:xfrm>
            <a:off x="12335139" y="405840"/>
            <a:ext cx="735456"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Video</a:t>
            </a:r>
          </a:p>
        </p:txBody>
      </p:sp>
      <p:sp>
        <p:nvSpPr>
          <p:cNvPr id="14" name="TextBox 14"/>
          <p:cNvSpPr txBox="1"/>
          <p:nvPr/>
        </p:nvSpPr>
        <p:spPr>
          <a:xfrm>
            <a:off x="11079380" y="405840"/>
            <a:ext cx="8097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Home</a:t>
            </a:r>
          </a:p>
        </p:txBody>
      </p:sp>
      <p:grpSp>
        <p:nvGrpSpPr>
          <p:cNvPr id="15" name="Group 15"/>
          <p:cNvGrpSpPr/>
          <p:nvPr/>
        </p:nvGrpSpPr>
        <p:grpSpPr>
          <a:xfrm>
            <a:off x="17865131" y="8399394"/>
            <a:ext cx="432394" cy="432394"/>
            <a:chOff x="0" y="0"/>
            <a:chExt cx="368876" cy="368876"/>
          </a:xfrm>
        </p:grpSpPr>
        <p:sp>
          <p:nvSpPr>
            <p:cNvPr id="16" name="Freeform 16"/>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8DAD39"/>
            </a:solidFill>
          </p:spPr>
        </p:sp>
        <p:sp>
          <p:nvSpPr>
            <p:cNvPr id="17" name="TextBox 17"/>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0" y="5143500"/>
            <a:ext cx="5143500" cy="5143500"/>
            <a:chOff x="0" y="0"/>
            <a:chExt cx="6858000" cy="6858000"/>
          </a:xfrm>
        </p:grpSpPr>
        <p:pic>
          <p:nvPicPr>
            <p:cNvPr id="19" name="Picture 19"/>
            <p:cNvPicPr>
              <a:picLocks noChangeAspect="1"/>
            </p:cNvPicPr>
            <p:nvPr/>
          </p:nvPicPr>
          <p:blipFill>
            <a:blip r:embed="rId6"/>
            <a:srcRect/>
            <a:stretch>
              <a:fillRect/>
            </a:stretch>
          </p:blipFill>
          <p:spPr>
            <a:xfrm>
              <a:off x="0" y="0"/>
              <a:ext cx="6858000" cy="6858000"/>
            </a:xfrm>
            <a:prstGeom prst="rect">
              <a:avLst/>
            </a:prstGeom>
          </p:spPr>
        </p:pic>
      </p:grpSp>
      <p:grpSp>
        <p:nvGrpSpPr>
          <p:cNvPr id="20" name="Group 20"/>
          <p:cNvGrpSpPr/>
          <p:nvPr/>
        </p:nvGrpSpPr>
        <p:grpSpPr>
          <a:xfrm>
            <a:off x="5372081" y="5143500"/>
            <a:ext cx="11887219" cy="5143500"/>
            <a:chOff x="0" y="0"/>
            <a:chExt cx="15849625" cy="6858000"/>
          </a:xfrm>
        </p:grpSpPr>
        <p:pic>
          <p:nvPicPr>
            <p:cNvPr id="21" name="Picture 21"/>
            <p:cNvPicPr>
              <a:picLocks noChangeAspect="1"/>
            </p:cNvPicPr>
            <p:nvPr/>
          </p:nvPicPr>
          <p:blipFill>
            <a:blip r:embed="rId7"/>
            <a:srcRect t="12044" b="12044"/>
            <a:stretch>
              <a:fillRect/>
            </a:stretch>
          </p:blipFill>
          <p:spPr>
            <a:xfrm>
              <a:off x="0" y="0"/>
              <a:ext cx="15849625" cy="6858000"/>
            </a:xfrm>
            <a:prstGeom prst="rect">
              <a:avLst/>
            </a:prstGeom>
          </p:spPr>
        </p:pic>
      </p:grpSp>
      <p:sp>
        <p:nvSpPr>
          <p:cNvPr id="22" name="TextBox 22"/>
          <p:cNvSpPr txBox="1"/>
          <p:nvPr/>
        </p:nvSpPr>
        <p:spPr>
          <a:xfrm>
            <a:off x="1716543" y="2115365"/>
            <a:ext cx="5202853" cy="2070147"/>
          </a:xfrm>
          <a:prstGeom prst="rect">
            <a:avLst/>
          </a:prstGeom>
        </p:spPr>
        <p:txBody>
          <a:bodyPr lIns="0" tIns="0" rIns="0" bIns="0" rtlCol="0" anchor="t">
            <a:spAutoFit/>
          </a:bodyPr>
          <a:lstStyle/>
          <a:p>
            <a:pPr marL="0" lvl="0" indent="0" algn="l">
              <a:lnSpc>
                <a:spcPts val="8184"/>
              </a:lnSpc>
            </a:pPr>
            <a:r>
              <a:rPr lang="en-US" sz="6654">
                <a:solidFill>
                  <a:srgbClr val="8DAD39"/>
                </a:solidFill>
                <a:latin typeface="Anton"/>
                <a:ea typeface="Anton"/>
                <a:cs typeface="Anton"/>
                <a:sym typeface="Anton"/>
              </a:rPr>
              <a:t>Evaluasi Kualitas Desain</a:t>
            </a:r>
          </a:p>
        </p:txBody>
      </p:sp>
      <p:sp>
        <p:nvSpPr>
          <p:cNvPr id="23" name="TextBox 23"/>
          <p:cNvSpPr txBox="1"/>
          <p:nvPr/>
        </p:nvSpPr>
        <p:spPr>
          <a:xfrm>
            <a:off x="7726934" y="2243792"/>
            <a:ext cx="3721297" cy="1967205"/>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 Kelebihan</a:t>
            </a:r>
          </a:p>
          <a:p>
            <a:pPr marL="0" lvl="0" indent="0" algn="l">
              <a:lnSpc>
                <a:spcPts val="1679"/>
              </a:lnSpc>
              <a:spcBef>
                <a:spcPct val="0"/>
              </a:spcBef>
            </a:pPr>
            <a:endParaRPr lang="en-US">
              <a:solidFill>
                <a:srgbClr val="1F2020"/>
              </a:solidFill>
              <a:latin typeface="Open Sans"/>
              <a:ea typeface="Open Sans"/>
              <a:cs typeface="Open Sans"/>
              <a:sym typeface="Open Sans"/>
            </a:endParaRPr>
          </a:p>
          <a:p>
            <a:pPr marL="0" lvl="0" indent="0" algn="l">
              <a:lnSpc>
                <a:spcPts val="1679"/>
              </a:lnSpc>
              <a:spcBef>
                <a:spcPct val="0"/>
              </a:spcBef>
            </a:pPr>
            <a:r>
              <a:rPr lang="en-US">
                <a:solidFill>
                  <a:srgbClr val="1F2020"/>
                </a:solidFill>
                <a:latin typeface="Open Sans"/>
                <a:ea typeface="Open Sans"/>
                <a:cs typeface="Open Sans"/>
                <a:sym typeface="Open Sans"/>
              </a:rPr>
              <a:t>• Alur cerita mudah dipahami oleh pemain</a:t>
            </a:r>
          </a:p>
          <a:p>
            <a:pPr marL="0" lvl="0" indent="0" algn="l">
              <a:lnSpc>
                <a:spcPts val="1679"/>
              </a:lnSpc>
              <a:spcBef>
                <a:spcPct val="0"/>
              </a:spcBef>
            </a:pPr>
            <a:r>
              <a:rPr lang="en-US">
                <a:solidFill>
                  <a:srgbClr val="1F2020"/>
                </a:solidFill>
                <a:latin typeface="Open Sans"/>
                <a:ea typeface="Open Sans"/>
                <a:cs typeface="Open Sans"/>
                <a:sym typeface="Open Sans"/>
              </a:rPr>
              <a:t>• UI sederhana dan intuitif</a:t>
            </a:r>
          </a:p>
          <a:p>
            <a:pPr marL="0" lvl="0" indent="0" algn="l">
              <a:lnSpc>
                <a:spcPts val="1679"/>
              </a:lnSpc>
              <a:spcBef>
                <a:spcPct val="0"/>
              </a:spcBef>
            </a:pPr>
            <a:r>
              <a:rPr lang="en-US">
                <a:solidFill>
                  <a:srgbClr val="1F2020"/>
                </a:solidFill>
                <a:latin typeface="Open Sans"/>
                <a:ea typeface="Open Sans"/>
                <a:cs typeface="Open Sans"/>
                <a:sym typeface="Open Sans"/>
              </a:rPr>
              <a:t>• Cerita sesuai dengan tema lingkungan</a:t>
            </a:r>
          </a:p>
          <a:p>
            <a:pPr marL="0" lvl="0" indent="0" algn="l">
              <a:lnSpc>
                <a:spcPts val="1679"/>
              </a:lnSpc>
              <a:spcBef>
                <a:spcPct val="0"/>
              </a:spcBef>
            </a:pPr>
            <a:r>
              <a:rPr lang="en-US">
                <a:solidFill>
                  <a:srgbClr val="1F2020"/>
                </a:solidFill>
                <a:latin typeface="Open Sans"/>
                <a:ea typeface="Open Sans"/>
                <a:cs typeface="Open Sans"/>
                <a:sym typeface="Open Sans"/>
              </a:rPr>
              <a:t>• NPC mendukung penyampaian pesan edukasi</a:t>
            </a:r>
          </a:p>
        </p:txBody>
      </p:sp>
      <p:sp>
        <p:nvSpPr>
          <p:cNvPr id="24" name="TextBox 24"/>
          <p:cNvSpPr txBox="1"/>
          <p:nvPr/>
        </p:nvSpPr>
        <p:spPr>
          <a:xfrm>
            <a:off x="12776284" y="2243792"/>
            <a:ext cx="3721297" cy="1531188"/>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 Kekurangan</a:t>
            </a:r>
          </a:p>
          <a:p>
            <a:pPr marL="0" lvl="0" indent="0" algn="l">
              <a:lnSpc>
                <a:spcPts val="1679"/>
              </a:lnSpc>
              <a:spcBef>
                <a:spcPct val="0"/>
              </a:spcBef>
            </a:pPr>
            <a:endParaRPr lang="en-US">
              <a:solidFill>
                <a:srgbClr val="1F2020"/>
              </a:solidFill>
              <a:latin typeface="Open Sans"/>
              <a:ea typeface="Open Sans"/>
              <a:cs typeface="Open Sans"/>
              <a:sym typeface="Open Sans"/>
            </a:endParaRPr>
          </a:p>
          <a:p>
            <a:pPr marL="0" lvl="0" indent="0" algn="l">
              <a:lnSpc>
                <a:spcPts val="1679"/>
              </a:lnSpc>
              <a:spcBef>
                <a:spcPct val="0"/>
              </a:spcBef>
            </a:pPr>
            <a:r>
              <a:rPr lang="en-US">
                <a:solidFill>
                  <a:srgbClr val="1F2020"/>
                </a:solidFill>
                <a:latin typeface="Open Sans"/>
                <a:ea typeface="Open Sans"/>
                <a:cs typeface="Open Sans"/>
                <a:sym typeface="Open Sans"/>
              </a:rPr>
              <a:t>• Variasi misi masih terbatas</a:t>
            </a:r>
          </a:p>
          <a:p>
            <a:pPr marL="0" lvl="0" indent="0" algn="l">
              <a:lnSpc>
                <a:spcPts val="1679"/>
              </a:lnSpc>
              <a:spcBef>
                <a:spcPct val="0"/>
              </a:spcBef>
            </a:pPr>
            <a:r>
              <a:rPr lang="en-US">
                <a:solidFill>
                  <a:srgbClr val="1F2020"/>
                </a:solidFill>
                <a:latin typeface="Open Sans"/>
                <a:ea typeface="Open Sans"/>
                <a:cs typeface="Open Sans"/>
                <a:sym typeface="Open Sans"/>
              </a:rPr>
              <a:t>• Kualitas visual dapat ditingkatkan</a:t>
            </a:r>
          </a:p>
          <a:p>
            <a:pPr marL="0" lvl="0" indent="0" algn="l">
              <a:lnSpc>
                <a:spcPts val="1679"/>
              </a:lnSpc>
              <a:spcBef>
                <a:spcPct val="0"/>
              </a:spcBef>
            </a:pPr>
            <a:r>
              <a:rPr lang="en-US">
                <a:solidFill>
                  <a:srgbClr val="1F2020"/>
                </a:solidFill>
                <a:latin typeface="Open Sans"/>
                <a:ea typeface="Open Sans"/>
                <a:cs typeface="Open Sans"/>
                <a:sym typeface="Open Sans"/>
              </a:rPr>
              <a:t>• Interaksi NPC masih sederhana</a:t>
            </a:r>
          </a:p>
          <a:p>
            <a:pPr marL="0" lvl="0" indent="0" algn="l">
              <a:lnSpc>
                <a:spcPts val="1679"/>
              </a:lnSpc>
              <a:spcBef>
                <a:spcPct val="0"/>
              </a:spcBef>
            </a:pPr>
            <a:r>
              <a:rPr lang="en-US">
                <a:solidFill>
                  <a:srgbClr val="1F2020"/>
                </a:solidFill>
                <a:latin typeface="Open Sans"/>
                <a:ea typeface="Open Sans"/>
                <a:cs typeface="Open Sans"/>
                <a:sym typeface="Open Sans"/>
              </a:rPr>
              <a:t>• Potensi pengembangan lebih lanjut terbuka</a:t>
            </a:r>
          </a:p>
        </p:txBody>
      </p:sp>
      <p:sp>
        <p:nvSpPr>
          <p:cNvPr id="26" name="TextBox 10">
            <a:extLst>
              <a:ext uri="{FF2B5EF4-FFF2-40B4-BE49-F238E27FC236}">
                <a16:creationId xmlns:a16="http://schemas.microsoft.com/office/drawing/2014/main" id="{4F6D40CB-6E2B-4582-A26A-E9654525D997}"/>
              </a:ext>
            </a:extLst>
          </p:cNvPr>
          <p:cNvSpPr txBox="1"/>
          <p:nvPr/>
        </p:nvSpPr>
        <p:spPr>
          <a:xfrm>
            <a:off x="2086858" y="404515"/>
            <a:ext cx="2485142" cy="223138"/>
          </a:xfrm>
          <a:prstGeom prst="rect">
            <a:avLst/>
          </a:prstGeom>
        </p:spPr>
        <p:txBody>
          <a:bodyPr wrap="square" lIns="0" tIns="0" rIns="0" bIns="0" rtlCol="0" anchor="t">
            <a:spAutoFit/>
          </a:bodyPr>
          <a:lstStyle/>
          <a:p>
            <a:pPr marL="0" lvl="0" indent="0" algn="l">
              <a:lnSpc>
                <a:spcPts val="1679"/>
              </a:lnSpc>
              <a:spcBef>
                <a:spcPct val="0"/>
              </a:spcBef>
            </a:pPr>
            <a:r>
              <a:rPr lang="en-US">
                <a:solidFill>
                  <a:srgbClr val="FFFFFF"/>
                </a:solidFill>
                <a:latin typeface="Open Sans"/>
                <a:ea typeface="Open Sans"/>
                <a:cs typeface="Open Sans"/>
                <a:sym typeface="Open Sans"/>
              </a:rPr>
              <a:t>Sawit: The Last Chance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079375" cy="10287000"/>
            <a:chOff x="0" y="0"/>
            <a:chExt cx="8105833" cy="13716000"/>
          </a:xfrm>
        </p:grpSpPr>
        <p:pic>
          <p:nvPicPr>
            <p:cNvPr id="3" name="Picture 3"/>
            <p:cNvPicPr>
              <a:picLocks noChangeAspect="1"/>
            </p:cNvPicPr>
            <p:nvPr/>
          </p:nvPicPr>
          <p:blipFill>
            <a:blip r:embed="rId2"/>
            <a:srcRect t="1774" b="1774"/>
            <a:stretch>
              <a:fillRect/>
            </a:stretch>
          </p:blipFill>
          <p:spPr>
            <a:xfrm>
              <a:off x="0" y="0"/>
              <a:ext cx="8105833" cy="13716000"/>
            </a:xfrm>
            <a:prstGeom prst="rect">
              <a:avLst/>
            </a:prstGeom>
          </p:spPr>
        </p:pic>
      </p:grpSp>
      <p:grpSp>
        <p:nvGrpSpPr>
          <p:cNvPr id="4" name="Group 4"/>
          <p:cNvGrpSpPr/>
          <p:nvPr/>
        </p:nvGrpSpPr>
        <p:grpSpPr>
          <a:xfrm>
            <a:off x="1028700" y="0"/>
            <a:ext cx="16230600" cy="1028700"/>
            <a:chOff x="0" y="0"/>
            <a:chExt cx="4274726" cy="270933"/>
          </a:xfrm>
        </p:grpSpPr>
        <p:sp>
          <p:nvSpPr>
            <p:cNvPr id="5" name="Freeform 5"/>
            <p:cNvSpPr/>
            <p:nvPr/>
          </p:nvSpPr>
          <p:spPr>
            <a:xfrm>
              <a:off x="0" y="0"/>
              <a:ext cx="4274726" cy="270933"/>
            </a:xfrm>
            <a:custGeom>
              <a:avLst/>
              <a:gdLst/>
              <a:ahLst/>
              <a:cxnLst/>
              <a:rect l="l" t="t" r="r" b="b"/>
              <a:pathLst>
                <a:path w="4274726" h="270933">
                  <a:moveTo>
                    <a:pt x="0" y="0"/>
                  </a:moveTo>
                  <a:lnTo>
                    <a:pt x="4274726" y="0"/>
                  </a:lnTo>
                  <a:lnTo>
                    <a:pt x="4274726" y="270933"/>
                  </a:lnTo>
                  <a:lnTo>
                    <a:pt x="0" y="270933"/>
                  </a:lnTo>
                  <a:close/>
                </a:path>
              </a:pathLst>
            </a:custGeom>
            <a:solidFill>
              <a:srgbClr val="25380F"/>
            </a:solidFill>
          </p:spPr>
        </p:sp>
        <p:sp>
          <p:nvSpPr>
            <p:cNvPr id="6" name="TextBox 6"/>
            <p:cNvSpPr txBox="1"/>
            <p:nvPr/>
          </p:nvSpPr>
          <p:spPr>
            <a:xfrm>
              <a:off x="0" y="-38100"/>
              <a:ext cx="4274726"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Freeform 7"/>
          <p:cNvSpPr/>
          <p:nvPr/>
        </p:nvSpPr>
        <p:spPr>
          <a:xfrm>
            <a:off x="1425304" y="404515"/>
            <a:ext cx="514121" cy="219670"/>
          </a:xfrm>
          <a:custGeom>
            <a:avLst/>
            <a:gdLst/>
            <a:ahLst/>
            <a:cxnLst/>
            <a:rect l="l" t="t" r="r" b="b"/>
            <a:pathLst>
              <a:path w="514121" h="219670">
                <a:moveTo>
                  <a:pt x="0" y="0"/>
                </a:moveTo>
                <a:lnTo>
                  <a:pt x="514121" y="0"/>
                </a:lnTo>
                <a:lnTo>
                  <a:pt x="514121" y="219670"/>
                </a:lnTo>
                <a:lnTo>
                  <a:pt x="0" y="2196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6343619" y="404515"/>
            <a:ext cx="365073" cy="201122"/>
          </a:xfrm>
          <a:custGeom>
            <a:avLst/>
            <a:gdLst/>
            <a:ahLst/>
            <a:cxnLst/>
            <a:rect l="l" t="t" r="r" b="b"/>
            <a:pathLst>
              <a:path w="365073" h="201122">
                <a:moveTo>
                  <a:pt x="0" y="0"/>
                </a:moveTo>
                <a:lnTo>
                  <a:pt x="365073" y="0"/>
                </a:lnTo>
                <a:lnTo>
                  <a:pt x="365073" y="201122"/>
                </a:lnTo>
                <a:lnTo>
                  <a:pt x="0" y="2011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9" name="Group 9"/>
          <p:cNvGrpSpPr/>
          <p:nvPr/>
        </p:nvGrpSpPr>
        <p:grpSpPr>
          <a:xfrm>
            <a:off x="17865131" y="8825906"/>
            <a:ext cx="432394" cy="432394"/>
            <a:chOff x="0" y="0"/>
            <a:chExt cx="368876" cy="368876"/>
          </a:xfrm>
        </p:grpSpPr>
        <p:sp>
          <p:nvSpPr>
            <p:cNvPr id="10" name="Freeform 10"/>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25380F"/>
            </a:solidFill>
          </p:spPr>
        </p:sp>
        <p:sp>
          <p:nvSpPr>
            <p:cNvPr id="11" name="TextBox 11"/>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5121692" y="405840"/>
            <a:ext cx="9784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Contact</a:t>
            </a:r>
          </a:p>
        </p:txBody>
      </p:sp>
      <p:sp>
        <p:nvSpPr>
          <p:cNvPr id="14" name="TextBox 14"/>
          <p:cNvSpPr txBox="1"/>
          <p:nvPr/>
        </p:nvSpPr>
        <p:spPr>
          <a:xfrm>
            <a:off x="13565896" y="405840"/>
            <a:ext cx="1060497"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About Us</a:t>
            </a:r>
          </a:p>
        </p:txBody>
      </p:sp>
      <p:sp>
        <p:nvSpPr>
          <p:cNvPr id="15" name="TextBox 15"/>
          <p:cNvSpPr txBox="1"/>
          <p:nvPr/>
        </p:nvSpPr>
        <p:spPr>
          <a:xfrm>
            <a:off x="12335139" y="405840"/>
            <a:ext cx="735456"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Video</a:t>
            </a:r>
          </a:p>
        </p:txBody>
      </p:sp>
      <p:sp>
        <p:nvSpPr>
          <p:cNvPr id="16" name="TextBox 16"/>
          <p:cNvSpPr txBox="1"/>
          <p:nvPr/>
        </p:nvSpPr>
        <p:spPr>
          <a:xfrm>
            <a:off x="11079380" y="405840"/>
            <a:ext cx="8097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Home</a:t>
            </a:r>
          </a:p>
        </p:txBody>
      </p:sp>
      <p:grpSp>
        <p:nvGrpSpPr>
          <p:cNvPr id="17" name="Group 17"/>
          <p:cNvGrpSpPr/>
          <p:nvPr/>
        </p:nvGrpSpPr>
        <p:grpSpPr>
          <a:xfrm>
            <a:off x="17865131" y="8399394"/>
            <a:ext cx="432394" cy="432394"/>
            <a:chOff x="0" y="0"/>
            <a:chExt cx="368876" cy="368876"/>
          </a:xfrm>
        </p:grpSpPr>
        <p:sp>
          <p:nvSpPr>
            <p:cNvPr id="18" name="Freeform 18"/>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8DAD39"/>
            </a:solidFill>
          </p:spPr>
        </p:sp>
        <p:sp>
          <p:nvSpPr>
            <p:cNvPr id="19" name="TextBox 19"/>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20" name="TextBox 20"/>
          <p:cNvSpPr txBox="1"/>
          <p:nvPr/>
        </p:nvSpPr>
        <p:spPr>
          <a:xfrm>
            <a:off x="7589737" y="1875445"/>
            <a:ext cx="5202853" cy="873826"/>
          </a:xfrm>
          <a:prstGeom prst="rect">
            <a:avLst/>
          </a:prstGeom>
        </p:spPr>
        <p:txBody>
          <a:bodyPr lIns="0" tIns="0" rIns="0" bIns="0" rtlCol="0" anchor="t">
            <a:spAutoFit/>
          </a:bodyPr>
          <a:lstStyle/>
          <a:p>
            <a:pPr marL="0" lvl="0" indent="0" algn="l">
              <a:lnSpc>
                <a:spcPts val="6948"/>
              </a:lnSpc>
            </a:pPr>
            <a:r>
              <a:rPr lang="en-US" sz="5649">
                <a:solidFill>
                  <a:srgbClr val="8DAD39"/>
                </a:solidFill>
                <a:latin typeface="Anton"/>
                <a:ea typeface="Anton"/>
                <a:cs typeface="Anton"/>
                <a:sym typeface="Anton"/>
              </a:rPr>
              <a:t>Evaluasi Kerja Tim</a:t>
            </a:r>
          </a:p>
        </p:txBody>
      </p:sp>
      <p:sp>
        <p:nvSpPr>
          <p:cNvPr id="21" name="TextBox 21"/>
          <p:cNvSpPr txBox="1"/>
          <p:nvPr/>
        </p:nvSpPr>
        <p:spPr>
          <a:xfrm>
            <a:off x="7589737" y="4402911"/>
            <a:ext cx="3555540" cy="1531188"/>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Tim menggunakan Roblox Studio Team Create sebagai platform kolaborasi utama, memungkinkan pengerjaan proyek secara bersamaan dan real-time oleh seluruh anggota tim.</a:t>
            </a:r>
          </a:p>
        </p:txBody>
      </p:sp>
      <p:sp>
        <p:nvSpPr>
          <p:cNvPr id="22" name="TextBox 22"/>
          <p:cNvSpPr txBox="1"/>
          <p:nvPr/>
        </p:nvSpPr>
        <p:spPr>
          <a:xfrm>
            <a:off x="7589737" y="3955236"/>
            <a:ext cx="2378606" cy="271228"/>
          </a:xfrm>
          <a:prstGeom prst="rect">
            <a:avLst/>
          </a:prstGeom>
        </p:spPr>
        <p:txBody>
          <a:bodyPr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Kolaborasi Tim</a:t>
            </a:r>
          </a:p>
        </p:txBody>
      </p:sp>
      <p:sp>
        <p:nvSpPr>
          <p:cNvPr id="23" name="TextBox 23"/>
          <p:cNvSpPr txBox="1"/>
          <p:nvPr/>
        </p:nvSpPr>
        <p:spPr>
          <a:xfrm>
            <a:off x="7589737" y="7146189"/>
            <a:ext cx="3555540" cy="1313180"/>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Kerja tim berjalan efektif dan terstruktur. Setiap anggota memahami peran masing-masing dan berkontribusi aktif dalam penyelesaian proyek tepat waktu.</a:t>
            </a:r>
          </a:p>
        </p:txBody>
      </p:sp>
      <p:sp>
        <p:nvSpPr>
          <p:cNvPr id="24" name="TextBox 24"/>
          <p:cNvSpPr txBox="1"/>
          <p:nvPr/>
        </p:nvSpPr>
        <p:spPr>
          <a:xfrm>
            <a:off x="7589737" y="6698514"/>
            <a:ext cx="2378606" cy="271228"/>
          </a:xfrm>
          <a:prstGeom prst="rect">
            <a:avLst/>
          </a:prstGeom>
        </p:spPr>
        <p:txBody>
          <a:bodyPr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Efektivitas Tim</a:t>
            </a:r>
          </a:p>
        </p:txBody>
      </p:sp>
      <p:sp>
        <p:nvSpPr>
          <p:cNvPr id="25" name="TextBox 25"/>
          <p:cNvSpPr txBox="1"/>
          <p:nvPr/>
        </p:nvSpPr>
        <p:spPr>
          <a:xfrm>
            <a:off x="12633004" y="4402911"/>
            <a:ext cx="3555540" cy="1313180"/>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Tugas dibagi secara terstruktur: pembuatan map dan lingkungan, desain UI, scripting logika gameplay, serta dokumentasi proyek untuk memastikan efisiensi kerja.</a:t>
            </a:r>
          </a:p>
        </p:txBody>
      </p:sp>
      <p:sp>
        <p:nvSpPr>
          <p:cNvPr id="26" name="TextBox 26"/>
          <p:cNvSpPr txBox="1"/>
          <p:nvPr/>
        </p:nvSpPr>
        <p:spPr>
          <a:xfrm>
            <a:off x="12633004" y="3955236"/>
            <a:ext cx="2378606" cy="271228"/>
          </a:xfrm>
          <a:prstGeom prst="rect">
            <a:avLst/>
          </a:prstGeom>
        </p:spPr>
        <p:txBody>
          <a:bodyPr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Pembagian Tugas</a:t>
            </a:r>
          </a:p>
        </p:txBody>
      </p:sp>
      <p:sp>
        <p:nvSpPr>
          <p:cNvPr id="27" name="TextBox 27"/>
          <p:cNvSpPr txBox="1"/>
          <p:nvPr/>
        </p:nvSpPr>
        <p:spPr>
          <a:xfrm>
            <a:off x="12633004" y="7146189"/>
            <a:ext cx="3555540" cy="1313180"/>
          </a:xfrm>
          <a:prstGeom prst="rect">
            <a:avLst/>
          </a:prstGeom>
        </p:spPr>
        <p:txBody>
          <a:bodyPr lIns="0" tIns="0" rIns="0" bIns="0" rtlCol="0" anchor="t">
            <a:spAutoFit/>
          </a:bodyPr>
          <a:lstStyle/>
          <a:p>
            <a:pPr marL="0" lvl="0" indent="0" algn="l">
              <a:lnSpc>
                <a:spcPts val="1679"/>
              </a:lnSpc>
              <a:spcBef>
                <a:spcPct val="0"/>
              </a:spcBef>
            </a:pPr>
            <a:r>
              <a:rPr lang="en-US">
                <a:solidFill>
                  <a:srgbClr val="1F2020"/>
                </a:solidFill>
                <a:latin typeface="Open Sans"/>
                <a:ea typeface="Open Sans"/>
                <a:cs typeface="Open Sans"/>
                <a:sym typeface="Open Sans"/>
              </a:rPr>
              <a:t>Sinergi antar anggota tim menghasilkan produk akhir yang kohesif, dengan integrasi antara map, UI, skrip, dan narasi yang berjalan sesuai rencana awal proyek.</a:t>
            </a:r>
          </a:p>
        </p:txBody>
      </p:sp>
      <p:sp>
        <p:nvSpPr>
          <p:cNvPr id="28" name="TextBox 28"/>
          <p:cNvSpPr txBox="1"/>
          <p:nvPr/>
        </p:nvSpPr>
        <p:spPr>
          <a:xfrm>
            <a:off x="12633004" y="6698514"/>
            <a:ext cx="2378606" cy="271228"/>
          </a:xfrm>
          <a:prstGeom prst="rect">
            <a:avLst/>
          </a:prstGeom>
        </p:spPr>
        <p:txBody>
          <a:bodyPr lIns="0" tIns="0" rIns="0" bIns="0" rtlCol="0" anchor="t">
            <a:spAutoFit/>
          </a:bodyPr>
          <a:lstStyle/>
          <a:p>
            <a:pPr marL="0" lvl="0" indent="0" algn="l">
              <a:lnSpc>
                <a:spcPts val="2239"/>
              </a:lnSpc>
              <a:spcBef>
                <a:spcPct val="0"/>
              </a:spcBef>
            </a:pPr>
            <a:r>
              <a:rPr lang="en-US" b="1">
                <a:solidFill>
                  <a:srgbClr val="8DAD39"/>
                </a:solidFill>
                <a:latin typeface="Open Sans Bold"/>
                <a:ea typeface="Open Sans Bold"/>
                <a:cs typeface="Open Sans Bold"/>
                <a:sym typeface="Open Sans Bold"/>
              </a:rPr>
              <a:t>Hasil Kolaborasi</a:t>
            </a:r>
          </a:p>
        </p:txBody>
      </p:sp>
      <p:sp>
        <p:nvSpPr>
          <p:cNvPr id="29" name="TextBox 10">
            <a:extLst>
              <a:ext uri="{FF2B5EF4-FFF2-40B4-BE49-F238E27FC236}">
                <a16:creationId xmlns:a16="http://schemas.microsoft.com/office/drawing/2014/main" id="{475C7A32-076D-4E4E-8615-9A0DB2D35DDB}"/>
              </a:ext>
            </a:extLst>
          </p:cNvPr>
          <p:cNvSpPr txBox="1"/>
          <p:nvPr/>
        </p:nvSpPr>
        <p:spPr>
          <a:xfrm>
            <a:off x="2086858" y="404515"/>
            <a:ext cx="2485142" cy="223138"/>
          </a:xfrm>
          <a:prstGeom prst="rect">
            <a:avLst/>
          </a:prstGeom>
        </p:spPr>
        <p:txBody>
          <a:bodyPr wrap="square" lIns="0" tIns="0" rIns="0" bIns="0" rtlCol="0" anchor="t">
            <a:spAutoFit/>
          </a:bodyPr>
          <a:lstStyle/>
          <a:p>
            <a:pPr marL="0" lvl="0" indent="0" algn="l">
              <a:lnSpc>
                <a:spcPts val="1679"/>
              </a:lnSpc>
              <a:spcBef>
                <a:spcPct val="0"/>
              </a:spcBef>
            </a:pPr>
            <a:r>
              <a:rPr lang="en-US">
                <a:solidFill>
                  <a:srgbClr val="FFFFFF"/>
                </a:solidFill>
                <a:latin typeface="Open Sans"/>
                <a:ea typeface="Open Sans"/>
                <a:cs typeface="Open Sans"/>
                <a:sym typeface="Open Sans"/>
              </a:rPr>
              <a:t>Sawit: The Last Chance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0"/>
            <a:ext cx="16230600" cy="1028700"/>
            <a:chOff x="0" y="0"/>
            <a:chExt cx="4274726" cy="270933"/>
          </a:xfrm>
        </p:grpSpPr>
        <p:sp>
          <p:nvSpPr>
            <p:cNvPr id="3" name="Freeform 3"/>
            <p:cNvSpPr/>
            <p:nvPr/>
          </p:nvSpPr>
          <p:spPr>
            <a:xfrm>
              <a:off x="0" y="0"/>
              <a:ext cx="4274726" cy="270933"/>
            </a:xfrm>
            <a:custGeom>
              <a:avLst/>
              <a:gdLst/>
              <a:ahLst/>
              <a:cxnLst/>
              <a:rect l="l" t="t" r="r" b="b"/>
              <a:pathLst>
                <a:path w="4274726" h="270933">
                  <a:moveTo>
                    <a:pt x="0" y="0"/>
                  </a:moveTo>
                  <a:lnTo>
                    <a:pt x="4274726" y="0"/>
                  </a:lnTo>
                  <a:lnTo>
                    <a:pt x="4274726" y="270933"/>
                  </a:lnTo>
                  <a:lnTo>
                    <a:pt x="0" y="270933"/>
                  </a:lnTo>
                  <a:close/>
                </a:path>
              </a:pathLst>
            </a:custGeom>
            <a:solidFill>
              <a:srgbClr val="25380F"/>
            </a:solidFill>
          </p:spPr>
        </p:sp>
        <p:sp>
          <p:nvSpPr>
            <p:cNvPr id="4" name="TextBox 4"/>
            <p:cNvSpPr txBox="1"/>
            <p:nvPr/>
          </p:nvSpPr>
          <p:spPr>
            <a:xfrm>
              <a:off x="0" y="-38100"/>
              <a:ext cx="4274726" cy="3090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25304" y="404515"/>
            <a:ext cx="514121" cy="219670"/>
          </a:xfrm>
          <a:custGeom>
            <a:avLst/>
            <a:gdLst/>
            <a:ahLst/>
            <a:cxnLst/>
            <a:rect l="l" t="t" r="r" b="b"/>
            <a:pathLst>
              <a:path w="514121" h="219670">
                <a:moveTo>
                  <a:pt x="0" y="0"/>
                </a:moveTo>
                <a:lnTo>
                  <a:pt x="514121" y="0"/>
                </a:lnTo>
                <a:lnTo>
                  <a:pt x="514121" y="219670"/>
                </a:lnTo>
                <a:lnTo>
                  <a:pt x="0" y="219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343619" y="404515"/>
            <a:ext cx="365073" cy="201122"/>
          </a:xfrm>
          <a:custGeom>
            <a:avLst/>
            <a:gdLst/>
            <a:ahLst/>
            <a:cxnLst/>
            <a:rect l="l" t="t" r="r" b="b"/>
            <a:pathLst>
              <a:path w="365073" h="201122">
                <a:moveTo>
                  <a:pt x="0" y="0"/>
                </a:moveTo>
                <a:lnTo>
                  <a:pt x="365073" y="0"/>
                </a:lnTo>
                <a:lnTo>
                  <a:pt x="365073" y="201122"/>
                </a:lnTo>
                <a:lnTo>
                  <a:pt x="0" y="2011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7865131" y="8825906"/>
            <a:ext cx="432394" cy="432394"/>
            <a:chOff x="0" y="0"/>
            <a:chExt cx="368876" cy="368876"/>
          </a:xfrm>
        </p:grpSpPr>
        <p:sp>
          <p:nvSpPr>
            <p:cNvPr id="8" name="Freeform 8"/>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25380F"/>
            </a:solidFill>
          </p:spPr>
        </p:sp>
        <p:sp>
          <p:nvSpPr>
            <p:cNvPr id="9" name="TextBox 9"/>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15121692" y="405840"/>
            <a:ext cx="9784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Penutup</a:t>
            </a:r>
          </a:p>
        </p:txBody>
      </p:sp>
      <p:sp>
        <p:nvSpPr>
          <p:cNvPr id="12" name="TextBox 12"/>
          <p:cNvSpPr txBox="1"/>
          <p:nvPr/>
        </p:nvSpPr>
        <p:spPr>
          <a:xfrm>
            <a:off x="13565896" y="405840"/>
            <a:ext cx="1060497"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Evaluasi</a:t>
            </a:r>
          </a:p>
        </p:txBody>
      </p:sp>
      <p:sp>
        <p:nvSpPr>
          <p:cNvPr id="13" name="TextBox 13"/>
          <p:cNvSpPr txBox="1"/>
          <p:nvPr/>
        </p:nvSpPr>
        <p:spPr>
          <a:xfrm>
            <a:off x="12335139" y="405840"/>
            <a:ext cx="735456"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Demo</a:t>
            </a:r>
          </a:p>
        </p:txBody>
      </p:sp>
      <p:sp>
        <p:nvSpPr>
          <p:cNvPr id="14" name="TextBox 14"/>
          <p:cNvSpPr txBox="1"/>
          <p:nvPr/>
        </p:nvSpPr>
        <p:spPr>
          <a:xfrm>
            <a:off x="11079380" y="405840"/>
            <a:ext cx="809760" cy="198120"/>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Open Sans"/>
                <a:ea typeface="Open Sans"/>
                <a:cs typeface="Open Sans"/>
                <a:sym typeface="Open Sans"/>
              </a:rPr>
              <a:t>Beranda</a:t>
            </a:r>
          </a:p>
        </p:txBody>
      </p:sp>
      <p:grpSp>
        <p:nvGrpSpPr>
          <p:cNvPr id="15" name="Group 15"/>
          <p:cNvGrpSpPr/>
          <p:nvPr/>
        </p:nvGrpSpPr>
        <p:grpSpPr>
          <a:xfrm>
            <a:off x="17865131" y="8399394"/>
            <a:ext cx="432394" cy="432394"/>
            <a:chOff x="0" y="0"/>
            <a:chExt cx="368876" cy="368876"/>
          </a:xfrm>
        </p:grpSpPr>
        <p:sp>
          <p:nvSpPr>
            <p:cNvPr id="16" name="Freeform 16"/>
            <p:cNvSpPr/>
            <p:nvPr/>
          </p:nvSpPr>
          <p:spPr>
            <a:xfrm>
              <a:off x="0" y="0"/>
              <a:ext cx="368876" cy="368876"/>
            </a:xfrm>
            <a:custGeom>
              <a:avLst/>
              <a:gdLst/>
              <a:ahLst/>
              <a:cxnLst/>
              <a:rect l="l" t="t" r="r" b="b"/>
              <a:pathLst>
                <a:path w="368876" h="368876">
                  <a:moveTo>
                    <a:pt x="0" y="0"/>
                  </a:moveTo>
                  <a:lnTo>
                    <a:pt x="368876" y="0"/>
                  </a:lnTo>
                  <a:lnTo>
                    <a:pt x="368876" y="368876"/>
                  </a:lnTo>
                  <a:lnTo>
                    <a:pt x="0" y="368876"/>
                  </a:lnTo>
                  <a:close/>
                </a:path>
              </a:pathLst>
            </a:custGeom>
            <a:solidFill>
              <a:srgbClr val="8DAD39"/>
            </a:solidFill>
          </p:spPr>
        </p:sp>
        <p:sp>
          <p:nvSpPr>
            <p:cNvPr id="17" name="TextBox 17"/>
            <p:cNvSpPr txBox="1"/>
            <p:nvPr/>
          </p:nvSpPr>
          <p:spPr>
            <a:xfrm>
              <a:off x="0" y="-38100"/>
              <a:ext cx="368876" cy="406976"/>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28700" y="1028700"/>
            <a:ext cx="16230600" cy="8170101"/>
            <a:chOff x="0" y="0"/>
            <a:chExt cx="21640800" cy="10893469"/>
          </a:xfrm>
        </p:grpSpPr>
        <p:pic>
          <p:nvPicPr>
            <p:cNvPr id="19" name="Picture 19"/>
            <p:cNvPicPr>
              <a:picLocks noChangeAspect="1"/>
            </p:cNvPicPr>
            <p:nvPr/>
          </p:nvPicPr>
          <p:blipFill>
            <a:blip r:embed="rId6"/>
            <a:srcRect t="5844" b="5844"/>
            <a:stretch>
              <a:fillRect/>
            </a:stretch>
          </p:blipFill>
          <p:spPr>
            <a:xfrm>
              <a:off x="0" y="0"/>
              <a:ext cx="21640800" cy="10893469"/>
            </a:xfrm>
            <a:prstGeom prst="rect">
              <a:avLst/>
            </a:prstGeom>
          </p:spPr>
        </p:pic>
      </p:grpSp>
      <p:grpSp>
        <p:nvGrpSpPr>
          <p:cNvPr id="20" name="Group 20"/>
          <p:cNvGrpSpPr/>
          <p:nvPr/>
        </p:nvGrpSpPr>
        <p:grpSpPr>
          <a:xfrm>
            <a:off x="1028700" y="1028700"/>
            <a:ext cx="5720230" cy="8170101"/>
            <a:chOff x="0" y="0"/>
            <a:chExt cx="1896918" cy="2709333"/>
          </a:xfrm>
        </p:grpSpPr>
        <p:sp>
          <p:nvSpPr>
            <p:cNvPr id="21" name="Freeform 21"/>
            <p:cNvSpPr/>
            <p:nvPr/>
          </p:nvSpPr>
          <p:spPr>
            <a:xfrm>
              <a:off x="0" y="0"/>
              <a:ext cx="1896918" cy="2709333"/>
            </a:xfrm>
            <a:custGeom>
              <a:avLst/>
              <a:gdLst/>
              <a:ahLst/>
              <a:cxnLst/>
              <a:rect l="l" t="t" r="r" b="b"/>
              <a:pathLst>
                <a:path w="1896918" h="2709333">
                  <a:moveTo>
                    <a:pt x="0" y="0"/>
                  </a:moveTo>
                  <a:lnTo>
                    <a:pt x="1896918" y="0"/>
                  </a:lnTo>
                  <a:lnTo>
                    <a:pt x="1896918" y="2709333"/>
                  </a:lnTo>
                  <a:lnTo>
                    <a:pt x="0" y="2709333"/>
                  </a:lnTo>
                  <a:close/>
                </a:path>
              </a:pathLst>
            </a:custGeom>
            <a:gradFill rotWithShape="1">
              <a:gsLst>
                <a:gs pos="0">
                  <a:srgbClr val="0A2700">
                    <a:alpha val="90000"/>
                  </a:srgbClr>
                </a:gs>
                <a:gs pos="100000">
                  <a:srgbClr val="0A2700">
                    <a:alpha val="0"/>
                  </a:srgbClr>
                </a:gs>
              </a:gsLst>
              <a:lin ang="0"/>
            </a:gradFill>
          </p:spPr>
        </p:sp>
        <p:sp>
          <p:nvSpPr>
            <p:cNvPr id="22" name="TextBox 22"/>
            <p:cNvSpPr txBox="1"/>
            <p:nvPr/>
          </p:nvSpPr>
          <p:spPr>
            <a:xfrm>
              <a:off x="0" y="-38100"/>
              <a:ext cx="1896918" cy="27474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11539070" y="1028700"/>
            <a:ext cx="5720230" cy="8170101"/>
            <a:chOff x="0" y="0"/>
            <a:chExt cx="1896918" cy="2709333"/>
          </a:xfrm>
        </p:grpSpPr>
        <p:sp>
          <p:nvSpPr>
            <p:cNvPr id="24" name="Freeform 24"/>
            <p:cNvSpPr/>
            <p:nvPr/>
          </p:nvSpPr>
          <p:spPr>
            <a:xfrm>
              <a:off x="0" y="0"/>
              <a:ext cx="1896918" cy="2709333"/>
            </a:xfrm>
            <a:custGeom>
              <a:avLst/>
              <a:gdLst/>
              <a:ahLst/>
              <a:cxnLst/>
              <a:rect l="l" t="t" r="r" b="b"/>
              <a:pathLst>
                <a:path w="1896918" h="2709333">
                  <a:moveTo>
                    <a:pt x="0" y="0"/>
                  </a:moveTo>
                  <a:lnTo>
                    <a:pt x="1896918" y="0"/>
                  </a:lnTo>
                  <a:lnTo>
                    <a:pt x="1896918" y="2709333"/>
                  </a:lnTo>
                  <a:lnTo>
                    <a:pt x="0" y="2709333"/>
                  </a:lnTo>
                  <a:close/>
                </a:path>
              </a:pathLst>
            </a:custGeom>
            <a:gradFill rotWithShape="1">
              <a:gsLst>
                <a:gs pos="0">
                  <a:srgbClr val="0A2700">
                    <a:alpha val="0"/>
                  </a:srgbClr>
                </a:gs>
                <a:gs pos="100000">
                  <a:srgbClr val="0A2700">
                    <a:alpha val="89500"/>
                  </a:srgbClr>
                </a:gs>
              </a:gsLst>
              <a:lin ang="0"/>
            </a:gradFill>
          </p:spPr>
        </p:sp>
        <p:sp>
          <p:nvSpPr>
            <p:cNvPr id="25" name="TextBox 25"/>
            <p:cNvSpPr txBox="1"/>
            <p:nvPr/>
          </p:nvSpPr>
          <p:spPr>
            <a:xfrm>
              <a:off x="0" y="-38100"/>
              <a:ext cx="1896918"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Freeform 28"/>
          <p:cNvSpPr/>
          <p:nvPr/>
        </p:nvSpPr>
        <p:spPr>
          <a:xfrm>
            <a:off x="2545500" y="4564583"/>
            <a:ext cx="1626612" cy="1812382"/>
          </a:xfrm>
          <a:custGeom>
            <a:avLst/>
            <a:gdLst/>
            <a:ahLst/>
            <a:cxnLst/>
            <a:rect l="l" t="t" r="r" b="b"/>
            <a:pathLst>
              <a:path w="1626612" h="1812382">
                <a:moveTo>
                  <a:pt x="0" y="0"/>
                </a:moveTo>
                <a:lnTo>
                  <a:pt x="1626613" y="0"/>
                </a:lnTo>
                <a:lnTo>
                  <a:pt x="1626613" y="1812382"/>
                </a:lnTo>
                <a:lnTo>
                  <a:pt x="0" y="1812382"/>
                </a:lnTo>
                <a:lnTo>
                  <a:pt x="0" y="0"/>
                </a:lnTo>
                <a:close/>
              </a:path>
            </a:pathLst>
          </a:custGeom>
          <a:blipFill>
            <a:blip r:embed="rId7"/>
            <a:stretch>
              <a:fillRect/>
            </a:stretch>
          </a:blipFill>
        </p:spPr>
      </p:sp>
      <p:sp>
        <p:nvSpPr>
          <p:cNvPr id="27" name="Freeform 27"/>
          <p:cNvSpPr/>
          <p:nvPr/>
        </p:nvSpPr>
        <p:spPr>
          <a:xfrm>
            <a:off x="13070596" y="2339394"/>
            <a:ext cx="3594123" cy="3131379"/>
          </a:xfrm>
          <a:custGeom>
            <a:avLst/>
            <a:gdLst/>
            <a:ahLst/>
            <a:cxnLst/>
            <a:rect l="l" t="t" r="r" b="b"/>
            <a:pathLst>
              <a:path w="3594123" h="3131379">
                <a:moveTo>
                  <a:pt x="0" y="0"/>
                </a:moveTo>
                <a:lnTo>
                  <a:pt x="3594122" y="0"/>
                </a:lnTo>
                <a:lnTo>
                  <a:pt x="3594122" y="3131380"/>
                </a:lnTo>
                <a:lnTo>
                  <a:pt x="0" y="3131380"/>
                </a:lnTo>
                <a:lnTo>
                  <a:pt x="0" y="0"/>
                </a:lnTo>
                <a:close/>
              </a:path>
            </a:pathLst>
          </a:custGeom>
          <a:blipFill>
            <a:blip r:embed="rId8"/>
            <a:stretch>
              <a:fillRect/>
            </a:stretch>
          </a:blipFill>
        </p:spPr>
      </p:sp>
      <p:sp>
        <p:nvSpPr>
          <p:cNvPr id="26" name="TextBox 26"/>
          <p:cNvSpPr txBox="1"/>
          <p:nvPr/>
        </p:nvSpPr>
        <p:spPr>
          <a:xfrm>
            <a:off x="1944381" y="2899963"/>
            <a:ext cx="14399238" cy="3774964"/>
          </a:xfrm>
          <a:prstGeom prst="rect">
            <a:avLst/>
          </a:prstGeom>
        </p:spPr>
        <p:txBody>
          <a:bodyPr lIns="0" tIns="0" rIns="0" bIns="0" rtlCol="0" anchor="t">
            <a:spAutoFit/>
          </a:bodyPr>
          <a:lstStyle/>
          <a:p>
            <a:pPr marL="0" lvl="0" indent="0" algn="ctr">
              <a:lnSpc>
                <a:spcPts val="30857"/>
              </a:lnSpc>
              <a:spcBef>
                <a:spcPct val="0"/>
              </a:spcBef>
            </a:pPr>
            <a:r>
              <a:rPr lang="en-US" sz="22041">
                <a:solidFill>
                  <a:srgbClr val="FFFFFF"/>
                </a:solidFill>
                <a:latin typeface="Anton"/>
                <a:ea typeface="Anton"/>
                <a:cs typeface="Anton"/>
                <a:sym typeface="Anton"/>
              </a:rPr>
              <a:t>Kesimpulan</a:t>
            </a:r>
          </a:p>
        </p:txBody>
      </p:sp>
      <p:sp>
        <p:nvSpPr>
          <p:cNvPr id="29" name="Freeform 29"/>
          <p:cNvSpPr/>
          <p:nvPr/>
        </p:nvSpPr>
        <p:spPr>
          <a:xfrm rot="-5798278">
            <a:off x="-86944" y="7145869"/>
            <a:ext cx="2231288" cy="2926279"/>
          </a:xfrm>
          <a:custGeom>
            <a:avLst/>
            <a:gdLst/>
            <a:ahLst/>
            <a:cxnLst/>
            <a:rect l="l" t="t" r="r" b="b"/>
            <a:pathLst>
              <a:path w="2231288" h="2926279">
                <a:moveTo>
                  <a:pt x="0" y="0"/>
                </a:moveTo>
                <a:lnTo>
                  <a:pt x="2231288" y="0"/>
                </a:lnTo>
                <a:lnTo>
                  <a:pt x="2231288" y="2926279"/>
                </a:lnTo>
                <a:lnTo>
                  <a:pt x="0" y="2926279"/>
                </a:lnTo>
                <a:lnTo>
                  <a:pt x="0" y="0"/>
                </a:lnTo>
                <a:close/>
              </a:path>
            </a:pathLst>
          </a:custGeom>
          <a:blipFill>
            <a:blip r:embed="rId9"/>
            <a:stretch>
              <a:fillRect/>
            </a:stretch>
          </a:blipFill>
        </p:spPr>
      </p:sp>
      <p:sp>
        <p:nvSpPr>
          <p:cNvPr id="30" name="Freeform 30"/>
          <p:cNvSpPr/>
          <p:nvPr/>
        </p:nvSpPr>
        <p:spPr>
          <a:xfrm>
            <a:off x="16526156" y="1633816"/>
            <a:ext cx="2038463" cy="2271268"/>
          </a:xfrm>
          <a:custGeom>
            <a:avLst/>
            <a:gdLst/>
            <a:ahLst/>
            <a:cxnLst/>
            <a:rect l="l" t="t" r="r" b="b"/>
            <a:pathLst>
              <a:path w="2038463" h="2271268">
                <a:moveTo>
                  <a:pt x="0" y="0"/>
                </a:moveTo>
                <a:lnTo>
                  <a:pt x="2038463" y="0"/>
                </a:lnTo>
                <a:lnTo>
                  <a:pt x="2038463" y="2271268"/>
                </a:lnTo>
                <a:lnTo>
                  <a:pt x="0" y="2271268"/>
                </a:lnTo>
                <a:lnTo>
                  <a:pt x="0" y="0"/>
                </a:lnTo>
                <a:close/>
              </a:path>
            </a:pathLst>
          </a:custGeom>
          <a:blipFill>
            <a:blip r:embed="rId7"/>
            <a:stretch>
              <a:fillRect/>
            </a:stretch>
          </a:blipFill>
        </p:spPr>
      </p:sp>
      <p:sp>
        <p:nvSpPr>
          <p:cNvPr id="31" name="Freeform 31"/>
          <p:cNvSpPr/>
          <p:nvPr/>
        </p:nvSpPr>
        <p:spPr>
          <a:xfrm flipH="1">
            <a:off x="823613" y="2312188"/>
            <a:ext cx="1429624" cy="1592896"/>
          </a:xfrm>
          <a:custGeom>
            <a:avLst/>
            <a:gdLst/>
            <a:ahLst/>
            <a:cxnLst/>
            <a:rect l="l" t="t" r="r" b="b"/>
            <a:pathLst>
              <a:path w="1429624" h="1592896">
                <a:moveTo>
                  <a:pt x="1429625" y="0"/>
                </a:moveTo>
                <a:lnTo>
                  <a:pt x="0" y="0"/>
                </a:lnTo>
                <a:lnTo>
                  <a:pt x="0" y="1592896"/>
                </a:lnTo>
                <a:lnTo>
                  <a:pt x="1429625" y="1592896"/>
                </a:lnTo>
                <a:lnTo>
                  <a:pt x="1429625" y="0"/>
                </a:lnTo>
                <a:close/>
              </a:path>
            </a:pathLst>
          </a:custGeom>
          <a:blipFill>
            <a:blip r:embed="rId7"/>
            <a:stretch>
              <a:fillRect/>
            </a:stretch>
          </a:blipFill>
        </p:spPr>
      </p:sp>
      <p:sp>
        <p:nvSpPr>
          <p:cNvPr id="32" name="Freeform 32"/>
          <p:cNvSpPr/>
          <p:nvPr/>
        </p:nvSpPr>
        <p:spPr>
          <a:xfrm rot="-4401625" flipV="1">
            <a:off x="15043450" y="8454575"/>
            <a:ext cx="1134946" cy="1488454"/>
          </a:xfrm>
          <a:custGeom>
            <a:avLst/>
            <a:gdLst/>
            <a:ahLst/>
            <a:cxnLst/>
            <a:rect l="l" t="t" r="r" b="b"/>
            <a:pathLst>
              <a:path w="1134946" h="1488454">
                <a:moveTo>
                  <a:pt x="0" y="1488453"/>
                </a:moveTo>
                <a:lnTo>
                  <a:pt x="1134946" y="1488453"/>
                </a:lnTo>
                <a:lnTo>
                  <a:pt x="1134946" y="0"/>
                </a:lnTo>
                <a:lnTo>
                  <a:pt x="0" y="0"/>
                </a:lnTo>
                <a:lnTo>
                  <a:pt x="0" y="1488453"/>
                </a:lnTo>
                <a:close/>
              </a:path>
            </a:pathLst>
          </a:custGeom>
          <a:blipFill>
            <a:blip r:embed="rId9"/>
            <a:stretch>
              <a:fillRect/>
            </a:stretch>
          </a:blipFill>
        </p:spPr>
      </p:sp>
      <p:sp>
        <p:nvSpPr>
          <p:cNvPr id="33" name="Freeform 33"/>
          <p:cNvSpPr/>
          <p:nvPr/>
        </p:nvSpPr>
        <p:spPr>
          <a:xfrm flipH="1">
            <a:off x="11895772" y="5695394"/>
            <a:ext cx="878735" cy="979092"/>
          </a:xfrm>
          <a:custGeom>
            <a:avLst/>
            <a:gdLst/>
            <a:ahLst/>
            <a:cxnLst/>
            <a:rect l="l" t="t" r="r" b="b"/>
            <a:pathLst>
              <a:path w="878735" h="979092">
                <a:moveTo>
                  <a:pt x="878735" y="0"/>
                </a:moveTo>
                <a:lnTo>
                  <a:pt x="0" y="0"/>
                </a:lnTo>
                <a:lnTo>
                  <a:pt x="0" y="979092"/>
                </a:lnTo>
                <a:lnTo>
                  <a:pt x="878735" y="979092"/>
                </a:lnTo>
                <a:lnTo>
                  <a:pt x="878735" y="0"/>
                </a:lnTo>
                <a:close/>
              </a:path>
            </a:pathLst>
          </a:custGeom>
          <a:blipFill>
            <a:blip r:embed="rId7"/>
            <a:stretch>
              <a:fillRect/>
            </a:stretch>
          </a:blipFill>
        </p:spPr>
      </p:sp>
      <p:sp>
        <p:nvSpPr>
          <p:cNvPr id="34" name="Freeform 34"/>
          <p:cNvSpPr/>
          <p:nvPr/>
        </p:nvSpPr>
        <p:spPr>
          <a:xfrm rot="-5798278" flipV="1">
            <a:off x="5876800" y="5677626"/>
            <a:ext cx="811652" cy="1064461"/>
          </a:xfrm>
          <a:custGeom>
            <a:avLst/>
            <a:gdLst/>
            <a:ahLst/>
            <a:cxnLst/>
            <a:rect l="l" t="t" r="r" b="b"/>
            <a:pathLst>
              <a:path w="811652" h="1064461">
                <a:moveTo>
                  <a:pt x="0" y="1064461"/>
                </a:moveTo>
                <a:lnTo>
                  <a:pt x="811652" y="1064461"/>
                </a:lnTo>
                <a:lnTo>
                  <a:pt x="811652" y="0"/>
                </a:lnTo>
                <a:lnTo>
                  <a:pt x="0" y="0"/>
                </a:lnTo>
                <a:lnTo>
                  <a:pt x="0" y="1064461"/>
                </a:lnTo>
                <a:close/>
              </a:path>
            </a:pathLst>
          </a:custGeom>
          <a:blipFill>
            <a:blip r:embed="rId9"/>
            <a:stretch>
              <a:fillRect/>
            </a:stretch>
          </a:blipFill>
        </p:spPr>
      </p:sp>
      <p:sp>
        <p:nvSpPr>
          <p:cNvPr id="35" name="Freeform 35"/>
          <p:cNvSpPr/>
          <p:nvPr/>
        </p:nvSpPr>
        <p:spPr>
          <a:xfrm flipH="1">
            <a:off x="6748930" y="3807302"/>
            <a:ext cx="679660" cy="757281"/>
          </a:xfrm>
          <a:custGeom>
            <a:avLst/>
            <a:gdLst/>
            <a:ahLst/>
            <a:cxnLst/>
            <a:rect l="l" t="t" r="r" b="b"/>
            <a:pathLst>
              <a:path w="679660" h="757281">
                <a:moveTo>
                  <a:pt x="679659" y="0"/>
                </a:moveTo>
                <a:lnTo>
                  <a:pt x="0" y="0"/>
                </a:lnTo>
                <a:lnTo>
                  <a:pt x="0" y="757281"/>
                </a:lnTo>
                <a:lnTo>
                  <a:pt x="679659" y="757281"/>
                </a:lnTo>
                <a:lnTo>
                  <a:pt x="679659" y="0"/>
                </a:lnTo>
                <a:close/>
              </a:path>
            </a:pathLst>
          </a:custGeom>
          <a:blipFill>
            <a:blip r:embed="rId7"/>
            <a:stretch>
              <a:fillRect/>
            </a:stretch>
          </a:blipFill>
        </p:spPr>
      </p:sp>
      <p:sp>
        <p:nvSpPr>
          <p:cNvPr id="36" name="Freeform 36"/>
          <p:cNvSpPr/>
          <p:nvPr/>
        </p:nvSpPr>
        <p:spPr>
          <a:xfrm rot="-5798278" flipV="1">
            <a:off x="10332133" y="3499839"/>
            <a:ext cx="617999" cy="810491"/>
          </a:xfrm>
          <a:custGeom>
            <a:avLst/>
            <a:gdLst/>
            <a:ahLst/>
            <a:cxnLst/>
            <a:rect l="l" t="t" r="r" b="b"/>
            <a:pathLst>
              <a:path w="617999" h="810491">
                <a:moveTo>
                  <a:pt x="0" y="810490"/>
                </a:moveTo>
                <a:lnTo>
                  <a:pt x="617999" y="810490"/>
                </a:lnTo>
                <a:lnTo>
                  <a:pt x="617999" y="0"/>
                </a:lnTo>
                <a:lnTo>
                  <a:pt x="0" y="0"/>
                </a:lnTo>
                <a:lnTo>
                  <a:pt x="0" y="810490"/>
                </a:lnTo>
                <a:close/>
              </a:path>
            </a:pathLst>
          </a:custGeom>
          <a:blipFill>
            <a:blip r:embed="rId9"/>
            <a:stretch>
              <a:fillRect/>
            </a:stretch>
          </a:blipFill>
        </p:spPr>
      </p:sp>
      <p:sp>
        <p:nvSpPr>
          <p:cNvPr id="37" name="TextBox 10">
            <a:extLst>
              <a:ext uri="{FF2B5EF4-FFF2-40B4-BE49-F238E27FC236}">
                <a16:creationId xmlns:a16="http://schemas.microsoft.com/office/drawing/2014/main" id="{7717F8B2-8FE6-4D75-970E-027CCC482B0C}"/>
              </a:ext>
            </a:extLst>
          </p:cNvPr>
          <p:cNvSpPr txBox="1"/>
          <p:nvPr/>
        </p:nvSpPr>
        <p:spPr>
          <a:xfrm>
            <a:off x="2086858" y="404515"/>
            <a:ext cx="2485142" cy="223138"/>
          </a:xfrm>
          <a:prstGeom prst="rect">
            <a:avLst/>
          </a:prstGeom>
        </p:spPr>
        <p:txBody>
          <a:bodyPr wrap="square" lIns="0" tIns="0" rIns="0" bIns="0" rtlCol="0" anchor="t">
            <a:spAutoFit/>
          </a:bodyPr>
          <a:lstStyle/>
          <a:p>
            <a:pPr marL="0" lvl="0" indent="0" algn="l">
              <a:lnSpc>
                <a:spcPts val="1679"/>
              </a:lnSpc>
              <a:spcBef>
                <a:spcPct val="0"/>
              </a:spcBef>
            </a:pPr>
            <a:r>
              <a:rPr lang="en-US">
                <a:solidFill>
                  <a:srgbClr val="FFFFFF"/>
                </a:solidFill>
                <a:latin typeface="Open Sans"/>
                <a:ea typeface="Open Sans"/>
                <a:cs typeface="Open Sans"/>
                <a:sym typeface="Open Sans"/>
              </a:rPr>
              <a:t>Sawit: The Last Chance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491</Words>
  <Application>Microsoft Office PowerPoint</Application>
  <PresentationFormat>Custom</PresentationFormat>
  <Paragraphs>77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Open Sans Bold</vt:lpstr>
      <vt:lpstr>Calibri</vt:lpstr>
      <vt:lpstr>Anton</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Sawit: The Last Chance - Project Presentation</dc:title>
  <cp:lastModifiedBy>Wildan Faiz</cp:lastModifiedBy>
  <cp:revision>2</cp:revision>
  <dcterms:created xsi:type="dcterms:W3CDTF">2006-08-16T00:00:00Z</dcterms:created>
  <dcterms:modified xsi:type="dcterms:W3CDTF">2026-06-09T17:42:17Z</dcterms:modified>
  <dc:identifier>DAHMGemoW-E</dc:identifier>
</cp:coreProperties>
</file>