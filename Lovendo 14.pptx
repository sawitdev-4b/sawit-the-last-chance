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6D200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6D200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6887" y="8229600"/>
            <a:ext cx="8354318" cy="2057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34411" y="1534604"/>
            <a:ext cx="821334" cy="21951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4198899"/>
            <a:ext cx="18287999" cy="6088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6887" y="8229600"/>
            <a:ext cx="8354318" cy="2057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34411" y="1534604"/>
            <a:ext cx="821334" cy="21951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4198899"/>
            <a:ext cx="18287999" cy="6088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1665" y="2335339"/>
            <a:ext cx="4959985" cy="3333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22211" y="3548672"/>
            <a:ext cx="9928225" cy="3561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6D200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1714500"/>
            <a:ext cx="17373600" cy="2909899"/>
          </a:xfrm>
          <a:prstGeom prst="rect">
            <a:avLst/>
          </a:prstGeom>
        </p:spPr>
        <p:txBody>
          <a:bodyPr vert="horz" wrap="square" lIns="0" tIns="672465" rIns="0" bIns="0" rtlCol="0">
            <a:spAutoFit/>
          </a:bodyPr>
          <a:lstStyle/>
          <a:p>
            <a:pPr marL="12700" marR="5080" indent="1026160" algn="ctr">
              <a:lnSpc>
                <a:spcPct val="71700"/>
              </a:lnSpc>
              <a:spcBef>
                <a:spcPts val="5295"/>
              </a:spcBef>
              <a:tabLst>
                <a:tab pos="4438650" algn="l"/>
                <a:tab pos="7731759" algn="l"/>
              </a:tabLst>
            </a:pPr>
            <a:r>
              <a:rPr sz="10000" spc="-20" dirty="0">
                <a:solidFill>
                  <a:srgbClr val="366D1E"/>
                </a:solidFill>
                <a:latin typeface="Arial"/>
                <a:cs typeface="Arial"/>
              </a:rPr>
              <a:t>SAWIT</a:t>
            </a:r>
            <a:r>
              <a:rPr sz="10000" spc="-50" dirty="0">
                <a:solidFill>
                  <a:srgbClr val="366D1E"/>
                </a:solidFill>
                <a:latin typeface="Arial"/>
                <a:cs typeface="Arial"/>
              </a:rPr>
              <a:t>: </a:t>
            </a:r>
            <a:r>
              <a:rPr sz="10000" spc="-25" dirty="0">
                <a:solidFill>
                  <a:srgbClr val="366D1E"/>
                </a:solidFill>
                <a:latin typeface="Arial"/>
                <a:cs typeface="Arial"/>
              </a:rPr>
              <a:t>THE</a:t>
            </a:r>
            <a:r>
              <a:rPr sz="10000" dirty="0">
                <a:solidFill>
                  <a:srgbClr val="366D1E"/>
                </a:solidFill>
                <a:latin typeface="Arial"/>
                <a:cs typeface="Arial"/>
              </a:rPr>
              <a:t>	</a:t>
            </a:r>
            <a:r>
              <a:rPr sz="10000" spc="-20" dirty="0">
                <a:solidFill>
                  <a:srgbClr val="366D1E"/>
                </a:solidFill>
                <a:latin typeface="Arial"/>
                <a:cs typeface="Arial"/>
              </a:rPr>
              <a:t>LAST</a:t>
            </a:r>
            <a:r>
              <a:rPr lang="en-US" sz="10000" spc="-20" dirty="0">
                <a:solidFill>
                  <a:srgbClr val="366D1E"/>
                </a:solidFill>
                <a:latin typeface="Arial"/>
                <a:cs typeface="Arial"/>
              </a:rPr>
              <a:t> CHANCE</a:t>
            </a:r>
            <a:endParaRPr sz="10000" dirty="0">
              <a:latin typeface="Arial"/>
              <a:cs typeface="Arial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5616C1A-2E23-48E8-F1D3-693FE927F2C9}"/>
              </a:ext>
            </a:extLst>
          </p:cNvPr>
          <p:cNvSpPr txBox="1"/>
          <p:nvPr/>
        </p:nvSpPr>
        <p:spPr>
          <a:xfrm>
            <a:off x="-10886" y="3881261"/>
            <a:ext cx="17373600" cy="1240468"/>
          </a:xfrm>
          <a:prstGeom prst="rect">
            <a:avLst/>
          </a:prstGeom>
        </p:spPr>
        <p:txBody>
          <a:bodyPr vert="horz" wrap="square" lIns="0" tIns="672465" rIns="0" bIns="0" rtlCol="0">
            <a:spAutoFit/>
          </a:bodyPr>
          <a:lstStyle/>
          <a:p>
            <a:pPr marL="12700" marR="5080" indent="1026160" algn="ctr">
              <a:lnSpc>
                <a:spcPct val="71700"/>
              </a:lnSpc>
              <a:spcBef>
                <a:spcPts val="5295"/>
              </a:spcBef>
              <a:tabLst>
                <a:tab pos="4438650" algn="l"/>
                <a:tab pos="7731759" algn="l"/>
              </a:tabLst>
            </a:pPr>
            <a:r>
              <a:rPr lang="en-US" sz="5000" spc="-20" dirty="0">
                <a:solidFill>
                  <a:srgbClr val="366D1E"/>
                </a:solidFill>
                <a:latin typeface="Arial"/>
                <a:cs typeface="Arial"/>
              </a:rPr>
              <a:t>Lovendo Danuartha-2403015061</a:t>
            </a:r>
            <a:endParaRPr sz="5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148406"/>
              <a:ext cx="18288000" cy="713859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13587" y="0"/>
              <a:ext cx="4574412" cy="87605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7001217" cy="10287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680356" y="1900504"/>
              <a:ext cx="10314940" cy="6524625"/>
            </a:xfrm>
            <a:custGeom>
              <a:avLst/>
              <a:gdLst/>
              <a:ahLst/>
              <a:cxnLst/>
              <a:rect l="l" t="t" r="r" b="b"/>
              <a:pathLst>
                <a:path w="10314940" h="6524625">
                  <a:moveTo>
                    <a:pt x="5157343" y="0"/>
                  </a:moveTo>
                  <a:lnTo>
                    <a:pt x="5098489" y="208"/>
                  </a:lnTo>
                  <a:lnTo>
                    <a:pt x="5039794" y="830"/>
                  </a:lnTo>
                  <a:lnTo>
                    <a:pt x="4981259" y="1865"/>
                  </a:lnTo>
                  <a:lnTo>
                    <a:pt x="4922888" y="3310"/>
                  </a:lnTo>
                  <a:lnTo>
                    <a:pt x="4864685" y="5163"/>
                  </a:lnTo>
                  <a:lnTo>
                    <a:pt x="4806654" y="7422"/>
                  </a:lnTo>
                  <a:lnTo>
                    <a:pt x="4748797" y="10085"/>
                  </a:lnTo>
                  <a:lnTo>
                    <a:pt x="4691119" y="13148"/>
                  </a:lnTo>
                  <a:lnTo>
                    <a:pt x="4633622" y="16611"/>
                  </a:lnTo>
                  <a:lnTo>
                    <a:pt x="4576311" y="20471"/>
                  </a:lnTo>
                  <a:lnTo>
                    <a:pt x="4519188" y="24726"/>
                  </a:lnTo>
                  <a:lnTo>
                    <a:pt x="4462258" y="29373"/>
                  </a:lnTo>
                  <a:lnTo>
                    <a:pt x="4405523" y="34411"/>
                  </a:lnTo>
                  <a:lnTo>
                    <a:pt x="4348988" y="39836"/>
                  </a:lnTo>
                  <a:lnTo>
                    <a:pt x="4292655" y="45648"/>
                  </a:lnTo>
                  <a:lnTo>
                    <a:pt x="4236528" y="51843"/>
                  </a:lnTo>
                  <a:lnTo>
                    <a:pt x="4180611" y="58420"/>
                  </a:lnTo>
                  <a:lnTo>
                    <a:pt x="4124907" y="65376"/>
                  </a:lnTo>
                  <a:lnTo>
                    <a:pt x="4069420" y="72710"/>
                  </a:lnTo>
                  <a:lnTo>
                    <a:pt x="4014152" y="80418"/>
                  </a:lnTo>
                  <a:lnTo>
                    <a:pt x="3959109" y="88499"/>
                  </a:lnTo>
                  <a:lnTo>
                    <a:pt x="3904292" y="96950"/>
                  </a:lnTo>
                  <a:lnTo>
                    <a:pt x="3849706" y="105770"/>
                  </a:lnTo>
                  <a:lnTo>
                    <a:pt x="3795354" y="114956"/>
                  </a:lnTo>
                  <a:lnTo>
                    <a:pt x="3741239" y="124506"/>
                  </a:lnTo>
                  <a:lnTo>
                    <a:pt x="3687365" y="134417"/>
                  </a:lnTo>
                  <a:lnTo>
                    <a:pt x="3633736" y="144688"/>
                  </a:lnTo>
                  <a:lnTo>
                    <a:pt x="3580355" y="155317"/>
                  </a:lnTo>
                  <a:lnTo>
                    <a:pt x="3527225" y="166300"/>
                  </a:lnTo>
                  <a:lnTo>
                    <a:pt x="3474350" y="177637"/>
                  </a:lnTo>
                  <a:lnTo>
                    <a:pt x="3421733" y="189324"/>
                  </a:lnTo>
                  <a:lnTo>
                    <a:pt x="3369379" y="201359"/>
                  </a:lnTo>
                  <a:lnTo>
                    <a:pt x="3317289" y="213741"/>
                  </a:lnTo>
                  <a:lnTo>
                    <a:pt x="3265469" y="226467"/>
                  </a:lnTo>
                  <a:lnTo>
                    <a:pt x="3213921" y="239534"/>
                  </a:lnTo>
                  <a:lnTo>
                    <a:pt x="3162648" y="252942"/>
                  </a:lnTo>
                  <a:lnTo>
                    <a:pt x="3111655" y="266687"/>
                  </a:lnTo>
                  <a:lnTo>
                    <a:pt x="3060945" y="280767"/>
                  </a:lnTo>
                  <a:lnTo>
                    <a:pt x="3010521" y="295180"/>
                  </a:lnTo>
                  <a:lnTo>
                    <a:pt x="2960386" y="309924"/>
                  </a:lnTo>
                  <a:lnTo>
                    <a:pt x="2910545" y="324997"/>
                  </a:lnTo>
                  <a:lnTo>
                    <a:pt x="2861001" y="340396"/>
                  </a:lnTo>
                  <a:lnTo>
                    <a:pt x="2811757" y="356119"/>
                  </a:lnTo>
                  <a:lnTo>
                    <a:pt x="2762816" y="372165"/>
                  </a:lnTo>
                  <a:lnTo>
                    <a:pt x="2714183" y="388530"/>
                  </a:lnTo>
                  <a:lnTo>
                    <a:pt x="2665860" y="405213"/>
                  </a:lnTo>
                  <a:lnTo>
                    <a:pt x="2617851" y="422212"/>
                  </a:lnTo>
                  <a:lnTo>
                    <a:pt x="2570160" y="439523"/>
                  </a:lnTo>
                  <a:lnTo>
                    <a:pt x="2522790" y="457146"/>
                  </a:lnTo>
                  <a:lnTo>
                    <a:pt x="2475745" y="475078"/>
                  </a:lnTo>
                  <a:lnTo>
                    <a:pt x="2429028" y="493316"/>
                  </a:lnTo>
                  <a:lnTo>
                    <a:pt x="2382642" y="511858"/>
                  </a:lnTo>
                  <a:lnTo>
                    <a:pt x="2336591" y="530703"/>
                  </a:lnTo>
                  <a:lnTo>
                    <a:pt x="2290879" y="549848"/>
                  </a:lnTo>
                  <a:lnTo>
                    <a:pt x="2245509" y="569291"/>
                  </a:lnTo>
                  <a:lnTo>
                    <a:pt x="2200484" y="589029"/>
                  </a:lnTo>
                  <a:lnTo>
                    <a:pt x="2155808" y="609061"/>
                  </a:lnTo>
                  <a:lnTo>
                    <a:pt x="2111484" y="629383"/>
                  </a:lnTo>
                  <a:lnTo>
                    <a:pt x="2067517" y="649995"/>
                  </a:lnTo>
                  <a:lnTo>
                    <a:pt x="2023909" y="670894"/>
                  </a:lnTo>
                  <a:lnTo>
                    <a:pt x="1980664" y="692077"/>
                  </a:lnTo>
                  <a:lnTo>
                    <a:pt x="1937785" y="713543"/>
                  </a:lnTo>
                  <a:lnTo>
                    <a:pt x="1895276" y="735289"/>
                  </a:lnTo>
                  <a:lnTo>
                    <a:pt x="1853140" y="757313"/>
                  </a:lnTo>
                  <a:lnTo>
                    <a:pt x="1811381" y="779613"/>
                  </a:lnTo>
                  <a:lnTo>
                    <a:pt x="1770002" y="802186"/>
                  </a:lnTo>
                  <a:lnTo>
                    <a:pt x="1729008" y="825030"/>
                  </a:lnTo>
                  <a:lnTo>
                    <a:pt x="1688400" y="848144"/>
                  </a:lnTo>
                  <a:lnTo>
                    <a:pt x="1648183" y="871525"/>
                  </a:lnTo>
                  <a:lnTo>
                    <a:pt x="1608361" y="895171"/>
                  </a:lnTo>
                  <a:lnTo>
                    <a:pt x="1568936" y="919079"/>
                  </a:lnTo>
                  <a:lnTo>
                    <a:pt x="1529912" y="943247"/>
                  </a:lnTo>
                  <a:lnTo>
                    <a:pt x="1491293" y="967674"/>
                  </a:lnTo>
                  <a:lnTo>
                    <a:pt x="1453082" y="992357"/>
                  </a:lnTo>
                  <a:lnTo>
                    <a:pt x="1415283" y="1017293"/>
                  </a:lnTo>
                  <a:lnTo>
                    <a:pt x="1377899" y="1042481"/>
                  </a:lnTo>
                  <a:lnTo>
                    <a:pt x="1340934" y="1067918"/>
                  </a:lnTo>
                  <a:lnTo>
                    <a:pt x="1304390" y="1093603"/>
                  </a:lnTo>
                  <a:lnTo>
                    <a:pt x="1268272" y="1119532"/>
                  </a:lnTo>
                  <a:lnTo>
                    <a:pt x="1232584" y="1145704"/>
                  </a:lnTo>
                  <a:lnTo>
                    <a:pt x="1197327" y="1172117"/>
                  </a:lnTo>
                  <a:lnTo>
                    <a:pt x="1162507" y="1198768"/>
                  </a:lnTo>
                  <a:lnTo>
                    <a:pt x="1128127" y="1225655"/>
                  </a:lnTo>
                  <a:lnTo>
                    <a:pt x="1094189" y="1252776"/>
                  </a:lnTo>
                  <a:lnTo>
                    <a:pt x="1060698" y="1280129"/>
                  </a:lnTo>
                  <a:lnTo>
                    <a:pt x="1027656" y="1307711"/>
                  </a:lnTo>
                  <a:lnTo>
                    <a:pt x="995069" y="1335521"/>
                  </a:lnTo>
                  <a:lnTo>
                    <a:pt x="962938" y="1363556"/>
                  </a:lnTo>
                  <a:lnTo>
                    <a:pt x="931267" y="1391813"/>
                  </a:lnTo>
                  <a:lnTo>
                    <a:pt x="900061" y="1420292"/>
                  </a:lnTo>
                  <a:lnTo>
                    <a:pt x="869322" y="1448989"/>
                  </a:lnTo>
                  <a:lnTo>
                    <a:pt x="839053" y="1477902"/>
                  </a:lnTo>
                  <a:lnTo>
                    <a:pt x="809259" y="1507029"/>
                  </a:lnTo>
                  <a:lnTo>
                    <a:pt x="779943" y="1536369"/>
                  </a:lnTo>
                  <a:lnTo>
                    <a:pt x="751108" y="1565918"/>
                  </a:lnTo>
                  <a:lnTo>
                    <a:pt x="722758" y="1595674"/>
                  </a:lnTo>
                  <a:lnTo>
                    <a:pt x="694896" y="1625636"/>
                  </a:lnTo>
                  <a:lnTo>
                    <a:pt x="667526" y="1655801"/>
                  </a:lnTo>
                  <a:lnTo>
                    <a:pt x="640651" y="1686166"/>
                  </a:lnTo>
                  <a:lnTo>
                    <a:pt x="614275" y="1716731"/>
                  </a:lnTo>
                  <a:lnTo>
                    <a:pt x="588401" y="1747491"/>
                  </a:lnTo>
                  <a:lnTo>
                    <a:pt x="563033" y="1778447"/>
                  </a:lnTo>
                  <a:lnTo>
                    <a:pt x="538174" y="1809594"/>
                  </a:lnTo>
                  <a:lnTo>
                    <a:pt x="513827" y="1840931"/>
                  </a:lnTo>
                  <a:lnTo>
                    <a:pt x="489997" y="1872456"/>
                  </a:lnTo>
                  <a:lnTo>
                    <a:pt x="466686" y="1904166"/>
                  </a:lnTo>
                  <a:lnTo>
                    <a:pt x="443899" y="1936059"/>
                  </a:lnTo>
                  <a:lnTo>
                    <a:pt x="421638" y="1968134"/>
                  </a:lnTo>
                  <a:lnTo>
                    <a:pt x="399907" y="2000387"/>
                  </a:lnTo>
                  <a:lnTo>
                    <a:pt x="378709" y="2032818"/>
                  </a:lnTo>
                  <a:lnTo>
                    <a:pt x="358049" y="2065422"/>
                  </a:lnTo>
                  <a:lnTo>
                    <a:pt x="337929" y="2098199"/>
                  </a:lnTo>
                  <a:lnTo>
                    <a:pt x="318353" y="2131146"/>
                  </a:lnTo>
                  <a:lnTo>
                    <a:pt x="299325" y="2164260"/>
                  </a:lnTo>
                  <a:lnTo>
                    <a:pt x="262925" y="2230984"/>
                  </a:lnTo>
                  <a:lnTo>
                    <a:pt x="228756" y="2298353"/>
                  </a:lnTo>
                  <a:lnTo>
                    <a:pt x="196847" y="2366350"/>
                  </a:lnTo>
                  <a:lnTo>
                    <a:pt x="167225" y="2434956"/>
                  </a:lnTo>
                  <a:lnTo>
                    <a:pt x="139919" y="2504154"/>
                  </a:lnTo>
                  <a:lnTo>
                    <a:pt x="114956" y="2573926"/>
                  </a:lnTo>
                  <a:lnTo>
                    <a:pt x="92364" y="2644255"/>
                  </a:lnTo>
                  <a:lnTo>
                    <a:pt x="72171" y="2715124"/>
                  </a:lnTo>
                  <a:lnTo>
                    <a:pt x="54404" y="2786514"/>
                  </a:lnTo>
                  <a:lnTo>
                    <a:pt x="39093" y="2858408"/>
                  </a:lnTo>
                  <a:lnTo>
                    <a:pt x="26263" y="2930788"/>
                  </a:lnTo>
                  <a:lnTo>
                    <a:pt x="15944" y="3003637"/>
                  </a:lnTo>
                  <a:lnTo>
                    <a:pt x="8164" y="3076937"/>
                  </a:lnTo>
                  <a:lnTo>
                    <a:pt x="2949" y="3150671"/>
                  </a:lnTo>
                  <a:lnTo>
                    <a:pt x="328" y="3224820"/>
                  </a:lnTo>
                  <a:lnTo>
                    <a:pt x="0" y="3262045"/>
                  </a:lnTo>
                  <a:lnTo>
                    <a:pt x="328" y="3299270"/>
                  </a:lnTo>
                  <a:lnTo>
                    <a:pt x="2949" y="3373419"/>
                  </a:lnTo>
                  <a:lnTo>
                    <a:pt x="8164" y="3447152"/>
                  </a:lnTo>
                  <a:lnTo>
                    <a:pt x="15944" y="3520452"/>
                  </a:lnTo>
                  <a:lnTo>
                    <a:pt x="26263" y="3593300"/>
                  </a:lnTo>
                  <a:lnTo>
                    <a:pt x="39093" y="3665680"/>
                  </a:lnTo>
                  <a:lnTo>
                    <a:pt x="54404" y="3737574"/>
                  </a:lnTo>
                  <a:lnTo>
                    <a:pt x="72171" y="3808963"/>
                  </a:lnTo>
                  <a:lnTo>
                    <a:pt x="92364" y="3879831"/>
                  </a:lnTo>
                  <a:lnTo>
                    <a:pt x="114956" y="3950160"/>
                  </a:lnTo>
                  <a:lnTo>
                    <a:pt x="139919" y="4019932"/>
                  </a:lnTo>
                  <a:lnTo>
                    <a:pt x="167225" y="4089130"/>
                  </a:lnTo>
                  <a:lnTo>
                    <a:pt x="196847" y="4157736"/>
                  </a:lnTo>
                  <a:lnTo>
                    <a:pt x="228756" y="4225731"/>
                  </a:lnTo>
                  <a:lnTo>
                    <a:pt x="262925" y="4293100"/>
                  </a:lnTo>
                  <a:lnTo>
                    <a:pt x="299325" y="4359824"/>
                  </a:lnTo>
                  <a:lnTo>
                    <a:pt x="318353" y="4392938"/>
                  </a:lnTo>
                  <a:lnTo>
                    <a:pt x="337929" y="4425885"/>
                  </a:lnTo>
                  <a:lnTo>
                    <a:pt x="358049" y="4458662"/>
                  </a:lnTo>
                  <a:lnTo>
                    <a:pt x="378709" y="4491266"/>
                  </a:lnTo>
                  <a:lnTo>
                    <a:pt x="399907" y="4523696"/>
                  </a:lnTo>
                  <a:lnTo>
                    <a:pt x="421638" y="4555949"/>
                  </a:lnTo>
                  <a:lnTo>
                    <a:pt x="443899" y="4588024"/>
                  </a:lnTo>
                  <a:lnTo>
                    <a:pt x="466686" y="4619917"/>
                  </a:lnTo>
                  <a:lnTo>
                    <a:pt x="489997" y="4651627"/>
                  </a:lnTo>
                  <a:lnTo>
                    <a:pt x="513827" y="4683152"/>
                  </a:lnTo>
                  <a:lnTo>
                    <a:pt x="538174" y="4714489"/>
                  </a:lnTo>
                  <a:lnTo>
                    <a:pt x="563033" y="4745636"/>
                  </a:lnTo>
                  <a:lnTo>
                    <a:pt x="588401" y="4776591"/>
                  </a:lnTo>
                  <a:lnTo>
                    <a:pt x="614275" y="4807351"/>
                  </a:lnTo>
                  <a:lnTo>
                    <a:pt x="640651" y="4837916"/>
                  </a:lnTo>
                  <a:lnTo>
                    <a:pt x="667526" y="4868281"/>
                  </a:lnTo>
                  <a:lnTo>
                    <a:pt x="694896" y="4898446"/>
                  </a:lnTo>
                  <a:lnTo>
                    <a:pt x="722758" y="4928408"/>
                  </a:lnTo>
                  <a:lnTo>
                    <a:pt x="751108" y="4958164"/>
                  </a:lnTo>
                  <a:lnTo>
                    <a:pt x="779943" y="4987713"/>
                  </a:lnTo>
                  <a:lnTo>
                    <a:pt x="809259" y="5017052"/>
                  </a:lnTo>
                  <a:lnTo>
                    <a:pt x="839053" y="5046179"/>
                  </a:lnTo>
                  <a:lnTo>
                    <a:pt x="869322" y="5075092"/>
                  </a:lnTo>
                  <a:lnTo>
                    <a:pt x="900061" y="5103789"/>
                  </a:lnTo>
                  <a:lnTo>
                    <a:pt x="931267" y="5132267"/>
                  </a:lnTo>
                  <a:lnTo>
                    <a:pt x="962938" y="5160525"/>
                  </a:lnTo>
                  <a:lnTo>
                    <a:pt x="995069" y="5188560"/>
                  </a:lnTo>
                  <a:lnTo>
                    <a:pt x="1027656" y="5216369"/>
                  </a:lnTo>
                  <a:lnTo>
                    <a:pt x="1060698" y="5243952"/>
                  </a:lnTo>
                  <a:lnTo>
                    <a:pt x="1094189" y="5271304"/>
                  </a:lnTo>
                  <a:lnTo>
                    <a:pt x="1128127" y="5298425"/>
                  </a:lnTo>
                  <a:lnTo>
                    <a:pt x="1162507" y="5325312"/>
                  </a:lnTo>
                  <a:lnTo>
                    <a:pt x="1197327" y="5351963"/>
                  </a:lnTo>
                  <a:lnTo>
                    <a:pt x="1232584" y="5378376"/>
                  </a:lnTo>
                  <a:lnTo>
                    <a:pt x="1268272" y="5404548"/>
                  </a:lnTo>
                  <a:lnTo>
                    <a:pt x="1304390" y="5430477"/>
                  </a:lnTo>
                  <a:lnTo>
                    <a:pt x="1340934" y="5456162"/>
                  </a:lnTo>
                  <a:lnTo>
                    <a:pt x="1377899" y="5481599"/>
                  </a:lnTo>
                  <a:lnTo>
                    <a:pt x="1415283" y="5506787"/>
                  </a:lnTo>
                  <a:lnTo>
                    <a:pt x="1453082" y="5531723"/>
                  </a:lnTo>
                  <a:lnTo>
                    <a:pt x="1491293" y="5556406"/>
                  </a:lnTo>
                  <a:lnTo>
                    <a:pt x="1529912" y="5580832"/>
                  </a:lnTo>
                  <a:lnTo>
                    <a:pt x="1568936" y="5605001"/>
                  </a:lnTo>
                  <a:lnTo>
                    <a:pt x="1608361" y="5628909"/>
                  </a:lnTo>
                  <a:lnTo>
                    <a:pt x="1648183" y="5652554"/>
                  </a:lnTo>
                  <a:lnTo>
                    <a:pt x="1688400" y="5675935"/>
                  </a:lnTo>
                  <a:lnTo>
                    <a:pt x="1729008" y="5699049"/>
                  </a:lnTo>
                  <a:lnTo>
                    <a:pt x="1770002" y="5721893"/>
                  </a:lnTo>
                  <a:lnTo>
                    <a:pt x="1811381" y="5744467"/>
                  </a:lnTo>
                  <a:lnTo>
                    <a:pt x="1853140" y="5766766"/>
                  </a:lnTo>
                  <a:lnTo>
                    <a:pt x="1895276" y="5788790"/>
                  </a:lnTo>
                  <a:lnTo>
                    <a:pt x="1937785" y="5810536"/>
                  </a:lnTo>
                  <a:lnTo>
                    <a:pt x="1980664" y="5832001"/>
                  </a:lnTo>
                  <a:lnTo>
                    <a:pt x="2023909" y="5853185"/>
                  </a:lnTo>
                  <a:lnTo>
                    <a:pt x="2067517" y="5874083"/>
                  </a:lnTo>
                  <a:lnTo>
                    <a:pt x="2111484" y="5894695"/>
                  </a:lnTo>
                  <a:lnTo>
                    <a:pt x="2155808" y="5915018"/>
                  </a:lnTo>
                  <a:lnTo>
                    <a:pt x="2200484" y="5935050"/>
                  </a:lnTo>
                  <a:lnTo>
                    <a:pt x="2245509" y="5954788"/>
                  </a:lnTo>
                  <a:lnTo>
                    <a:pt x="2290879" y="5974231"/>
                  </a:lnTo>
                  <a:lnTo>
                    <a:pt x="2336591" y="5993375"/>
                  </a:lnTo>
                  <a:lnTo>
                    <a:pt x="2382642" y="6012220"/>
                  </a:lnTo>
                  <a:lnTo>
                    <a:pt x="2429028" y="6030763"/>
                  </a:lnTo>
                  <a:lnTo>
                    <a:pt x="2475745" y="6049001"/>
                  </a:lnTo>
                  <a:lnTo>
                    <a:pt x="2522790" y="6066932"/>
                  </a:lnTo>
                  <a:lnTo>
                    <a:pt x="2570160" y="6084555"/>
                  </a:lnTo>
                  <a:lnTo>
                    <a:pt x="2617851" y="6101867"/>
                  </a:lnTo>
                  <a:lnTo>
                    <a:pt x="2665860" y="6118865"/>
                  </a:lnTo>
                  <a:lnTo>
                    <a:pt x="2714183" y="6135548"/>
                  </a:lnTo>
                  <a:lnTo>
                    <a:pt x="2762816" y="6151913"/>
                  </a:lnTo>
                  <a:lnTo>
                    <a:pt x="2811757" y="6167959"/>
                  </a:lnTo>
                  <a:lnTo>
                    <a:pt x="2861001" y="6183682"/>
                  </a:lnTo>
                  <a:lnTo>
                    <a:pt x="2910545" y="6199081"/>
                  </a:lnTo>
                  <a:lnTo>
                    <a:pt x="2960386" y="6214154"/>
                  </a:lnTo>
                  <a:lnTo>
                    <a:pt x="3010521" y="6228898"/>
                  </a:lnTo>
                  <a:lnTo>
                    <a:pt x="3060945" y="6243311"/>
                  </a:lnTo>
                  <a:lnTo>
                    <a:pt x="3111655" y="6257391"/>
                  </a:lnTo>
                  <a:lnTo>
                    <a:pt x="3162648" y="6271136"/>
                  </a:lnTo>
                  <a:lnTo>
                    <a:pt x="3213921" y="6284544"/>
                  </a:lnTo>
                  <a:lnTo>
                    <a:pt x="3265469" y="6297611"/>
                  </a:lnTo>
                  <a:lnTo>
                    <a:pt x="3317289" y="6310337"/>
                  </a:lnTo>
                  <a:lnTo>
                    <a:pt x="3369379" y="6322719"/>
                  </a:lnTo>
                  <a:lnTo>
                    <a:pt x="3421733" y="6334755"/>
                  </a:lnTo>
                  <a:lnTo>
                    <a:pt x="3474350" y="6346441"/>
                  </a:lnTo>
                  <a:lnTo>
                    <a:pt x="3527225" y="6357778"/>
                  </a:lnTo>
                  <a:lnTo>
                    <a:pt x="3580355" y="6368761"/>
                  </a:lnTo>
                  <a:lnTo>
                    <a:pt x="3633736" y="6379390"/>
                  </a:lnTo>
                  <a:lnTo>
                    <a:pt x="3687365" y="6389661"/>
                  </a:lnTo>
                  <a:lnTo>
                    <a:pt x="3741239" y="6399572"/>
                  </a:lnTo>
                  <a:lnTo>
                    <a:pt x="3795354" y="6409122"/>
                  </a:lnTo>
                  <a:lnTo>
                    <a:pt x="3849706" y="6418308"/>
                  </a:lnTo>
                  <a:lnTo>
                    <a:pt x="3904292" y="6427128"/>
                  </a:lnTo>
                  <a:lnTo>
                    <a:pt x="3959109" y="6435579"/>
                  </a:lnTo>
                  <a:lnTo>
                    <a:pt x="4014152" y="6443660"/>
                  </a:lnTo>
                  <a:lnTo>
                    <a:pt x="4069420" y="6451368"/>
                  </a:lnTo>
                  <a:lnTo>
                    <a:pt x="4124907" y="6458702"/>
                  </a:lnTo>
                  <a:lnTo>
                    <a:pt x="4180611" y="6465658"/>
                  </a:lnTo>
                  <a:lnTo>
                    <a:pt x="4236528" y="6472235"/>
                  </a:lnTo>
                  <a:lnTo>
                    <a:pt x="4292655" y="6478430"/>
                  </a:lnTo>
                  <a:lnTo>
                    <a:pt x="4348988" y="6484242"/>
                  </a:lnTo>
                  <a:lnTo>
                    <a:pt x="4405523" y="6489667"/>
                  </a:lnTo>
                  <a:lnTo>
                    <a:pt x="4462258" y="6494705"/>
                  </a:lnTo>
                  <a:lnTo>
                    <a:pt x="4519188" y="6499352"/>
                  </a:lnTo>
                  <a:lnTo>
                    <a:pt x="4576311" y="6503607"/>
                  </a:lnTo>
                  <a:lnTo>
                    <a:pt x="4633622" y="6507467"/>
                  </a:lnTo>
                  <a:lnTo>
                    <a:pt x="4691119" y="6510929"/>
                  </a:lnTo>
                  <a:lnTo>
                    <a:pt x="4748797" y="6513993"/>
                  </a:lnTo>
                  <a:lnTo>
                    <a:pt x="4806654" y="6516656"/>
                  </a:lnTo>
                  <a:lnTo>
                    <a:pt x="4864685" y="6518915"/>
                  </a:lnTo>
                  <a:lnTo>
                    <a:pt x="4922888" y="6520768"/>
                  </a:lnTo>
                  <a:lnTo>
                    <a:pt x="4981259" y="6522213"/>
                  </a:lnTo>
                  <a:lnTo>
                    <a:pt x="5039794" y="6523248"/>
                  </a:lnTo>
                  <a:lnTo>
                    <a:pt x="5098489" y="6523870"/>
                  </a:lnTo>
                  <a:lnTo>
                    <a:pt x="5157343" y="6524078"/>
                  </a:lnTo>
                  <a:lnTo>
                    <a:pt x="5216196" y="6523870"/>
                  </a:lnTo>
                  <a:lnTo>
                    <a:pt x="5274891" y="6523248"/>
                  </a:lnTo>
                  <a:lnTo>
                    <a:pt x="5333426" y="6522213"/>
                  </a:lnTo>
                  <a:lnTo>
                    <a:pt x="5391797" y="6520768"/>
                  </a:lnTo>
                  <a:lnTo>
                    <a:pt x="5450000" y="6518915"/>
                  </a:lnTo>
                  <a:lnTo>
                    <a:pt x="5508031" y="6516656"/>
                  </a:lnTo>
                  <a:lnTo>
                    <a:pt x="5565888" y="6513993"/>
                  </a:lnTo>
                  <a:lnTo>
                    <a:pt x="5623566" y="6510929"/>
                  </a:lnTo>
                  <a:lnTo>
                    <a:pt x="5681063" y="6507467"/>
                  </a:lnTo>
                  <a:lnTo>
                    <a:pt x="5738374" y="6503607"/>
                  </a:lnTo>
                  <a:lnTo>
                    <a:pt x="5795497" y="6499352"/>
                  </a:lnTo>
                  <a:lnTo>
                    <a:pt x="5852427" y="6494705"/>
                  </a:lnTo>
                  <a:lnTo>
                    <a:pt x="5909162" y="6489667"/>
                  </a:lnTo>
                  <a:lnTo>
                    <a:pt x="5965697" y="6484242"/>
                  </a:lnTo>
                  <a:lnTo>
                    <a:pt x="6022030" y="6478430"/>
                  </a:lnTo>
                  <a:lnTo>
                    <a:pt x="6078157" y="6472235"/>
                  </a:lnTo>
                  <a:lnTo>
                    <a:pt x="6134074" y="6465658"/>
                  </a:lnTo>
                  <a:lnTo>
                    <a:pt x="6189777" y="6458702"/>
                  </a:lnTo>
                  <a:lnTo>
                    <a:pt x="6245265" y="6451368"/>
                  </a:lnTo>
                  <a:lnTo>
                    <a:pt x="6300532" y="6443660"/>
                  </a:lnTo>
                  <a:lnTo>
                    <a:pt x="6355576" y="6435579"/>
                  </a:lnTo>
                  <a:lnTo>
                    <a:pt x="6410392" y="6427128"/>
                  </a:lnTo>
                  <a:lnTo>
                    <a:pt x="6464978" y="6418308"/>
                  </a:lnTo>
                  <a:lnTo>
                    <a:pt x="6519331" y="6409122"/>
                  </a:lnTo>
                  <a:lnTo>
                    <a:pt x="6573445" y="6399572"/>
                  </a:lnTo>
                  <a:lnTo>
                    <a:pt x="6627319" y="6389661"/>
                  </a:lnTo>
                  <a:lnTo>
                    <a:pt x="6680948" y="6379390"/>
                  </a:lnTo>
                  <a:lnTo>
                    <a:pt x="6734329" y="6368761"/>
                  </a:lnTo>
                  <a:lnTo>
                    <a:pt x="6787459" y="6357778"/>
                  </a:lnTo>
                  <a:lnTo>
                    <a:pt x="6840334" y="6346441"/>
                  </a:lnTo>
                  <a:lnTo>
                    <a:pt x="6892950" y="6334755"/>
                  </a:lnTo>
                  <a:lnTo>
                    <a:pt x="6945305" y="6322719"/>
                  </a:lnTo>
                  <a:lnTo>
                    <a:pt x="6997394" y="6310337"/>
                  </a:lnTo>
                  <a:lnTo>
                    <a:pt x="7049215" y="6297611"/>
                  </a:lnTo>
                  <a:lnTo>
                    <a:pt x="7100763" y="6284544"/>
                  </a:lnTo>
                  <a:lnTo>
                    <a:pt x="7152035" y="6271136"/>
                  </a:lnTo>
                  <a:lnTo>
                    <a:pt x="7203028" y="6257391"/>
                  </a:lnTo>
                  <a:lnTo>
                    <a:pt x="7253738" y="6243311"/>
                  </a:lnTo>
                  <a:lnTo>
                    <a:pt x="7304162" y="6228898"/>
                  </a:lnTo>
                  <a:lnTo>
                    <a:pt x="7354296" y="6214154"/>
                  </a:lnTo>
                  <a:lnTo>
                    <a:pt x="7404137" y="6199081"/>
                  </a:lnTo>
                  <a:lnTo>
                    <a:pt x="7453682" y="6183682"/>
                  </a:lnTo>
                  <a:lnTo>
                    <a:pt x="7502926" y="6167959"/>
                  </a:lnTo>
                  <a:lnTo>
                    <a:pt x="7551866" y="6151913"/>
                  </a:lnTo>
                  <a:lnTo>
                    <a:pt x="7600499" y="6135548"/>
                  </a:lnTo>
                  <a:lnTo>
                    <a:pt x="7648822" y="6118865"/>
                  </a:lnTo>
                  <a:lnTo>
                    <a:pt x="7696830" y="6101867"/>
                  </a:lnTo>
                  <a:lnTo>
                    <a:pt x="7744521" y="6084555"/>
                  </a:lnTo>
                  <a:lnTo>
                    <a:pt x="7791891" y="6066932"/>
                  </a:lnTo>
                  <a:lnTo>
                    <a:pt x="7838936" y="6049001"/>
                  </a:lnTo>
                  <a:lnTo>
                    <a:pt x="7885654" y="6030763"/>
                  </a:lnTo>
                  <a:lnTo>
                    <a:pt x="7932039" y="6012220"/>
                  </a:lnTo>
                  <a:lnTo>
                    <a:pt x="7978090" y="5993375"/>
                  </a:lnTo>
                  <a:lnTo>
                    <a:pt x="8023802" y="5974231"/>
                  </a:lnTo>
                  <a:lnTo>
                    <a:pt x="8069172" y="5954788"/>
                  </a:lnTo>
                  <a:lnTo>
                    <a:pt x="8114197" y="5935050"/>
                  </a:lnTo>
                  <a:lnTo>
                    <a:pt x="8158873" y="5915018"/>
                  </a:lnTo>
                  <a:lnTo>
                    <a:pt x="8203196" y="5894695"/>
                  </a:lnTo>
                  <a:lnTo>
                    <a:pt x="8247163" y="5874083"/>
                  </a:lnTo>
                  <a:lnTo>
                    <a:pt x="8290772" y="5853185"/>
                  </a:lnTo>
                  <a:lnTo>
                    <a:pt x="8334017" y="5832001"/>
                  </a:lnTo>
                  <a:lnTo>
                    <a:pt x="8376895" y="5810536"/>
                  </a:lnTo>
                  <a:lnTo>
                    <a:pt x="8419404" y="5788790"/>
                  </a:lnTo>
                  <a:lnTo>
                    <a:pt x="8461540" y="5766766"/>
                  </a:lnTo>
                  <a:lnTo>
                    <a:pt x="8503299" y="5744467"/>
                  </a:lnTo>
                  <a:lnTo>
                    <a:pt x="8544677" y="5721893"/>
                  </a:lnTo>
                  <a:lnTo>
                    <a:pt x="8585672" y="5699049"/>
                  </a:lnTo>
                  <a:lnTo>
                    <a:pt x="8626279" y="5675935"/>
                  </a:lnTo>
                  <a:lnTo>
                    <a:pt x="8666496" y="5652554"/>
                  </a:lnTo>
                  <a:lnTo>
                    <a:pt x="8706318" y="5628909"/>
                  </a:lnTo>
                  <a:lnTo>
                    <a:pt x="8745743" y="5605001"/>
                  </a:lnTo>
                  <a:lnTo>
                    <a:pt x="8784767" y="5580832"/>
                  </a:lnTo>
                  <a:lnTo>
                    <a:pt x="8823385" y="5556406"/>
                  </a:lnTo>
                  <a:lnTo>
                    <a:pt x="8861596" y="5531723"/>
                  </a:lnTo>
                  <a:lnTo>
                    <a:pt x="8899395" y="5506787"/>
                  </a:lnTo>
                  <a:lnTo>
                    <a:pt x="8936779" y="5481599"/>
                  </a:lnTo>
                  <a:lnTo>
                    <a:pt x="8973745" y="5456162"/>
                  </a:lnTo>
                  <a:lnTo>
                    <a:pt x="9010288" y="5430477"/>
                  </a:lnTo>
                  <a:lnTo>
                    <a:pt x="9046405" y="5404548"/>
                  </a:lnTo>
                  <a:lnTo>
                    <a:pt x="9082094" y="5378376"/>
                  </a:lnTo>
                  <a:lnTo>
                    <a:pt x="9117350" y="5351963"/>
                  </a:lnTo>
                  <a:lnTo>
                    <a:pt x="9152170" y="5325312"/>
                  </a:lnTo>
                  <a:lnTo>
                    <a:pt x="9186551" y="5298425"/>
                  </a:lnTo>
                  <a:lnTo>
                    <a:pt x="9220488" y="5271304"/>
                  </a:lnTo>
                  <a:lnTo>
                    <a:pt x="9253979" y="5243952"/>
                  </a:lnTo>
                  <a:lnTo>
                    <a:pt x="9287020" y="5216369"/>
                  </a:lnTo>
                  <a:lnTo>
                    <a:pt x="9319608" y="5188560"/>
                  </a:lnTo>
                  <a:lnTo>
                    <a:pt x="9351739" y="5160525"/>
                  </a:lnTo>
                  <a:lnTo>
                    <a:pt x="9383409" y="5132267"/>
                  </a:lnTo>
                  <a:lnTo>
                    <a:pt x="9414616" y="5103789"/>
                  </a:lnTo>
                  <a:lnTo>
                    <a:pt x="9445355" y="5075092"/>
                  </a:lnTo>
                  <a:lnTo>
                    <a:pt x="9475623" y="5046179"/>
                  </a:lnTo>
                  <a:lnTo>
                    <a:pt x="9505417" y="5017052"/>
                  </a:lnTo>
                  <a:lnTo>
                    <a:pt x="9534733" y="4987713"/>
                  </a:lnTo>
                  <a:lnTo>
                    <a:pt x="9563568" y="4958164"/>
                  </a:lnTo>
                  <a:lnTo>
                    <a:pt x="9591918" y="4928408"/>
                  </a:lnTo>
                  <a:lnTo>
                    <a:pt x="9619779" y="4898446"/>
                  </a:lnTo>
                  <a:lnTo>
                    <a:pt x="9647149" y="4868281"/>
                  </a:lnTo>
                  <a:lnTo>
                    <a:pt x="9674024" y="4837916"/>
                  </a:lnTo>
                  <a:lnTo>
                    <a:pt x="9700400" y="4807351"/>
                  </a:lnTo>
                  <a:lnTo>
                    <a:pt x="9726274" y="4776591"/>
                  </a:lnTo>
                  <a:lnTo>
                    <a:pt x="9751642" y="4745636"/>
                  </a:lnTo>
                  <a:lnTo>
                    <a:pt x="9776501" y="4714489"/>
                  </a:lnTo>
                  <a:lnTo>
                    <a:pt x="9800847" y="4683152"/>
                  </a:lnTo>
                  <a:lnTo>
                    <a:pt x="9824678" y="4651627"/>
                  </a:lnTo>
                  <a:lnTo>
                    <a:pt x="9847988" y="4619917"/>
                  </a:lnTo>
                  <a:lnTo>
                    <a:pt x="9870776" y="4588024"/>
                  </a:lnTo>
                  <a:lnTo>
                    <a:pt x="9893037" y="4555949"/>
                  </a:lnTo>
                  <a:lnTo>
                    <a:pt x="9914767" y="4523696"/>
                  </a:lnTo>
                  <a:lnTo>
                    <a:pt x="9935965" y="4491266"/>
                  </a:lnTo>
                  <a:lnTo>
                    <a:pt x="9956625" y="4458662"/>
                  </a:lnTo>
                  <a:lnTo>
                    <a:pt x="9976745" y="4425885"/>
                  </a:lnTo>
                  <a:lnTo>
                    <a:pt x="9996321" y="4392938"/>
                  </a:lnTo>
                  <a:lnTo>
                    <a:pt x="10015349" y="4359824"/>
                  </a:lnTo>
                  <a:lnTo>
                    <a:pt x="10051749" y="4293100"/>
                  </a:lnTo>
                  <a:lnTo>
                    <a:pt x="10085917" y="4225731"/>
                  </a:lnTo>
                  <a:lnTo>
                    <a:pt x="10117826" y="4157736"/>
                  </a:lnTo>
                  <a:lnTo>
                    <a:pt x="10147448" y="4089130"/>
                  </a:lnTo>
                  <a:lnTo>
                    <a:pt x="10174754" y="4019932"/>
                  </a:lnTo>
                  <a:lnTo>
                    <a:pt x="10199717" y="3950160"/>
                  </a:lnTo>
                  <a:lnTo>
                    <a:pt x="10222309" y="3879831"/>
                  </a:lnTo>
                  <a:lnTo>
                    <a:pt x="10242502" y="3808963"/>
                  </a:lnTo>
                  <a:lnTo>
                    <a:pt x="10260268" y="3737574"/>
                  </a:lnTo>
                  <a:lnTo>
                    <a:pt x="10275580" y="3665680"/>
                  </a:lnTo>
                  <a:lnTo>
                    <a:pt x="10288409" y="3593300"/>
                  </a:lnTo>
                  <a:lnTo>
                    <a:pt x="10298728" y="3520452"/>
                  </a:lnTo>
                  <a:lnTo>
                    <a:pt x="10306509" y="3447152"/>
                  </a:lnTo>
                  <a:lnTo>
                    <a:pt x="10311723" y="3373419"/>
                  </a:lnTo>
                  <a:lnTo>
                    <a:pt x="10314344" y="3299270"/>
                  </a:lnTo>
                  <a:lnTo>
                    <a:pt x="10314673" y="3262045"/>
                  </a:lnTo>
                  <a:lnTo>
                    <a:pt x="10314344" y="3224820"/>
                  </a:lnTo>
                  <a:lnTo>
                    <a:pt x="10311723" y="3150671"/>
                  </a:lnTo>
                  <a:lnTo>
                    <a:pt x="10306509" y="3076937"/>
                  </a:lnTo>
                  <a:lnTo>
                    <a:pt x="10298728" y="3003637"/>
                  </a:lnTo>
                  <a:lnTo>
                    <a:pt x="10288409" y="2930788"/>
                  </a:lnTo>
                  <a:lnTo>
                    <a:pt x="10275580" y="2858408"/>
                  </a:lnTo>
                  <a:lnTo>
                    <a:pt x="10260268" y="2786514"/>
                  </a:lnTo>
                  <a:lnTo>
                    <a:pt x="10242502" y="2715124"/>
                  </a:lnTo>
                  <a:lnTo>
                    <a:pt x="10222309" y="2644255"/>
                  </a:lnTo>
                  <a:lnTo>
                    <a:pt x="10199717" y="2573926"/>
                  </a:lnTo>
                  <a:lnTo>
                    <a:pt x="10174754" y="2504154"/>
                  </a:lnTo>
                  <a:lnTo>
                    <a:pt x="10147448" y="2434956"/>
                  </a:lnTo>
                  <a:lnTo>
                    <a:pt x="10117826" y="2366350"/>
                  </a:lnTo>
                  <a:lnTo>
                    <a:pt x="10085917" y="2298353"/>
                  </a:lnTo>
                  <a:lnTo>
                    <a:pt x="10051749" y="2230984"/>
                  </a:lnTo>
                  <a:lnTo>
                    <a:pt x="10015349" y="2164260"/>
                  </a:lnTo>
                  <a:lnTo>
                    <a:pt x="9996321" y="2131146"/>
                  </a:lnTo>
                  <a:lnTo>
                    <a:pt x="9976745" y="2098199"/>
                  </a:lnTo>
                  <a:lnTo>
                    <a:pt x="9956625" y="2065422"/>
                  </a:lnTo>
                  <a:lnTo>
                    <a:pt x="9935965" y="2032818"/>
                  </a:lnTo>
                  <a:lnTo>
                    <a:pt x="9914767" y="2000387"/>
                  </a:lnTo>
                  <a:lnTo>
                    <a:pt x="9893037" y="1968134"/>
                  </a:lnTo>
                  <a:lnTo>
                    <a:pt x="9870776" y="1936059"/>
                  </a:lnTo>
                  <a:lnTo>
                    <a:pt x="9847988" y="1904166"/>
                  </a:lnTo>
                  <a:lnTo>
                    <a:pt x="9824678" y="1872456"/>
                  </a:lnTo>
                  <a:lnTo>
                    <a:pt x="9800847" y="1840931"/>
                  </a:lnTo>
                  <a:lnTo>
                    <a:pt x="9776501" y="1809594"/>
                  </a:lnTo>
                  <a:lnTo>
                    <a:pt x="9751642" y="1778447"/>
                  </a:lnTo>
                  <a:lnTo>
                    <a:pt x="9726274" y="1747491"/>
                  </a:lnTo>
                  <a:lnTo>
                    <a:pt x="9700400" y="1716731"/>
                  </a:lnTo>
                  <a:lnTo>
                    <a:pt x="9674024" y="1686166"/>
                  </a:lnTo>
                  <a:lnTo>
                    <a:pt x="9647149" y="1655801"/>
                  </a:lnTo>
                  <a:lnTo>
                    <a:pt x="9619779" y="1625636"/>
                  </a:lnTo>
                  <a:lnTo>
                    <a:pt x="9591918" y="1595674"/>
                  </a:lnTo>
                  <a:lnTo>
                    <a:pt x="9563568" y="1565918"/>
                  </a:lnTo>
                  <a:lnTo>
                    <a:pt x="9534733" y="1536369"/>
                  </a:lnTo>
                  <a:lnTo>
                    <a:pt x="9505417" y="1507029"/>
                  </a:lnTo>
                  <a:lnTo>
                    <a:pt x="9475623" y="1477902"/>
                  </a:lnTo>
                  <a:lnTo>
                    <a:pt x="9445355" y="1448989"/>
                  </a:lnTo>
                  <a:lnTo>
                    <a:pt x="9414616" y="1420292"/>
                  </a:lnTo>
                  <a:lnTo>
                    <a:pt x="9383409" y="1391813"/>
                  </a:lnTo>
                  <a:lnTo>
                    <a:pt x="9351739" y="1363556"/>
                  </a:lnTo>
                  <a:lnTo>
                    <a:pt x="9319608" y="1335521"/>
                  </a:lnTo>
                  <a:lnTo>
                    <a:pt x="9287020" y="1307711"/>
                  </a:lnTo>
                  <a:lnTo>
                    <a:pt x="9253979" y="1280129"/>
                  </a:lnTo>
                  <a:lnTo>
                    <a:pt x="9220488" y="1252776"/>
                  </a:lnTo>
                  <a:lnTo>
                    <a:pt x="9186551" y="1225655"/>
                  </a:lnTo>
                  <a:lnTo>
                    <a:pt x="9152170" y="1198768"/>
                  </a:lnTo>
                  <a:lnTo>
                    <a:pt x="9117350" y="1172117"/>
                  </a:lnTo>
                  <a:lnTo>
                    <a:pt x="9082094" y="1145704"/>
                  </a:lnTo>
                  <a:lnTo>
                    <a:pt x="9046405" y="1119532"/>
                  </a:lnTo>
                  <a:lnTo>
                    <a:pt x="9010288" y="1093603"/>
                  </a:lnTo>
                  <a:lnTo>
                    <a:pt x="8973745" y="1067918"/>
                  </a:lnTo>
                  <a:lnTo>
                    <a:pt x="8936779" y="1042481"/>
                  </a:lnTo>
                  <a:lnTo>
                    <a:pt x="8899395" y="1017293"/>
                  </a:lnTo>
                  <a:lnTo>
                    <a:pt x="8861596" y="992357"/>
                  </a:lnTo>
                  <a:lnTo>
                    <a:pt x="8823385" y="967674"/>
                  </a:lnTo>
                  <a:lnTo>
                    <a:pt x="8784767" y="943247"/>
                  </a:lnTo>
                  <a:lnTo>
                    <a:pt x="8745743" y="919079"/>
                  </a:lnTo>
                  <a:lnTo>
                    <a:pt x="8706318" y="895171"/>
                  </a:lnTo>
                  <a:lnTo>
                    <a:pt x="8666496" y="871525"/>
                  </a:lnTo>
                  <a:lnTo>
                    <a:pt x="8626279" y="848144"/>
                  </a:lnTo>
                  <a:lnTo>
                    <a:pt x="8585672" y="825030"/>
                  </a:lnTo>
                  <a:lnTo>
                    <a:pt x="8544677" y="802186"/>
                  </a:lnTo>
                  <a:lnTo>
                    <a:pt x="8503299" y="779613"/>
                  </a:lnTo>
                  <a:lnTo>
                    <a:pt x="8461540" y="757313"/>
                  </a:lnTo>
                  <a:lnTo>
                    <a:pt x="8419404" y="735289"/>
                  </a:lnTo>
                  <a:lnTo>
                    <a:pt x="8376895" y="713543"/>
                  </a:lnTo>
                  <a:lnTo>
                    <a:pt x="8334017" y="692077"/>
                  </a:lnTo>
                  <a:lnTo>
                    <a:pt x="8290772" y="670894"/>
                  </a:lnTo>
                  <a:lnTo>
                    <a:pt x="8247163" y="649995"/>
                  </a:lnTo>
                  <a:lnTo>
                    <a:pt x="8203196" y="629383"/>
                  </a:lnTo>
                  <a:lnTo>
                    <a:pt x="8158873" y="609061"/>
                  </a:lnTo>
                  <a:lnTo>
                    <a:pt x="8114197" y="589029"/>
                  </a:lnTo>
                  <a:lnTo>
                    <a:pt x="8069172" y="569291"/>
                  </a:lnTo>
                  <a:lnTo>
                    <a:pt x="8023802" y="549848"/>
                  </a:lnTo>
                  <a:lnTo>
                    <a:pt x="7978090" y="530703"/>
                  </a:lnTo>
                  <a:lnTo>
                    <a:pt x="7932039" y="511858"/>
                  </a:lnTo>
                  <a:lnTo>
                    <a:pt x="7885654" y="493316"/>
                  </a:lnTo>
                  <a:lnTo>
                    <a:pt x="7838936" y="475078"/>
                  </a:lnTo>
                  <a:lnTo>
                    <a:pt x="7791891" y="457146"/>
                  </a:lnTo>
                  <a:lnTo>
                    <a:pt x="7744521" y="439523"/>
                  </a:lnTo>
                  <a:lnTo>
                    <a:pt x="7696830" y="422212"/>
                  </a:lnTo>
                  <a:lnTo>
                    <a:pt x="7648822" y="405213"/>
                  </a:lnTo>
                  <a:lnTo>
                    <a:pt x="7600499" y="388530"/>
                  </a:lnTo>
                  <a:lnTo>
                    <a:pt x="7551866" y="372165"/>
                  </a:lnTo>
                  <a:lnTo>
                    <a:pt x="7502926" y="356119"/>
                  </a:lnTo>
                  <a:lnTo>
                    <a:pt x="7453682" y="340396"/>
                  </a:lnTo>
                  <a:lnTo>
                    <a:pt x="7404137" y="324997"/>
                  </a:lnTo>
                  <a:lnTo>
                    <a:pt x="7354296" y="309924"/>
                  </a:lnTo>
                  <a:lnTo>
                    <a:pt x="7304162" y="295180"/>
                  </a:lnTo>
                  <a:lnTo>
                    <a:pt x="7253738" y="280767"/>
                  </a:lnTo>
                  <a:lnTo>
                    <a:pt x="7203028" y="266687"/>
                  </a:lnTo>
                  <a:lnTo>
                    <a:pt x="7152035" y="252942"/>
                  </a:lnTo>
                  <a:lnTo>
                    <a:pt x="7100763" y="239534"/>
                  </a:lnTo>
                  <a:lnTo>
                    <a:pt x="7049215" y="226467"/>
                  </a:lnTo>
                  <a:lnTo>
                    <a:pt x="6997394" y="213741"/>
                  </a:lnTo>
                  <a:lnTo>
                    <a:pt x="6945305" y="201359"/>
                  </a:lnTo>
                  <a:lnTo>
                    <a:pt x="6892950" y="189324"/>
                  </a:lnTo>
                  <a:lnTo>
                    <a:pt x="6840334" y="177637"/>
                  </a:lnTo>
                  <a:lnTo>
                    <a:pt x="6787459" y="166300"/>
                  </a:lnTo>
                  <a:lnTo>
                    <a:pt x="6734329" y="155317"/>
                  </a:lnTo>
                  <a:lnTo>
                    <a:pt x="6680948" y="144688"/>
                  </a:lnTo>
                  <a:lnTo>
                    <a:pt x="6627319" y="134417"/>
                  </a:lnTo>
                  <a:lnTo>
                    <a:pt x="6573445" y="124506"/>
                  </a:lnTo>
                  <a:lnTo>
                    <a:pt x="6519331" y="114956"/>
                  </a:lnTo>
                  <a:lnTo>
                    <a:pt x="6464978" y="105770"/>
                  </a:lnTo>
                  <a:lnTo>
                    <a:pt x="6410392" y="96950"/>
                  </a:lnTo>
                  <a:lnTo>
                    <a:pt x="6355576" y="88499"/>
                  </a:lnTo>
                  <a:lnTo>
                    <a:pt x="6300532" y="80418"/>
                  </a:lnTo>
                  <a:lnTo>
                    <a:pt x="6245265" y="72710"/>
                  </a:lnTo>
                  <a:lnTo>
                    <a:pt x="6189777" y="65376"/>
                  </a:lnTo>
                  <a:lnTo>
                    <a:pt x="6134074" y="58420"/>
                  </a:lnTo>
                  <a:lnTo>
                    <a:pt x="6078157" y="51843"/>
                  </a:lnTo>
                  <a:lnTo>
                    <a:pt x="6022030" y="45648"/>
                  </a:lnTo>
                  <a:lnTo>
                    <a:pt x="5965697" y="39836"/>
                  </a:lnTo>
                  <a:lnTo>
                    <a:pt x="5909162" y="34411"/>
                  </a:lnTo>
                  <a:lnTo>
                    <a:pt x="5852427" y="29373"/>
                  </a:lnTo>
                  <a:lnTo>
                    <a:pt x="5795497" y="24726"/>
                  </a:lnTo>
                  <a:lnTo>
                    <a:pt x="5738374" y="20471"/>
                  </a:lnTo>
                  <a:lnTo>
                    <a:pt x="5681063" y="16611"/>
                  </a:lnTo>
                  <a:lnTo>
                    <a:pt x="5623566" y="13148"/>
                  </a:lnTo>
                  <a:lnTo>
                    <a:pt x="5565888" y="10085"/>
                  </a:lnTo>
                  <a:lnTo>
                    <a:pt x="5508031" y="7422"/>
                  </a:lnTo>
                  <a:lnTo>
                    <a:pt x="5450000" y="5163"/>
                  </a:lnTo>
                  <a:lnTo>
                    <a:pt x="5391797" y="3310"/>
                  </a:lnTo>
                  <a:lnTo>
                    <a:pt x="5333426" y="1865"/>
                  </a:lnTo>
                  <a:lnTo>
                    <a:pt x="5274891" y="830"/>
                  </a:lnTo>
                  <a:lnTo>
                    <a:pt x="5216196" y="208"/>
                  </a:lnTo>
                  <a:lnTo>
                    <a:pt x="5157343" y="0"/>
                  </a:lnTo>
                  <a:close/>
                </a:path>
              </a:pathLst>
            </a:custGeom>
            <a:solidFill>
              <a:srgbClr val="FAF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995003" y="6365646"/>
              <a:ext cx="3292995" cy="392135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2584" y="4354791"/>
              <a:ext cx="9866236" cy="593220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558489" y="2769603"/>
            <a:ext cx="8599170" cy="421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Masalah</a:t>
            </a:r>
            <a:r>
              <a:rPr sz="2500" spc="-30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dan</a:t>
            </a:r>
            <a:r>
              <a:rPr sz="2500" spc="-20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1F7145"/>
                </a:solidFill>
                <a:latin typeface="Arial"/>
                <a:cs typeface="Arial"/>
              </a:rPr>
              <a:t>Solusi</a:t>
            </a:r>
            <a:endParaRPr sz="2500">
              <a:latin typeface="Arial"/>
              <a:cs typeface="Arial"/>
            </a:endParaRPr>
          </a:p>
          <a:p>
            <a:pPr marL="12700" marR="5080" indent="635" algn="ctr">
              <a:lnSpc>
                <a:spcPts val="2500"/>
              </a:lnSpc>
              <a:spcBef>
                <a:spcPts val="2500"/>
              </a:spcBef>
            </a:pP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Pembukaan</a:t>
            </a:r>
            <a:r>
              <a:rPr sz="2500" spc="-35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lahan</a:t>
            </a:r>
            <a:r>
              <a:rPr sz="2500" spc="-30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sawit</a:t>
            </a:r>
            <a:r>
              <a:rPr sz="2500" spc="-30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yang</a:t>
            </a:r>
            <a:r>
              <a:rPr sz="2500" spc="-30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tidak</a:t>
            </a:r>
            <a:r>
              <a:rPr sz="2500" spc="-30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bertanggung</a:t>
            </a:r>
            <a:r>
              <a:rPr sz="2500" spc="-35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1F7145"/>
                </a:solidFill>
                <a:latin typeface="Arial"/>
                <a:cs typeface="Arial"/>
              </a:rPr>
              <a:t>jawab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seringkali</a:t>
            </a:r>
            <a:r>
              <a:rPr sz="2500" spc="-50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mengabaikan</a:t>
            </a:r>
            <a:r>
              <a:rPr sz="2500" spc="-45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keseimbangan</a:t>
            </a:r>
            <a:r>
              <a:rPr sz="2500" spc="-45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ekosistem.</a:t>
            </a:r>
            <a:r>
              <a:rPr sz="2500" spc="-50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Proyek</a:t>
            </a:r>
            <a:r>
              <a:rPr sz="2500" spc="-45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spc="-25" dirty="0">
                <a:solidFill>
                  <a:srgbClr val="1F7145"/>
                </a:solidFill>
                <a:latin typeface="Arial"/>
                <a:cs typeface="Arial"/>
              </a:rPr>
              <a:t>ini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menggunakan</a:t>
            </a:r>
            <a:r>
              <a:rPr sz="2500" spc="-30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Roblox</a:t>
            </a:r>
            <a:r>
              <a:rPr sz="2500" spc="-25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Studio</a:t>
            </a:r>
            <a:r>
              <a:rPr sz="2500" spc="-25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untuk</a:t>
            </a:r>
            <a:r>
              <a:rPr sz="2500" spc="-25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menciptakan</a:t>
            </a:r>
            <a:r>
              <a:rPr sz="2500" spc="-25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1F7145"/>
                </a:solidFill>
                <a:latin typeface="Arial"/>
                <a:cs typeface="Arial"/>
              </a:rPr>
              <a:t>simulasi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dampak</a:t>
            </a:r>
            <a:r>
              <a:rPr sz="2500" spc="-40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deforestasi</a:t>
            </a:r>
            <a:r>
              <a:rPr sz="2500" spc="-35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yang</a:t>
            </a:r>
            <a:r>
              <a:rPr sz="2500" spc="-40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1F7145"/>
                </a:solidFill>
                <a:latin typeface="Arial"/>
                <a:cs typeface="Arial"/>
              </a:rPr>
              <a:t>nyata.</a:t>
            </a:r>
            <a:endParaRPr sz="2500">
              <a:latin typeface="Arial"/>
              <a:cs typeface="Arial"/>
            </a:endParaRPr>
          </a:p>
          <a:p>
            <a:pPr marL="2540" algn="ctr">
              <a:lnSpc>
                <a:spcPct val="100000"/>
              </a:lnSpc>
              <a:spcBef>
                <a:spcPts val="2000"/>
              </a:spcBef>
            </a:pP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Tujuan</a:t>
            </a:r>
            <a:r>
              <a:rPr sz="2500" spc="-20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1F7145"/>
                </a:solidFill>
                <a:latin typeface="Arial"/>
                <a:cs typeface="Arial"/>
              </a:rPr>
              <a:t>Utama</a:t>
            </a:r>
            <a:endParaRPr sz="2500">
              <a:latin typeface="Arial"/>
              <a:cs typeface="Arial"/>
            </a:endParaRPr>
          </a:p>
          <a:p>
            <a:pPr marL="250190" marR="241300" algn="ctr">
              <a:lnSpc>
                <a:spcPts val="2500"/>
              </a:lnSpc>
              <a:spcBef>
                <a:spcPts val="2500"/>
              </a:spcBef>
            </a:pP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Mengedukasi</a:t>
            </a:r>
            <a:r>
              <a:rPr sz="2500" spc="-45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pemain</a:t>
            </a:r>
            <a:r>
              <a:rPr sz="2500" spc="-35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mengenai</a:t>
            </a:r>
            <a:r>
              <a:rPr sz="2500" spc="-30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hubungan</a:t>
            </a:r>
            <a:r>
              <a:rPr sz="2500" spc="-35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antara</a:t>
            </a:r>
            <a:r>
              <a:rPr sz="2500" spc="-30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1F7145"/>
                </a:solidFill>
                <a:latin typeface="Arial"/>
                <a:cs typeface="Arial"/>
              </a:rPr>
              <a:t>korupsi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sumber</a:t>
            </a:r>
            <a:r>
              <a:rPr sz="2500" spc="-25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daya</a:t>
            </a:r>
            <a:r>
              <a:rPr sz="2500" spc="-25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alam</a:t>
            </a:r>
            <a:r>
              <a:rPr sz="2500" spc="-20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dan</a:t>
            </a:r>
            <a:r>
              <a:rPr sz="2500" spc="-25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bencana</a:t>
            </a:r>
            <a:r>
              <a:rPr sz="2500" spc="-25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ekologis</a:t>
            </a:r>
            <a:r>
              <a:rPr sz="2500" spc="-20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1F7145"/>
                </a:solidFill>
                <a:latin typeface="Arial"/>
                <a:cs typeface="Arial"/>
              </a:rPr>
              <a:t>(banjir/longsor)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melalui</a:t>
            </a:r>
            <a:r>
              <a:rPr sz="2500" spc="-20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sistem</a:t>
            </a:r>
            <a:r>
              <a:rPr sz="2500" spc="-20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mechanic</a:t>
            </a:r>
            <a:r>
              <a:rPr sz="2500" spc="-20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yang</a:t>
            </a:r>
            <a:r>
              <a:rPr sz="2500" spc="-20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7145"/>
                </a:solidFill>
                <a:latin typeface="Arial"/>
                <a:cs typeface="Arial"/>
              </a:rPr>
              <a:t>menghukum</a:t>
            </a:r>
            <a:r>
              <a:rPr sz="2500" spc="-15" dirty="0">
                <a:solidFill>
                  <a:srgbClr val="1F7145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1F7145"/>
                </a:solidFill>
                <a:latin typeface="Arial"/>
                <a:cs typeface="Arial"/>
              </a:rPr>
              <a:t>eksploitasi berlebihan.</a:t>
            </a:r>
            <a:endParaRPr sz="25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84393" y="0"/>
            <a:ext cx="2891726" cy="1540408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383084" y="856682"/>
            <a:ext cx="6454140" cy="131064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2318385" marR="5080" indent="-2306320">
              <a:lnSpc>
                <a:spcPts val="4600"/>
              </a:lnSpc>
              <a:spcBef>
                <a:spcPts val="1019"/>
              </a:spcBef>
              <a:tabLst>
                <a:tab pos="1504950" algn="l"/>
                <a:tab pos="4103370" algn="l"/>
                <a:tab pos="4655185" algn="l"/>
              </a:tabLst>
            </a:pPr>
            <a:r>
              <a:rPr sz="4600" spc="-10" dirty="0">
                <a:solidFill>
                  <a:srgbClr val="1F7145"/>
                </a:solidFill>
              </a:rPr>
              <a:t>Latar</a:t>
            </a:r>
            <a:r>
              <a:rPr sz="4600" dirty="0">
                <a:solidFill>
                  <a:srgbClr val="1F7145"/>
                </a:solidFill>
              </a:rPr>
              <a:t>	</a:t>
            </a:r>
            <a:r>
              <a:rPr sz="4600" spc="-10" dirty="0">
                <a:solidFill>
                  <a:srgbClr val="1F7145"/>
                </a:solidFill>
              </a:rPr>
              <a:t>Belakang</a:t>
            </a:r>
            <a:r>
              <a:rPr sz="4600" dirty="0">
                <a:solidFill>
                  <a:srgbClr val="1F7145"/>
                </a:solidFill>
              </a:rPr>
              <a:t>	</a:t>
            </a:r>
            <a:r>
              <a:rPr sz="4600" spc="-50" dirty="0">
                <a:solidFill>
                  <a:srgbClr val="1F7145"/>
                </a:solidFill>
              </a:rPr>
              <a:t>&amp;</a:t>
            </a:r>
            <a:r>
              <a:rPr sz="4600" dirty="0">
                <a:solidFill>
                  <a:srgbClr val="1F7145"/>
                </a:solidFill>
              </a:rPr>
              <a:t>	</a:t>
            </a:r>
            <a:r>
              <a:rPr sz="4600" spc="-20" dirty="0">
                <a:solidFill>
                  <a:srgbClr val="1F7145"/>
                </a:solidFill>
              </a:rPr>
              <a:t>Tujuan </a:t>
            </a:r>
            <a:r>
              <a:rPr sz="4600" spc="-10" dirty="0">
                <a:solidFill>
                  <a:srgbClr val="1F7145"/>
                </a:solidFill>
              </a:rPr>
              <a:t>Proyek</a:t>
            </a:r>
            <a:endParaRPr sz="4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98789" y="3794785"/>
            <a:ext cx="7173595" cy="2402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0"/>
              </a:lnSpc>
              <a:spcBef>
                <a:spcPts val="100"/>
              </a:spcBef>
            </a:pPr>
            <a:r>
              <a:rPr sz="2600" dirty="0">
                <a:latin typeface="Arial"/>
                <a:cs typeface="Arial"/>
              </a:rPr>
              <a:t>Sistem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menggunakan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arsitektur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Client-</a:t>
            </a:r>
            <a:r>
              <a:rPr sz="2600" spc="-10" dirty="0">
                <a:latin typeface="Arial"/>
                <a:cs typeface="Arial"/>
              </a:rPr>
              <a:t>Server:</a:t>
            </a:r>
            <a:endParaRPr sz="2600">
              <a:latin typeface="Arial"/>
              <a:cs typeface="Arial"/>
            </a:endParaRPr>
          </a:p>
          <a:p>
            <a:pPr marL="573405" marR="5080" indent="-280670">
              <a:lnSpc>
                <a:spcPts val="2600"/>
              </a:lnSpc>
              <a:spcBef>
                <a:spcPts val="259"/>
              </a:spcBef>
              <a:buChar char="•"/>
              <a:tabLst>
                <a:tab pos="573405" algn="l"/>
              </a:tabLst>
            </a:pPr>
            <a:r>
              <a:rPr sz="2600" dirty="0">
                <a:latin typeface="Arial"/>
                <a:cs typeface="Arial"/>
              </a:rPr>
              <a:t>Player</a:t>
            </a:r>
            <a:r>
              <a:rPr sz="2600" spc="-1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Device:</a:t>
            </a:r>
            <a:r>
              <a:rPr sz="2600" spc="-1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Menangani</a:t>
            </a:r>
            <a:r>
              <a:rPr sz="2600" spc="-1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rendering</a:t>
            </a:r>
            <a:r>
              <a:rPr sz="2600" spc="-1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visual</a:t>
            </a:r>
            <a:r>
              <a:rPr sz="2600" spc="-120" dirty="0">
                <a:latin typeface="Arial"/>
                <a:cs typeface="Arial"/>
              </a:rPr>
              <a:t> </a:t>
            </a:r>
            <a:r>
              <a:rPr sz="2600" spc="-50" dirty="0">
                <a:latin typeface="Arial"/>
                <a:cs typeface="Arial"/>
              </a:rPr>
              <a:t>&amp; </a:t>
            </a:r>
            <a:r>
              <a:rPr sz="2600" dirty="0">
                <a:latin typeface="Arial"/>
                <a:cs typeface="Arial"/>
              </a:rPr>
              <a:t>interaksi</a:t>
            </a:r>
            <a:r>
              <a:rPr sz="2600" spc="-1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UI.</a:t>
            </a:r>
            <a:endParaRPr sz="2600">
              <a:latin typeface="Arial"/>
              <a:cs typeface="Arial"/>
            </a:endParaRPr>
          </a:p>
          <a:p>
            <a:pPr marL="573405" marR="721995" indent="-280670">
              <a:lnSpc>
                <a:spcPct val="83300"/>
              </a:lnSpc>
              <a:buChar char="•"/>
              <a:tabLst>
                <a:tab pos="573405" algn="l"/>
              </a:tabLst>
            </a:pPr>
            <a:r>
              <a:rPr sz="2600" dirty="0">
                <a:latin typeface="Arial"/>
                <a:cs typeface="Arial"/>
              </a:rPr>
              <a:t>Roblox</a:t>
            </a:r>
            <a:r>
              <a:rPr sz="2600" spc="-9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Server:</a:t>
            </a:r>
            <a:r>
              <a:rPr sz="2600" spc="-9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Menjalankan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logika</a:t>
            </a:r>
            <a:r>
              <a:rPr sz="2600" spc="-9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misi, </a:t>
            </a:r>
            <a:r>
              <a:rPr sz="2600" dirty="0">
                <a:latin typeface="Arial"/>
                <a:cs typeface="Arial"/>
              </a:rPr>
              <a:t>ekonomi,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&amp;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pemicu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bencana.</a:t>
            </a:r>
            <a:endParaRPr sz="2600">
              <a:latin typeface="Arial"/>
              <a:cs typeface="Arial"/>
            </a:endParaRPr>
          </a:p>
          <a:p>
            <a:pPr marL="573405" marR="151765" indent="-280670">
              <a:lnSpc>
                <a:spcPts val="2600"/>
              </a:lnSpc>
              <a:buChar char="•"/>
              <a:tabLst>
                <a:tab pos="573405" algn="l"/>
              </a:tabLst>
            </a:pPr>
            <a:r>
              <a:rPr sz="2600" dirty="0">
                <a:latin typeface="Arial"/>
                <a:cs typeface="Arial"/>
              </a:rPr>
              <a:t>DataStore:</a:t>
            </a:r>
            <a:r>
              <a:rPr sz="2600" spc="-114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Penyimpanan</a:t>
            </a:r>
            <a:r>
              <a:rPr sz="2600" spc="-114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NoSQL</a:t>
            </a:r>
            <a:r>
              <a:rPr sz="2600" spc="-114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permanen </a:t>
            </a:r>
            <a:r>
              <a:rPr sz="2600" dirty="0">
                <a:latin typeface="Arial"/>
                <a:cs typeface="Arial"/>
              </a:rPr>
              <a:t>untuk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progres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pemain.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34472" y="2063953"/>
            <a:ext cx="381444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-10" dirty="0">
                <a:solidFill>
                  <a:srgbClr val="3B9069"/>
                </a:solidFill>
              </a:rPr>
              <a:t>Deployment</a:t>
            </a:r>
            <a:endParaRPr sz="5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217619" cy="10287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031619" y="3520681"/>
            <a:ext cx="6009640" cy="498348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740"/>
              </a:spcBef>
            </a:pPr>
            <a:r>
              <a:rPr sz="3200" dirty="0">
                <a:latin typeface="Arial"/>
                <a:cs typeface="Arial"/>
              </a:rPr>
              <a:t>Meskipun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menggunakan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NoSQL, </a:t>
            </a:r>
            <a:r>
              <a:rPr sz="3200" dirty="0">
                <a:latin typeface="Arial"/>
                <a:cs typeface="Arial"/>
              </a:rPr>
              <a:t>perancangan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tetap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mengikuti </a:t>
            </a:r>
            <a:r>
              <a:rPr sz="3200" dirty="0">
                <a:latin typeface="Arial"/>
                <a:cs typeface="Arial"/>
              </a:rPr>
              <a:t>prinsip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normalisasi:</a:t>
            </a:r>
            <a:endParaRPr sz="3200">
              <a:latin typeface="Arial"/>
              <a:cs typeface="Arial"/>
            </a:endParaRPr>
          </a:p>
          <a:p>
            <a:pPr marL="703580" marR="241300" indent="-345440">
              <a:lnSpc>
                <a:spcPts val="3200"/>
              </a:lnSpc>
              <a:buChar char="•"/>
              <a:tabLst>
                <a:tab pos="703580" algn="l"/>
              </a:tabLst>
            </a:pPr>
            <a:r>
              <a:rPr sz="3200" dirty="0">
                <a:latin typeface="Arial"/>
                <a:cs typeface="Arial"/>
              </a:rPr>
              <a:t>Entitas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Pemain: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Menyimpan </a:t>
            </a:r>
            <a:r>
              <a:rPr sz="3200" dirty="0">
                <a:latin typeface="Arial"/>
                <a:cs typeface="Arial"/>
              </a:rPr>
              <a:t>saldo,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inventaris,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dan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skor </a:t>
            </a:r>
            <a:r>
              <a:rPr sz="3200" spc="-10" dirty="0">
                <a:latin typeface="Arial"/>
                <a:cs typeface="Arial"/>
              </a:rPr>
              <a:t>keberlanjutan.</a:t>
            </a:r>
            <a:endParaRPr sz="3200">
              <a:latin typeface="Arial"/>
              <a:cs typeface="Arial"/>
            </a:endParaRPr>
          </a:p>
          <a:p>
            <a:pPr marL="703580" marR="150495" indent="-345440">
              <a:lnSpc>
                <a:spcPts val="3200"/>
              </a:lnSpc>
              <a:buChar char="•"/>
              <a:tabLst>
                <a:tab pos="703580" algn="l"/>
              </a:tabLst>
            </a:pPr>
            <a:r>
              <a:rPr sz="3200" dirty="0">
                <a:latin typeface="Arial"/>
                <a:cs typeface="Arial"/>
              </a:rPr>
              <a:t>Entitas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Transaksi: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Mencatat </a:t>
            </a:r>
            <a:r>
              <a:rPr sz="3200" dirty="0">
                <a:latin typeface="Arial"/>
                <a:cs typeface="Arial"/>
              </a:rPr>
              <a:t>sejarah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jual-</a:t>
            </a:r>
            <a:r>
              <a:rPr sz="3200" dirty="0">
                <a:latin typeface="Arial"/>
                <a:cs typeface="Arial"/>
              </a:rPr>
              <a:t>beli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hasil</a:t>
            </a:r>
            <a:r>
              <a:rPr sz="3200" spc="-10" dirty="0">
                <a:latin typeface="Arial"/>
                <a:cs typeface="Arial"/>
              </a:rPr>
              <a:t> panen.</a:t>
            </a:r>
            <a:endParaRPr sz="3200">
              <a:latin typeface="Arial"/>
              <a:cs typeface="Arial"/>
            </a:endParaRPr>
          </a:p>
          <a:p>
            <a:pPr marL="703580" marR="421640" indent="-345440">
              <a:lnSpc>
                <a:spcPts val="3200"/>
              </a:lnSpc>
              <a:buChar char="•"/>
              <a:tabLst>
                <a:tab pos="703580" algn="l"/>
              </a:tabLst>
            </a:pPr>
            <a:r>
              <a:rPr sz="3200" dirty="0">
                <a:latin typeface="Arial"/>
                <a:cs typeface="Arial"/>
              </a:rPr>
              <a:t>Junction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Table: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Menangani </a:t>
            </a:r>
            <a:r>
              <a:rPr sz="3200" dirty="0">
                <a:latin typeface="Arial"/>
                <a:cs typeface="Arial"/>
              </a:rPr>
              <a:t>relasi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Banyak-ke-Banyak </a:t>
            </a:r>
            <a:r>
              <a:rPr sz="3200" dirty="0">
                <a:latin typeface="Arial"/>
                <a:cs typeface="Arial"/>
              </a:rPr>
              <a:t>(M:N)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antara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Pemain</a:t>
            </a:r>
            <a:r>
              <a:rPr sz="3200" spc="-25" dirty="0">
                <a:latin typeface="Arial"/>
                <a:cs typeface="Arial"/>
              </a:rPr>
              <a:t> dan </a:t>
            </a:r>
            <a:r>
              <a:rPr sz="3200" spc="-10" dirty="0">
                <a:latin typeface="Arial"/>
                <a:cs typeface="Arial"/>
              </a:rPr>
              <a:t>Aset.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691402" y="2429688"/>
            <a:ext cx="5220335" cy="114300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905000" marR="5080" indent="-1892935">
              <a:lnSpc>
                <a:spcPts val="4000"/>
              </a:lnSpc>
              <a:spcBef>
                <a:spcPts val="900"/>
              </a:spcBef>
              <a:tabLst>
                <a:tab pos="2751455" algn="l"/>
                <a:tab pos="4134485" algn="l"/>
              </a:tabLst>
            </a:pPr>
            <a:r>
              <a:rPr sz="4000" spc="-10" dirty="0">
                <a:solidFill>
                  <a:srgbClr val="3B9069"/>
                </a:solidFill>
              </a:rPr>
              <a:t>Rancangan</a:t>
            </a:r>
            <a:r>
              <a:rPr sz="4000" dirty="0">
                <a:solidFill>
                  <a:srgbClr val="3B9069"/>
                </a:solidFill>
              </a:rPr>
              <a:t>	</a:t>
            </a:r>
            <a:r>
              <a:rPr sz="4000" spc="-10" dirty="0">
                <a:solidFill>
                  <a:srgbClr val="3B9069"/>
                </a:solidFill>
              </a:rPr>
              <a:t>Basis</a:t>
            </a:r>
            <a:r>
              <a:rPr sz="4000" dirty="0">
                <a:solidFill>
                  <a:srgbClr val="3B9069"/>
                </a:solidFill>
              </a:rPr>
              <a:t>	</a:t>
            </a:r>
            <a:r>
              <a:rPr sz="4000" spc="-20" dirty="0">
                <a:solidFill>
                  <a:srgbClr val="3B9069"/>
                </a:solidFill>
              </a:rPr>
              <a:t>Data </a:t>
            </a:r>
            <a:r>
              <a:rPr sz="4000" spc="-10" dirty="0">
                <a:solidFill>
                  <a:srgbClr val="3B9069"/>
                </a:solidFill>
              </a:rPr>
              <a:t>(ERD)</a:t>
            </a:r>
            <a:endParaRPr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3700691" cy="92583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200918" y="3022307"/>
              <a:ext cx="9886315" cy="3124835"/>
            </a:xfrm>
            <a:custGeom>
              <a:avLst/>
              <a:gdLst/>
              <a:ahLst/>
              <a:cxnLst/>
              <a:rect l="l" t="t" r="r" b="b"/>
              <a:pathLst>
                <a:path w="9886315" h="3124835">
                  <a:moveTo>
                    <a:pt x="9734537" y="0"/>
                  </a:moveTo>
                  <a:lnTo>
                    <a:pt x="151639" y="0"/>
                  </a:lnTo>
                  <a:lnTo>
                    <a:pt x="103709" y="7730"/>
                  </a:lnTo>
                  <a:lnTo>
                    <a:pt x="62083" y="29258"/>
                  </a:lnTo>
                  <a:lnTo>
                    <a:pt x="29257" y="62084"/>
                  </a:lnTo>
                  <a:lnTo>
                    <a:pt x="7730" y="103710"/>
                  </a:lnTo>
                  <a:lnTo>
                    <a:pt x="0" y="151638"/>
                  </a:lnTo>
                  <a:lnTo>
                    <a:pt x="0" y="2972612"/>
                  </a:lnTo>
                  <a:lnTo>
                    <a:pt x="7730" y="3020546"/>
                  </a:lnTo>
                  <a:lnTo>
                    <a:pt x="29257" y="3062176"/>
                  </a:lnTo>
                  <a:lnTo>
                    <a:pt x="62083" y="3095004"/>
                  </a:lnTo>
                  <a:lnTo>
                    <a:pt x="103709" y="3116532"/>
                  </a:lnTo>
                  <a:lnTo>
                    <a:pt x="151639" y="3124263"/>
                  </a:lnTo>
                  <a:lnTo>
                    <a:pt x="9734537" y="3124263"/>
                  </a:lnTo>
                  <a:lnTo>
                    <a:pt x="9782465" y="3116532"/>
                  </a:lnTo>
                  <a:lnTo>
                    <a:pt x="9824091" y="3095004"/>
                  </a:lnTo>
                  <a:lnTo>
                    <a:pt x="9856916" y="3062176"/>
                  </a:lnTo>
                  <a:lnTo>
                    <a:pt x="9878444" y="3020546"/>
                  </a:lnTo>
                  <a:lnTo>
                    <a:pt x="9886175" y="2972612"/>
                  </a:lnTo>
                  <a:lnTo>
                    <a:pt x="9886175" y="151638"/>
                  </a:lnTo>
                  <a:lnTo>
                    <a:pt x="9878444" y="103710"/>
                  </a:lnTo>
                  <a:lnTo>
                    <a:pt x="9856916" y="62084"/>
                  </a:lnTo>
                  <a:lnTo>
                    <a:pt x="9824091" y="29258"/>
                  </a:lnTo>
                  <a:lnTo>
                    <a:pt x="9782465" y="7730"/>
                  </a:lnTo>
                  <a:lnTo>
                    <a:pt x="9734537" y="0"/>
                  </a:lnTo>
                  <a:close/>
                </a:path>
              </a:pathLst>
            </a:custGeom>
            <a:solidFill>
              <a:srgbClr val="0BC0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00918" y="3022307"/>
              <a:ext cx="9886315" cy="3124835"/>
            </a:xfrm>
            <a:custGeom>
              <a:avLst/>
              <a:gdLst/>
              <a:ahLst/>
              <a:cxnLst/>
              <a:rect l="l" t="t" r="r" b="b"/>
              <a:pathLst>
                <a:path w="9886315" h="3124835">
                  <a:moveTo>
                    <a:pt x="151639" y="0"/>
                  </a:moveTo>
                  <a:lnTo>
                    <a:pt x="9734537" y="0"/>
                  </a:lnTo>
                  <a:lnTo>
                    <a:pt x="9782465" y="7730"/>
                  </a:lnTo>
                  <a:lnTo>
                    <a:pt x="9824091" y="29258"/>
                  </a:lnTo>
                  <a:lnTo>
                    <a:pt x="9856916" y="62084"/>
                  </a:lnTo>
                  <a:lnTo>
                    <a:pt x="9878444" y="103710"/>
                  </a:lnTo>
                  <a:lnTo>
                    <a:pt x="9886175" y="151638"/>
                  </a:lnTo>
                  <a:lnTo>
                    <a:pt x="9886175" y="2972612"/>
                  </a:lnTo>
                  <a:lnTo>
                    <a:pt x="9878444" y="3020546"/>
                  </a:lnTo>
                  <a:lnTo>
                    <a:pt x="9856916" y="3062176"/>
                  </a:lnTo>
                  <a:lnTo>
                    <a:pt x="9824091" y="3095004"/>
                  </a:lnTo>
                  <a:lnTo>
                    <a:pt x="9782465" y="3116532"/>
                  </a:lnTo>
                  <a:lnTo>
                    <a:pt x="9734537" y="3124263"/>
                  </a:lnTo>
                  <a:lnTo>
                    <a:pt x="151639" y="3124263"/>
                  </a:lnTo>
                  <a:lnTo>
                    <a:pt x="103709" y="3116532"/>
                  </a:lnTo>
                  <a:lnTo>
                    <a:pt x="62083" y="3095004"/>
                  </a:lnTo>
                  <a:lnTo>
                    <a:pt x="29257" y="3062176"/>
                  </a:lnTo>
                  <a:lnTo>
                    <a:pt x="7730" y="3020546"/>
                  </a:lnTo>
                  <a:lnTo>
                    <a:pt x="0" y="2972612"/>
                  </a:lnTo>
                  <a:lnTo>
                    <a:pt x="0" y="151638"/>
                  </a:lnTo>
                  <a:lnTo>
                    <a:pt x="7730" y="103710"/>
                  </a:lnTo>
                  <a:lnTo>
                    <a:pt x="29257" y="62084"/>
                  </a:lnTo>
                  <a:lnTo>
                    <a:pt x="62083" y="29258"/>
                  </a:lnTo>
                  <a:lnTo>
                    <a:pt x="103709" y="7730"/>
                  </a:lnTo>
                  <a:lnTo>
                    <a:pt x="151639" y="0"/>
                  </a:lnTo>
                  <a:close/>
                </a:path>
              </a:pathLst>
            </a:custGeom>
            <a:ln w="95249">
              <a:solidFill>
                <a:srgbClr val="FFFF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11585" y="3399294"/>
            <a:ext cx="8538845" cy="211391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2710"/>
              </a:lnSpc>
              <a:spcBef>
                <a:spcPts val="33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Fitur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interaksi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dirancang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untuk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memperkuat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elemen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penceritaan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dalam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game,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mana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pemain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dapat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berkomunikasi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secara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interaktif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dengan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karakter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non-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pemain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(NPC)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seperti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Pak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Kades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atau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Pengepul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Muis.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Dialog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ini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berfungsi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sebagai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media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penyampaian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informasi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penting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dan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instruksi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tugas.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44861" y="5401945"/>
            <a:ext cx="7403579" cy="443086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276121" y="554662"/>
            <a:ext cx="9733280" cy="1814830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2926080" marR="5080" indent="-2914015">
              <a:lnSpc>
                <a:spcPts val="6409"/>
              </a:lnSpc>
              <a:spcBef>
                <a:spcPts val="1370"/>
              </a:spcBef>
              <a:tabLst>
                <a:tab pos="1863725" algn="l"/>
                <a:tab pos="3693795" algn="l"/>
                <a:tab pos="4707255" algn="l"/>
                <a:tab pos="5365115" algn="l"/>
                <a:tab pos="8003540" algn="l"/>
              </a:tabLst>
            </a:pPr>
            <a:r>
              <a:rPr sz="6400" spc="-10" dirty="0"/>
              <a:t>Fitur</a:t>
            </a:r>
            <a:r>
              <a:rPr sz="6400" dirty="0"/>
              <a:t>	</a:t>
            </a:r>
            <a:r>
              <a:rPr sz="6400" spc="-10" dirty="0"/>
              <a:t>Utama:</a:t>
            </a:r>
            <a:r>
              <a:rPr sz="6400" dirty="0"/>
              <a:t>	</a:t>
            </a:r>
            <a:r>
              <a:rPr sz="6400" spc="-10" dirty="0"/>
              <a:t>Interaksi</a:t>
            </a:r>
            <a:r>
              <a:rPr sz="6400" dirty="0"/>
              <a:t>	</a:t>
            </a:r>
            <a:r>
              <a:rPr sz="6400" spc="-25" dirty="0"/>
              <a:t>NPC </a:t>
            </a:r>
            <a:r>
              <a:rPr sz="6400" spc="-50" dirty="0"/>
              <a:t>&amp;</a:t>
            </a:r>
            <a:r>
              <a:rPr sz="6400" dirty="0"/>
              <a:t>	</a:t>
            </a:r>
            <a:r>
              <a:rPr sz="6400" spc="-20" dirty="0"/>
              <a:t>Alur</a:t>
            </a:r>
            <a:r>
              <a:rPr sz="6400" dirty="0"/>
              <a:t>	</a:t>
            </a:r>
            <a:r>
              <a:rPr sz="6400" spc="-20" dirty="0"/>
              <a:t>Misi</a:t>
            </a:r>
            <a:endParaRPr sz="6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344377" y="1634287"/>
            <a:ext cx="971931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47520" algn="l"/>
                <a:tab pos="4413250" algn="l"/>
                <a:tab pos="6826250" algn="l"/>
                <a:tab pos="7546340" algn="l"/>
              </a:tabLst>
            </a:pPr>
            <a:r>
              <a:rPr sz="6000" spc="-10" dirty="0">
                <a:highlight>
                  <a:srgbClr val="00FF00"/>
                </a:highlight>
              </a:rPr>
              <a:t>Fitur</a:t>
            </a:r>
            <a:r>
              <a:rPr sz="6000" dirty="0">
                <a:highlight>
                  <a:srgbClr val="00FF00"/>
                </a:highlight>
              </a:rPr>
              <a:t>	</a:t>
            </a:r>
            <a:r>
              <a:rPr sz="6000" spc="-10" dirty="0">
                <a:highlight>
                  <a:srgbClr val="00FF00"/>
                </a:highlight>
              </a:rPr>
              <a:t>Utama:</a:t>
            </a:r>
            <a:r>
              <a:rPr sz="6000" dirty="0">
                <a:highlight>
                  <a:srgbClr val="00FF00"/>
                </a:highlight>
              </a:rPr>
              <a:t>	</a:t>
            </a:r>
            <a:r>
              <a:rPr sz="6000" spc="-10" dirty="0">
                <a:highlight>
                  <a:srgbClr val="00FF00"/>
                </a:highlight>
              </a:rPr>
              <a:t>Narasi</a:t>
            </a:r>
            <a:r>
              <a:rPr sz="6000" dirty="0">
                <a:highlight>
                  <a:srgbClr val="00FF00"/>
                </a:highlight>
              </a:rPr>
              <a:t>	</a:t>
            </a:r>
            <a:r>
              <a:rPr sz="6000" spc="-50" dirty="0">
                <a:highlight>
                  <a:srgbClr val="00FF00"/>
                </a:highlight>
              </a:rPr>
              <a:t>&amp;</a:t>
            </a:r>
            <a:r>
              <a:rPr sz="6000" dirty="0">
                <a:highlight>
                  <a:srgbClr val="00FF00"/>
                </a:highlight>
              </a:rPr>
              <a:t>	</a:t>
            </a:r>
            <a:r>
              <a:rPr sz="6000" spc="-10" dirty="0">
                <a:highlight>
                  <a:srgbClr val="00FF00"/>
                </a:highlight>
              </a:rPr>
              <a:t>Dialog</a:t>
            </a:r>
            <a:endParaRPr sz="6000" dirty="0">
              <a:highlight>
                <a:srgbClr val="00FF00"/>
              </a:highlight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85212" y="2837395"/>
            <a:ext cx="32404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dirty="0">
                <a:solidFill>
                  <a:schemeClr val="bg1"/>
                </a:solidFill>
                <a:highlight>
                  <a:srgbClr val="00FF00"/>
                </a:highlight>
                <a:latin typeface="Arial"/>
                <a:cs typeface="Arial"/>
              </a:rPr>
              <a:t>NPC</a:t>
            </a:r>
            <a:r>
              <a:rPr sz="3400" b="1" spc="-5" dirty="0">
                <a:solidFill>
                  <a:schemeClr val="bg1"/>
                </a:solidFill>
                <a:highlight>
                  <a:srgbClr val="00FF00"/>
                </a:highlight>
                <a:latin typeface="Arial"/>
                <a:cs typeface="Arial"/>
              </a:rPr>
              <a:t> </a:t>
            </a:r>
            <a:r>
              <a:rPr sz="3400" b="1" dirty="0">
                <a:solidFill>
                  <a:schemeClr val="bg1"/>
                </a:solidFill>
                <a:highlight>
                  <a:srgbClr val="00FF00"/>
                </a:highlight>
                <a:latin typeface="Arial"/>
                <a:cs typeface="Arial"/>
              </a:rPr>
              <a:t>Pak</a:t>
            </a:r>
            <a:r>
              <a:rPr sz="3400" b="1" spc="-5" dirty="0">
                <a:solidFill>
                  <a:schemeClr val="bg1"/>
                </a:solidFill>
                <a:highlight>
                  <a:srgbClr val="00FF00"/>
                </a:highlight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chemeClr val="bg1"/>
                </a:solidFill>
                <a:highlight>
                  <a:srgbClr val="00FF00"/>
                </a:highlight>
                <a:latin typeface="Arial"/>
                <a:cs typeface="Arial"/>
              </a:rPr>
              <a:t>Kades</a:t>
            </a:r>
            <a:endParaRPr sz="3400" dirty="0">
              <a:solidFill>
                <a:schemeClr val="bg1"/>
              </a:solidFill>
              <a:highlight>
                <a:srgbClr val="00FF00"/>
              </a:highlight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89276" y="3735336"/>
            <a:ext cx="3525520" cy="356552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 marR="5080">
              <a:lnSpc>
                <a:spcPts val="3400"/>
              </a:lnSpc>
              <a:spcBef>
                <a:spcPts val="780"/>
              </a:spcBef>
            </a:pPr>
            <a:r>
              <a:rPr sz="3400" b="1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Memberikan</a:t>
            </a:r>
            <a:r>
              <a:rPr sz="3400" b="1" spc="-175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 </a:t>
            </a:r>
            <a:r>
              <a:rPr sz="3400" b="1" spc="-20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misi </a:t>
            </a:r>
            <a:r>
              <a:rPr sz="3400" b="1" spc="-10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edukasi mengenai dampak penebangan </a:t>
            </a:r>
            <a:r>
              <a:rPr sz="3400" b="1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hutan</a:t>
            </a:r>
            <a:r>
              <a:rPr sz="3400" b="1" spc="-10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 </a:t>
            </a:r>
            <a:r>
              <a:rPr sz="3400" b="1" spc="-25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dan </a:t>
            </a:r>
            <a:r>
              <a:rPr sz="3400" b="1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memicu</a:t>
            </a:r>
            <a:r>
              <a:rPr sz="3400" b="1" spc="-110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 </a:t>
            </a:r>
            <a:r>
              <a:rPr sz="3400" b="1" spc="-20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alur </a:t>
            </a:r>
            <a:r>
              <a:rPr sz="3400" b="1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cerita</a:t>
            </a:r>
            <a:r>
              <a:rPr sz="3400" b="1" spc="-114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utama.</a:t>
            </a:r>
            <a:endParaRPr sz="3400" dirty="0">
              <a:highlight>
                <a:srgbClr val="00FF00"/>
              </a:highlight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36550" y="2533116"/>
            <a:ext cx="3670300" cy="4260850"/>
          </a:xfrm>
          <a:prstGeom prst="rect">
            <a:avLst/>
          </a:prstGeom>
        </p:spPr>
        <p:txBody>
          <a:bodyPr vert="horz" wrap="square" lIns="0" tIns="316865" rIns="0" bIns="0" rtlCol="0">
            <a:spAutoFit/>
          </a:bodyPr>
          <a:lstStyle/>
          <a:p>
            <a:pPr marL="12700" indent="85725">
              <a:lnSpc>
                <a:spcPct val="100000"/>
              </a:lnSpc>
              <a:spcBef>
                <a:spcPts val="2495"/>
              </a:spcBef>
            </a:pPr>
            <a:r>
              <a:rPr sz="3400" b="1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Prolog</a:t>
            </a:r>
            <a:r>
              <a:rPr sz="3400" b="1" spc="-15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Interaktif</a:t>
            </a:r>
            <a:endParaRPr sz="3400" dirty="0">
              <a:highlight>
                <a:srgbClr val="00FF00"/>
              </a:highlight>
              <a:latin typeface="Arial"/>
              <a:cs typeface="Arial"/>
            </a:endParaRPr>
          </a:p>
          <a:p>
            <a:pPr marL="12700" marR="5080">
              <a:lnSpc>
                <a:spcPts val="3400"/>
              </a:lnSpc>
              <a:spcBef>
                <a:spcPts val="3075"/>
              </a:spcBef>
            </a:pPr>
            <a:r>
              <a:rPr sz="3400" b="1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Transisi</a:t>
            </a:r>
            <a:r>
              <a:rPr sz="3400" b="1" spc="-80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cutscene </a:t>
            </a:r>
            <a:r>
              <a:rPr sz="3400" b="1" spc="-20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yang </a:t>
            </a:r>
            <a:r>
              <a:rPr sz="3400" b="1" spc="-10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menjelaskan </a:t>
            </a:r>
            <a:r>
              <a:rPr sz="3400" b="1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sejarah</a:t>
            </a:r>
            <a:r>
              <a:rPr sz="3400" b="1" spc="-25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 </a:t>
            </a:r>
            <a:r>
              <a:rPr sz="3400" b="1" spc="-20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desa </a:t>
            </a:r>
            <a:r>
              <a:rPr sz="3400" b="1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sebelum</a:t>
            </a:r>
            <a:r>
              <a:rPr sz="3400" b="1" spc="-75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 </a:t>
            </a:r>
            <a:r>
              <a:rPr sz="3400" b="1" spc="-25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dan </a:t>
            </a:r>
            <a:r>
              <a:rPr sz="3400" b="1" spc="-10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sesudah </a:t>
            </a:r>
            <a:r>
              <a:rPr sz="3400" b="1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eksploitasi</a:t>
            </a:r>
            <a:r>
              <a:rPr sz="3400" b="1" spc="-110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sawit.</a:t>
            </a:r>
            <a:endParaRPr sz="3400" dirty="0">
              <a:highlight>
                <a:srgbClr val="00FF00"/>
              </a:highlight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59299" y="2533116"/>
            <a:ext cx="3311525" cy="4260850"/>
          </a:xfrm>
          <a:prstGeom prst="rect">
            <a:avLst/>
          </a:prstGeom>
        </p:spPr>
        <p:txBody>
          <a:bodyPr vert="horz" wrap="square" lIns="0" tIns="316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95"/>
              </a:spcBef>
            </a:pPr>
            <a:r>
              <a:rPr sz="3400" b="1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Sistem</a:t>
            </a:r>
            <a:r>
              <a:rPr sz="3400" b="1" spc="-114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Quest</a:t>
            </a:r>
            <a:endParaRPr sz="3400" dirty="0">
              <a:highlight>
                <a:srgbClr val="00FF00"/>
              </a:highlight>
              <a:latin typeface="Arial"/>
              <a:cs typeface="Arial"/>
            </a:endParaRPr>
          </a:p>
          <a:p>
            <a:pPr marL="12700" marR="5080">
              <a:lnSpc>
                <a:spcPts val="3400"/>
              </a:lnSpc>
              <a:spcBef>
                <a:spcPts val="3075"/>
              </a:spcBef>
            </a:pPr>
            <a:r>
              <a:rPr sz="3400" b="1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Logika</a:t>
            </a:r>
            <a:r>
              <a:rPr sz="3400" b="1" spc="-15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berbasis </a:t>
            </a:r>
            <a:r>
              <a:rPr sz="3400" b="1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status</a:t>
            </a:r>
            <a:r>
              <a:rPr sz="3400" b="1" spc="-105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 </a:t>
            </a:r>
            <a:r>
              <a:rPr sz="3400" b="1" spc="-20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yang </a:t>
            </a:r>
            <a:r>
              <a:rPr sz="3400" b="1" spc="-10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memastikan pemain menyelesaikan </a:t>
            </a:r>
            <a:r>
              <a:rPr sz="3400" b="1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tugas</a:t>
            </a:r>
            <a:r>
              <a:rPr sz="3400" b="1" spc="-45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FFFFFF"/>
                </a:solidFill>
                <a:highlight>
                  <a:srgbClr val="00FF00"/>
                </a:highlight>
                <a:latin typeface="Arial"/>
                <a:cs typeface="Arial"/>
              </a:rPr>
              <a:t>secara sekuensial.</a:t>
            </a:r>
            <a:endParaRPr sz="3400" dirty="0">
              <a:highlight>
                <a:srgbClr val="00FF00"/>
              </a:highlight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0812" y="0"/>
              <a:ext cx="11787187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7024783" cy="102869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 marR="5080" algn="ctr">
              <a:lnSpc>
                <a:spcPts val="8460"/>
              </a:lnSpc>
              <a:spcBef>
                <a:spcPts val="865"/>
              </a:spcBef>
              <a:tabLst>
                <a:tab pos="4035425" algn="l"/>
              </a:tabLst>
            </a:pPr>
            <a:r>
              <a:rPr spc="-10" dirty="0"/>
              <a:t>Mekanisme Ekonomi</a:t>
            </a:r>
            <a:r>
              <a:rPr dirty="0"/>
              <a:t>	</a:t>
            </a:r>
            <a:r>
              <a:rPr spc="-50" dirty="0"/>
              <a:t>&amp; </a:t>
            </a:r>
            <a:r>
              <a:rPr spc="-10" dirty="0"/>
              <a:t>Panen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21385" y="1009650"/>
          <a:ext cx="10586085" cy="530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28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7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401955">
                        <a:lnSpc>
                          <a:spcPct val="100000"/>
                        </a:lnSpc>
                      </a:pPr>
                      <a:r>
                        <a:rPr sz="2550" spc="-1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Aktivitas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403860">
                        <a:lnSpc>
                          <a:spcPct val="100000"/>
                        </a:lnSpc>
                      </a:pPr>
                      <a:r>
                        <a:rPr sz="255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Mekanik </a:t>
                      </a:r>
                      <a:r>
                        <a:rPr sz="2550" spc="-1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Utama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254000">
                        <a:lnSpc>
                          <a:spcPct val="100000"/>
                        </a:lnSpc>
                      </a:pPr>
                      <a:r>
                        <a:rPr sz="255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Hasil</a:t>
                      </a:r>
                      <a:r>
                        <a:rPr sz="2550" spc="-2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1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(Reward)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7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401955">
                        <a:lnSpc>
                          <a:spcPct val="100000"/>
                        </a:lnSpc>
                      </a:pPr>
                      <a:r>
                        <a:rPr sz="255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Panen</a:t>
                      </a:r>
                      <a:r>
                        <a:rPr sz="2550" spc="-15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1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Sawit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349885" marR="429259">
                        <a:lnSpc>
                          <a:spcPct val="104000"/>
                        </a:lnSpc>
                      </a:pPr>
                      <a:r>
                        <a:rPr sz="255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Proximity</a:t>
                      </a:r>
                      <a:r>
                        <a:rPr sz="2550" spc="-25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Prompt</a:t>
                      </a:r>
                      <a:r>
                        <a:rPr sz="2550" spc="-25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5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+ </a:t>
                      </a:r>
                      <a:r>
                        <a:rPr sz="2550" spc="-2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Tool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254000" marR="1720214">
                        <a:lnSpc>
                          <a:spcPct val="104000"/>
                        </a:lnSpc>
                      </a:pPr>
                      <a:r>
                        <a:rPr sz="255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Item</a:t>
                      </a:r>
                      <a:r>
                        <a:rPr sz="2550" spc="-15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1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Sawit (Inventory)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7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401955">
                        <a:lnSpc>
                          <a:spcPct val="100000"/>
                        </a:lnSpc>
                      </a:pPr>
                      <a:r>
                        <a:rPr sz="255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Jual</a:t>
                      </a:r>
                      <a:r>
                        <a:rPr sz="2550" spc="-1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ke</a:t>
                      </a:r>
                      <a:r>
                        <a:rPr sz="2550" spc="-1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2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Muis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3860" marR="653415">
                        <a:lnSpc>
                          <a:spcPct val="104000"/>
                        </a:lnSpc>
                        <a:spcBef>
                          <a:spcPts val="1885"/>
                        </a:spcBef>
                      </a:pPr>
                      <a:r>
                        <a:rPr sz="255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NPC</a:t>
                      </a:r>
                      <a:r>
                        <a:rPr sz="2550" spc="-5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1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Transaction Logic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2393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0" marR="1215390">
                        <a:lnSpc>
                          <a:spcPct val="104000"/>
                        </a:lnSpc>
                        <a:spcBef>
                          <a:spcPts val="1135"/>
                        </a:spcBef>
                      </a:pPr>
                      <a:r>
                        <a:rPr sz="2550" spc="-2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Uang </a:t>
                      </a:r>
                      <a:r>
                        <a:rPr sz="2550" spc="-1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(Leaderboard)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441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7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401955">
                        <a:lnSpc>
                          <a:spcPct val="100000"/>
                        </a:lnSpc>
                      </a:pPr>
                      <a:r>
                        <a:rPr sz="255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Beli</a:t>
                      </a:r>
                      <a:r>
                        <a:rPr sz="2550" spc="-1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 Kendaraan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155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403860">
                        <a:lnSpc>
                          <a:spcPct val="100000"/>
                        </a:lnSpc>
                      </a:pPr>
                      <a:r>
                        <a:rPr sz="255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Currency </a:t>
                      </a:r>
                      <a:r>
                        <a:rPr sz="2550" spc="-1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Check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155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254000">
                        <a:lnSpc>
                          <a:spcPct val="100000"/>
                        </a:lnSpc>
                      </a:pPr>
                      <a:r>
                        <a:rPr sz="255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Akses </a:t>
                      </a:r>
                      <a:r>
                        <a:rPr sz="2550" spc="-10" dirty="0">
                          <a:solidFill>
                            <a:srgbClr val="6D2009"/>
                          </a:solidFill>
                          <a:latin typeface="Arial"/>
                          <a:cs typeface="Arial"/>
                        </a:rPr>
                        <a:t>Transportasi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155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7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35175" y="918006"/>
            <a:ext cx="5817235" cy="118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4960" algn="l"/>
              </a:tabLst>
            </a:pPr>
            <a:r>
              <a:rPr spc="-20" dirty="0">
                <a:solidFill>
                  <a:srgbClr val="6D2009"/>
                </a:solidFill>
              </a:rPr>
              <a:t>Demo</a:t>
            </a:r>
            <a:r>
              <a:rPr dirty="0">
                <a:solidFill>
                  <a:srgbClr val="6D2009"/>
                </a:solidFill>
              </a:rPr>
              <a:t>	</a:t>
            </a:r>
            <a:r>
              <a:rPr spc="-10" dirty="0">
                <a:solidFill>
                  <a:srgbClr val="6D2009"/>
                </a:solidFill>
              </a:rPr>
              <a:t>Sistem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45217" y="2635339"/>
            <a:ext cx="10677525" cy="559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Pada</a:t>
            </a:r>
            <a:r>
              <a:rPr sz="3200" spc="-2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saat</a:t>
            </a:r>
            <a:r>
              <a:rPr sz="3200" spc="-2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demonstrasi,</a:t>
            </a:r>
            <a:r>
              <a:rPr sz="3200" spc="-2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6D2009"/>
                </a:solidFill>
                <a:latin typeface="Arial"/>
                <a:cs typeface="Arial"/>
              </a:rPr>
              <a:t>fitur-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fitur</a:t>
            </a:r>
            <a:r>
              <a:rPr sz="3200" spc="-2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yang</a:t>
            </a:r>
            <a:r>
              <a:rPr sz="3200" spc="-2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ditunjukkan</a:t>
            </a:r>
            <a:r>
              <a:rPr sz="3200" spc="-2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6D2009"/>
                </a:solidFill>
                <a:latin typeface="Arial"/>
                <a:cs typeface="Arial"/>
              </a:rPr>
              <a:t>meliputi:</a:t>
            </a:r>
            <a:endParaRPr sz="3200">
              <a:latin typeface="Arial"/>
              <a:cs typeface="Arial"/>
            </a:endParaRPr>
          </a:p>
          <a:p>
            <a:pPr marL="350520" indent="-340995">
              <a:lnSpc>
                <a:spcPct val="100000"/>
              </a:lnSpc>
              <a:spcBef>
                <a:spcPts val="160"/>
              </a:spcBef>
              <a:buSzPct val="96875"/>
              <a:buAutoNum type="arabicPeriod"/>
              <a:tabLst>
                <a:tab pos="350520" algn="l"/>
              </a:tabLst>
            </a:pP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Memulai</a:t>
            </a:r>
            <a:r>
              <a:rPr sz="3200" spc="-3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permainan</a:t>
            </a:r>
            <a:r>
              <a:rPr sz="3200" spc="-3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dan</a:t>
            </a:r>
            <a:r>
              <a:rPr sz="3200" spc="-3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menjelajahi</a:t>
            </a:r>
            <a:r>
              <a:rPr sz="3200" spc="-3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lingkungan</a:t>
            </a:r>
            <a:r>
              <a:rPr sz="3200" spc="-3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6D2009"/>
                </a:solidFill>
                <a:latin typeface="Arial"/>
                <a:cs typeface="Arial"/>
              </a:rPr>
              <a:t>desa.</a:t>
            </a:r>
            <a:endParaRPr sz="3200">
              <a:latin typeface="Arial"/>
              <a:cs typeface="Arial"/>
            </a:endParaRPr>
          </a:p>
          <a:p>
            <a:pPr marL="12700" marR="496570" indent="-3175">
              <a:lnSpc>
                <a:spcPts val="4000"/>
              </a:lnSpc>
              <a:spcBef>
                <a:spcPts val="160"/>
              </a:spcBef>
              <a:buSzPct val="96875"/>
              <a:buAutoNum type="arabicPeriod"/>
              <a:tabLst>
                <a:tab pos="350520" algn="l"/>
              </a:tabLst>
            </a:pP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	Berinteraksi</a:t>
            </a:r>
            <a:r>
              <a:rPr sz="3200" spc="-4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dengan</a:t>
            </a:r>
            <a:r>
              <a:rPr sz="3200" spc="-4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NPC</a:t>
            </a:r>
            <a:r>
              <a:rPr sz="3200" spc="-4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untuk</a:t>
            </a:r>
            <a:r>
              <a:rPr sz="3200" spc="-4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memperoleh</a:t>
            </a:r>
            <a:r>
              <a:rPr sz="3200" spc="-4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6D2009"/>
                </a:solidFill>
                <a:latin typeface="Arial"/>
                <a:cs typeface="Arial"/>
              </a:rPr>
              <a:t>informasi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dan</a:t>
            </a:r>
            <a:r>
              <a:rPr sz="3200" spc="-10" dirty="0">
                <a:solidFill>
                  <a:srgbClr val="6D2009"/>
                </a:solidFill>
                <a:latin typeface="Arial"/>
                <a:cs typeface="Arial"/>
              </a:rPr>
              <a:t> misi.</a:t>
            </a:r>
            <a:endParaRPr sz="3200">
              <a:latin typeface="Arial"/>
              <a:cs typeface="Arial"/>
            </a:endParaRPr>
          </a:p>
          <a:p>
            <a:pPr marL="350520" indent="-340995">
              <a:lnSpc>
                <a:spcPct val="100000"/>
              </a:lnSpc>
              <a:buSzPct val="96875"/>
              <a:buAutoNum type="arabicPeriod"/>
              <a:tabLst>
                <a:tab pos="350520" algn="l"/>
              </a:tabLst>
            </a:pP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Melakukan</a:t>
            </a:r>
            <a:r>
              <a:rPr sz="3200" spc="-4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aktivitas</a:t>
            </a:r>
            <a:r>
              <a:rPr sz="3200" spc="-4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panen</a:t>
            </a:r>
            <a:r>
              <a:rPr sz="3200" spc="-4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6D2009"/>
                </a:solidFill>
                <a:latin typeface="Arial"/>
                <a:cs typeface="Arial"/>
              </a:rPr>
              <a:t>sawit.</a:t>
            </a:r>
            <a:endParaRPr sz="3200">
              <a:latin typeface="Arial"/>
              <a:cs typeface="Arial"/>
            </a:endParaRPr>
          </a:p>
          <a:p>
            <a:pPr marL="350520" indent="-340995">
              <a:lnSpc>
                <a:spcPct val="100000"/>
              </a:lnSpc>
              <a:spcBef>
                <a:spcPts val="160"/>
              </a:spcBef>
              <a:buSzPct val="96875"/>
              <a:buAutoNum type="arabicPeriod"/>
              <a:tabLst>
                <a:tab pos="350520" algn="l"/>
              </a:tabLst>
            </a:pP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Menjual</a:t>
            </a:r>
            <a:r>
              <a:rPr sz="3200" spc="-3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hasil</a:t>
            </a:r>
            <a:r>
              <a:rPr sz="3200" spc="-2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panen</a:t>
            </a:r>
            <a:r>
              <a:rPr sz="3200" spc="-2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6D2009"/>
                </a:solidFill>
                <a:latin typeface="Arial"/>
                <a:cs typeface="Arial"/>
              </a:rPr>
              <a:t>sawit.</a:t>
            </a:r>
            <a:endParaRPr sz="3200">
              <a:latin typeface="Arial"/>
              <a:cs typeface="Arial"/>
            </a:endParaRPr>
          </a:p>
          <a:p>
            <a:pPr marL="350520" indent="-340995">
              <a:lnSpc>
                <a:spcPct val="100000"/>
              </a:lnSpc>
              <a:spcBef>
                <a:spcPts val="160"/>
              </a:spcBef>
              <a:buSzPct val="96875"/>
              <a:buAutoNum type="arabicPeriod"/>
              <a:tabLst>
                <a:tab pos="350520" algn="l"/>
              </a:tabLst>
            </a:pP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Menggunakan</a:t>
            </a:r>
            <a:r>
              <a:rPr sz="3200" spc="-3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kendaraan</a:t>
            </a:r>
            <a:r>
              <a:rPr sz="3200" spc="-3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untuk</a:t>
            </a:r>
            <a:r>
              <a:rPr sz="3200" spc="-3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berpindah</a:t>
            </a:r>
            <a:r>
              <a:rPr sz="3200" spc="-3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6D2009"/>
                </a:solidFill>
                <a:latin typeface="Arial"/>
                <a:cs typeface="Arial"/>
              </a:rPr>
              <a:t>lokasi.</a:t>
            </a:r>
            <a:endParaRPr sz="3200">
              <a:latin typeface="Arial"/>
              <a:cs typeface="Arial"/>
            </a:endParaRPr>
          </a:p>
          <a:p>
            <a:pPr marL="350520" indent="-340995">
              <a:lnSpc>
                <a:spcPct val="100000"/>
              </a:lnSpc>
              <a:spcBef>
                <a:spcPts val="160"/>
              </a:spcBef>
              <a:buSzPct val="96875"/>
              <a:buAutoNum type="arabicPeriod"/>
              <a:tabLst>
                <a:tab pos="350520" algn="l"/>
              </a:tabLst>
            </a:pP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Mengumpulkan</a:t>
            </a:r>
            <a:r>
              <a:rPr sz="3200" spc="-4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bukti</a:t>
            </a:r>
            <a:r>
              <a:rPr sz="3200" spc="-3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terkait</a:t>
            </a:r>
            <a:r>
              <a:rPr sz="3200" spc="-3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praktik</a:t>
            </a:r>
            <a:r>
              <a:rPr sz="3200" spc="-4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6D2009"/>
                </a:solidFill>
                <a:latin typeface="Arial"/>
                <a:cs typeface="Arial"/>
              </a:rPr>
              <a:t>korupsi.</a:t>
            </a:r>
            <a:endParaRPr sz="3200">
              <a:latin typeface="Arial"/>
              <a:cs typeface="Arial"/>
            </a:endParaRPr>
          </a:p>
          <a:p>
            <a:pPr marL="12700" marR="291465" indent="-3175">
              <a:lnSpc>
                <a:spcPts val="4000"/>
              </a:lnSpc>
              <a:spcBef>
                <a:spcPts val="160"/>
              </a:spcBef>
              <a:buSzPct val="96875"/>
              <a:buAutoNum type="arabicPeriod"/>
              <a:tabLst>
                <a:tab pos="350520" algn="l"/>
              </a:tabLst>
            </a:pP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	Memicu</a:t>
            </a:r>
            <a:r>
              <a:rPr sz="3200" spc="-3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event</a:t>
            </a:r>
            <a:r>
              <a:rPr sz="3200" spc="-2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banjir</a:t>
            </a:r>
            <a:r>
              <a:rPr sz="3200" spc="-1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ketika</a:t>
            </a:r>
            <a:r>
              <a:rPr sz="3200" spc="-2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jumlah</a:t>
            </a:r>
            <a:r>
              <a:rPr sz="3200" spc="-1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pohon</a:t>
            </a:r>
            <a:r>
              <a:rPr sz="3200" spc="-2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yang</a:t>
            </a:r>
            <a:r>
              <a:rPr sz="3200" spc="-1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6D2009"/>
                </a:solidFill>
                <a:latin typeface="Arial"/>
                <a:cs typeface="Arial"/>
              </a:rPr>
              <a:t>ditebang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melebihi</a:t>
            </a:r>
            <a:r>
              <a:rPr sz="3200" spc="-2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15</a:t>
            </a:r>
            <a:r>
              <a:rPr sz="3200" spc="-2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6D2009"/>
                </a:solidFill>
                <a:latin typeface="Arial"/>
                <a:cs typeface="Arial"/>
              </a:rPr>
              <a:t>pohon.</a:t>
            </a:r>
            <a:endParaRPr sz="3200">
              <a:latin typeface="Arial"/>
              <a:cs typeface="Arial"/>
            </a:endParaRPr>
          </a:p>
          <a:p>
            <a:pPr marL="350520" indent="-340995">
              <a:lnSpc>
                <a:spcPct val="100000"/>
              </a:lnSpc>
              <a:buSzPct val="96875"/>
              <a:buAutoNum type="arabicPeriod"/>
              <a:tabLst>
                <a:tab pos="350520" algn="l"/>
              </a:tabLst>
            </a:pP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Menampilkan</a:t>
            </a:r>
            <a:r>
              <a:rPr sz="3200" spc="-3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ending</a:t>
            </a:r>
            <a:r>
              <a:rPr sz="3200" spc="-2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dan</a:t>
            </a:r>
            <a:r>
              <a:rPr sz="3200" spc="-2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pesan</a:t>
            </a:r>
            <a:r>
              <a:rPr sz="3200" spc="-3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edukasi</a:t>
            </a:r>
            <a:r>
              <a:rPr sz="3200" spc="-2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6D2009"/>
                </a:solidFill>
                <a:latin typeface="Arial"/>
                <a:cs typeface="Arial"/>
              </a:rPr>
              <a:t>kepada</a:t>
            </a:r>
            <a:r>
              <a:rPr sz="3200" spc="-2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6D2009"/>
                </a:solidFill>
                <a:latin typeface="Arial"/>
                <a:cs typeface="Arial"/>
              </a:rPr>
              <a:t>pemain.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64" y="0"/>
            <a:ext cx="18211335" cy="10287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21118" y="2812059"/>
            <a:ext cx="4154804" cy="22586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 marR="5080" indent="240029">
              <a:lnSpc>
                <a:spcPts val="8460"/>
              </a:lnSpc>
              <a:spcBef>
                <a:spcPts val="860"/>
              </a:spcBef>
              <a:tabLst>
                <a:tab pos="2533650" algn="l"/>
              </a:tabLst>
            </a:pPr>
            <a:r>
              <a:rPr sz="7600" spc="-10" dirty="0">
                <a:solidFill>
                  <a:srgbClr val="FFFFFF"/>
                </a:solidFill>
                <a:latin typeface="Arial"/>
                <a:cs typeface="Arial"/>
              </a:rPr>
              <a:t>Evaluasi Kerja</a:t>
            </a:r>
            <a:r>
              <a:rPr sz="76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7600" spc="-25" dirty="0">
                <a:solidFill>
                  <a:srgbClr val="FFFFFF"/>
                </a:solidFill>
                <a:latin typeface="Arial"/>
                <a:cs typeface="Arial"/>
              </a:rPr>
              <a:t>Tim</a:t>
            </a:r>
            <a:endParaRPr sz="7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22211" y="1008671"/>
            <a:ext cx="10723880" cy="203708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ts val="4000"/>
              </a:lnSpc>
              <a:spcBef>
                <a:spcPts val="40"/>
              </a:spcBef>
            </a:pPr>
            <a:r>
              <a:rPr sz="3200" dirty="0">
                <a:solidFill>
                  <a:srgbClr val="6D2009"/>
                </a:solidFill>
              </a:rPr>
              <a:t>Proyek</a:t>
            </a:r>
            <a:r>
              <a:rPr sz="3200" spc="-35" dirty="0">
                <a:solidFill>
                  <a:srgbClr val="6D2009"/>
                </a:solidFill>
              </a:rPr>
              <a:t> </a:t>
            </a:r>
            <a:r>
              <a:rPr sz="3200" dirty="0">
                <a:solidFill>
                  <a:srgbClr val="6D2009"/>
                </a:solidFill>
              </a:rPr>
              <a:t>ini</a:t>
            </a:r>
            <a:r>
              <a:rPr sz="3200" spc="-30" dirty="0">
                <a:solidFill>
                  <a:srgbClr val="6D2009"/>
                </a:solidFill>
              </a:rPr>
              <a:t> </a:t>
            </a:r>
            <a:r>
              <a:rPr sz="3200" dirty="0">
                <a:solidFill>
                  <a:srgbClr val="6D2009"/>
                </a:solidFill>
              </a:rPr>
              <a:t>dikembangkan</a:t>
            </a:r>
            <a:r>
              <a:rPr sz="3200" spc="-30" dirty="0">
                <a:solidFill>
                  <a:srgbClr val="6D2009"/>
                </a:solidFill>
              </a:rPr>
              <a:t> </a:t>
            </a:r>
            <a:r>
              <a:rPr sz="3200" dirty="0">
                <a:solidFill>
                  <a:srgbClr val="6D2009"/>
                </a:solidFill>
              </a:rPr>
              <a:t>secara</a:t>
            </a:r>
            <a:r>
              <a:rPr sz="3200" spc="-35" dirty="0">
                <a:solidFill>
                  <a:srgbClr val="6D2009"/>
                </a:solidFill>
              </a:rPr>
              <a:t> </a:t>
            </a:r>
            <a:r>
              <a:rPr sz="3200" dirty="0">
                <a:solidFill>
                  <a:srgbClr val="6D2009"/>
                </a:solidFill>
              </a:rPr>
              <a:t>kolaboratif</a:t>
            </a:r>
            <a:r>
              <a:rPr sz="3200" spc="-30" dirty="0">
                <a:solidFill>
                  <a:srgbClr val="6D2009"/>
                </a:solidFill>
              </a:rPr>
              <a:t> </a:t>
            </a:r>
            <a:r>
              <a:rPr sz="3200" spc="-10" dirty="0">
                <a:solidFill>
                  <a:srgbClr val="6D2009"/>
                </a:solidFill>
              </a:rPr>
              <a:t>menggunakan </a:t>
            </a:r>
            <a:r>
              <a:rPr sz="3200" dirty="0">
                <a:solidFill>
                  <a:srgbClr val="6D2009"/>
                </a:solidFill>
              </a:rPr>
              <a:t>fitur</a:t>
            </a:r>
            <a:r>
              <a:rPr sz="3200" spc="-15" dirty="0">
                <a:solidFill>
                  <a:srgbClr val="6D2009"/>
                </a:solidFill>
              </a:rPr>
              <a:t> </a:t>
            </a:r>
            <a:r>
              <a:rPr sz="3200" dirty="0">
                <a:solidFill>
                  <a:srgbClr val="6D2009"/>
                </a:solidFill>
              </a:rPr>
              <a:t>Team</a:t>
            </a:r>
            <a:r>
              <a:rPr sz="3200" spc="-15" dirty="0">
                <a:solidFill>
                  <a:srgbClr val="6D2009"/>
                </a:solidFill>
              </a:rPr>
              <a:t> </a:t>
            </a:r>
            <a:r>
              <a:rPr sz="3200" dirty="0">
                <a:solidFill>
                  <a:srgbClr val="6D2009"/>
                </a:solidFill>
              </a:rPr>
              <a:t>Create</a:t>
            </a:r>
            <a:r>
              <a:rPr sz="3200" spc="-15" dirty="0">
                <a:solidFill>
                  <a:srgbClr val="6D2009"/>
                </a:solidFill>
              </a:rPr>
              <a:t> </a:t>
            </a:r>
            <a:r>
              <a:rPr sz="3200" dirty="0">
                <a:solidFill>
                  <a:srgbClr val="6D2009"/>
                </a:solidFill>
              </a:rPr>
              <a:t>di</a:t>
            </a:r>
            <a:r>
              <a:rPr sz="3200" spc="-15" dirty="0">
                <a:solidFill>
                  <a:srgbClr val="6D2009"/>
                </a:solidFill>
              </a:rPr>
              <a:t> </a:t>
            </a:r>
            <a:r>
              <a:rPr sz="3200" dirty="0">
                <a:solidFill>
                  <a:srgbClr val="6D2009"/>
                </a:solidFill>
              </a:rPr>
              <a:t>Roblox</a:t>
            </a:r>
            <a:r>
              <a:rPr sz="3200" spc="-10" dirty="0">
                <a:solidFill>
                  <a:srgbClr val="6D2009"/>
                </a:solidFill>
              </a:rPr>
              <a:t> </a:t>
            </a:r>
            <a:r>
              <a:rPr sz="3200" dirty="0">
                <a:solidFill>
                  <a:srgbClr val="6D2009"/>
                </a:solidFill>
              </a:rPr>
              <a:t>Studio,</a:t>
            </a:r>
            <a:r>
              <a:rPr sz="3200" spc="-15" dirty="0">
                <a:solidFill>
                  <a:srgbClr val="6D2009"/>
                </a:solidFill>
              </a:rPr>
              <a:t> </a:t>
            </a:r>
            <a:r>
              <a:rPr sz="3200" dirty="0">
                <a:solidFill>
                  <a:srgbClr val="6D2009"/>
                </a:solidFill>
              </a:rPr>
              <a:t>dengan</a:t>
            </a:r>
            <a:r>
              <a:rPr sz="3200" spc="-15" dirty="0">
                <a:solidFill>
                  <a:srgbClr val="6D2009"/>
                </a:solidFill>
              </a:rPr>
              <a:t> </a:t>
            </a:r>
            <a:r>
              <a:rPr sz="3200" spc="-10" dirty="0">
                <a:solidFill>
                  <a:srgbClr val="6D2009"/>
                </a:solidFill>
              </a:rPr>
              <a:t>pembagian </a:t>
            </a:r>
            <a:r>
              <a:rPr sz="3200" dirty="0">
                <a:solidFill>
                  <a:srgbClr val="6D2009"/>
                </a:solidFill>
              </a:rPr>
              <a:t>tugas</a:t>
            </a:r>
            <a:r>
              <a:rPr sz="3200" spc="-25" dirty="0">
                <a:solidFill>
                  <a:srgbClr val="6D2009"/>
                </a:solidFill>
              </a:rPr>
              <a:t> </a:t>
            </a:r>
            <a:r>
              <a:rPr sz="3200" dirty="0">
                <a:solidFill>
                  <a:srgbClr val="6D2009"/>
                </a:solidFill>
              </a:rPr>
              <a:t>yang</a:t>
            </a:r>
            <a:r>
              <a:rPr sz="3200" spc="-20" dirty="0">
                <a:solidFill>
                  <a:srgbClr val="6D2009"/>
                </a:solidFill>
              </a:rPr>
              <a:t> </a:t>
            </a:r>
            <a:r>
              <a:rPr sz="3200" dirty="0">
                <a:solidFill>
                  <a:srgbClr val="6D2009"/>
                </a:solidFill>
              </a:rPr>
              <a:t>meliputi</a:t>
            </a:r>
            <a:r>
              <a:rPr sz="3200" spc="-20" dirty="0">
                <a:solidFill>
                  <a:srgbClr val="6D2009"/>
                </a:solidFill>
              </a:rPr>
              <a:t> </a:t>
            </a:r>
            <a:r>
              <a:rPr sz="3200" dirty="0">
                <a:solidFill>
                  <a:srgbClr val="6D2009"/>
                </a:solidFill>
              </a:rPr>
              <a:t>desain</a:t>
            </a:r>
            <a:r>
              <a:rPr sz="3200" spc="-20" dirty="0">
                <a:solidFill>
                  <a:srgbClr val="6D2009"/>
                </a:solidFill>
              </a:rPr>
              <a:t> </a:t>
            </a:r>
            <a:r>
              <a:rPr sz="3200" dirty="0">
                <a:solidFill>
                  <a:srgbClr val="6D2009"/>
                </a:solidFill>
              </a:rPr>
              <a:t>map,</a:t>
            </a:r>
            <a:r>
              <a:rPr sz="3200" spc="-20" dirty="0">
                <a:solidFill>
                  <a:srgbClr val="6D2009"/>
                </a:solidFill>
              </a:rPr>
              <a:t> </a:t>
            </a:r>
            <a:r>
              <a:rPr sz="3200" dirty="0">
                <a:solidFill>
                  <a:srgbClr val="6D2009"/>
                </a:solidFill>
              </a:rPr>
              <a:t>pembuatan</a:t>
            </a:r>
            <a:r>
              <a:rPr sz="3200" spc="-20" dirty="0">
                <a:solidFill>
                  <a:srgbClr val="6D2009"/>
                </a:solidFill>
              </a:rPr>
              <a:t> </a:t>
            </a:r>
            <a:r>
              <a:rPr sz="3200" dirty="0">
                <a:solidFill>
                  <a:srgbClr val="6D2009"/>
                </a:solidFill>
              </a:rPr>
              <a:t>aset,</a:t>
            </a:r>
            <a:r>
              <a:rPr sz="3200" spc="-20" dirty="0">
                <a:solidFill>
                  <a:srgbClr val="6D2009"/>
                </a:solidFill>
              </a:rPr>
              <a:t> </a:t>
            </a:r>
            <a:r>
              <a:rPr sz="3200" spc="-10" dirty="0">
                <a:solidFill>
                  <a:srgbClr val="6D2009"/>
                </a:solidFill>
              </a:rPr>
              <a:t>scripting, </a:t>
            </a:r>
            <a:r>
              <a:rPr sz="3200" dirty="0">
                <a:solidFill>
                  <a:srgbClr val="6D2009"/>
                </a:solidFill>
              </a:rPr>
              <a:t>dan</a:t>
            </a:r>
            <a:r>
              <a:rPr sz="3200" spc="-10" dirty="0">
                <a:solidFill>
                  <a:srgbClr val="6D2009"/>
                </a:solidFill>
              </a:rPr>
              <a:t> dokumentasi.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195" algn="just">
              <a:lnSpc>
                <a:spcPts val="4000"/>
              </a:lnSpc>
              <a:spcBef>
                <a:spcPts val="100"/>
              </a:spcBef>
            </a:pPr>
            <a:r>
              <a:rPr dirty="0"/>
              <a:t>Tim</a:t>
            </a:r>
            <a:r>
              <a:rPr spc="-15" dirty="0"/>
              <a:t> </a:t>
            </a:r>
            <a:r>
              <a:rPr dirty="0"/>
              <a:t>memanfaatkan</a:t>
            </a:r>
            <a:r>
              <a:rPr spc="-10" dirty="0"/>
              <a:t> </a:t>
            </a:r>
            <a:r>
              <a:rPr dirty="0"/>
              <a:t>fitur</a:t>
            </a:r>
            <a:r>
              <a:rPr spc="-10" dirty="0"/>
              <a:t> </a:t>
            </a:r>
            <a:r>
              <a:rPr dirty="0"/>
              <a:t>Team</a:t>
            </a:r>
            <a:r>
              <a:rPr spc="-10" dirty="0"/>
              <a:t> </a:t>
            </a:r>
            <a:r>
              <a:rPr dirty="0"/>
              <a:t>Create</a:t>
            </a:r>
            <a:r>
              <a:rPr spc="-10" dirty="0"/>
              <a:t> </a:t>
            </a:r>
            <a:r>
              <a:rPr dirty="0"/>
              <a:t>di</a:t>
            </a:r>
            <a:r>
              <a:rPr spc="-10" dirty="0"/>
              <a:t> </a:t>
            </a:r>
            <a:r>
              <a:rPr dirty="0"/>
              <a:t>Roblox</a:t>
            </a:r>
            <a:r>
              <a:rPr spc="-10" dirty="0"/>
              <a:t> Studio </a:t>
            </a:r>
            <a:r>
              <a:rPr dirty="0"/>
              <a:t>untuk</a:t>
            </a:r>
            <a:r>
              <a:rPr spc="-40" dirty="0"/>
              <a:t> </a:t>
            </a:r>
            <a:r>
              <a:rPr dirty="0"/>
              <a:t>bekerja</a:t>
            </a:r>
            <a:r>
              <a:rPr spc="-25" dirty="0"/>
              <a:t> </a:t>
            </a:r>
            <a:r>
              <a:rPr dirty="0"/>
              <a:t>bersama</a:t>
            </a:r>
            <a:r>
              <a:rPr spc="-25" dirty="0"/>
              <a:t> </a:t>
            </a:r>
            <a:r>
              <a:rPr dirty="0"/>
              <a:t>dengan</a:t>
            </a:r>
            <a:r>
              <a:rPr spc="-25" dirty="0"/>
              <a:t> </a:t>
            </a:r>
            <a:r>
              <a:rPr dirty="0"/>
              <a:t>pembagian</a:t>
            </a:r>
            <a:r>
              <a:rPr spc="-25" dirty="0"/>
              <a:t> </a:t>
            </a:r>
            <a:r>
              <a:rPr dirty="0"/>
              <a:t>peran</a:t>
            </a:r>
            <a:r>
              <a:rPr spc="-25" dirty="0"/>
              <a:t> </a:t>
            </a:r>
            <a:r>
              <a:rPr spc="-20" dirty="0"/>
              <a:t>yang </a:t>
            </a:r>
            <a:r>
              <a:rPr spc="-10" dirty="0"/>
              <a:t>spesifik:</a:t>
            </a:r>
          </a:p>
          <a:p>
            <a:pPr marL="703580" marR="5080" indent="-345440">
              <a:lnSpc>
                <a:spcPts val="4000"/>
              </a:lnSpc>
              <a:buChar char="•"/>
              <a:tabLst>
                <a:tab pos="703580" algn="l"/>
              </a:tabLst>
            </a:pPr>
            <a:r>
              <a:rPr dirty="0"/>
              <a:t>Desain</a:t>
            </a:r>
            <a:r>
              <a:rPr spc="-25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dirty="0"/>
              <a:t>Aset:</a:t>
            </a:r>
            <a:r>
              <a:rPr spc="-25" dirty="0"/>
              <a:t> </a:t>
            </a:r>
            <a:r>
              <a:rPr dirty="0"/>
              <a:t>Merancang</a:t>
            </a:r>
            <a:r>
              <a:rPr spc="-25" dirty="0"/>
              <a:t> </a:t>
            </a:r>
            <a:r>
              <a:rPr dirty="0"/>
              <a:t>map</a:t>
            </a:r>
            <a:r>
              <a:rPr spc="-20" dirty="0"/>
              <a:t> </a:t>
            </a:r>
            <a:r>
              <a:rPr dirty="0"/>
              <a:t>dan</a:t>
            </a:r>
            <a:r>
              <a:rPr spc="-25" dirty="0"/>
              <a:t> </a:t>
            </a:r>
            <a:r>
              <a:rPr dirty="0"/>
              <a:t>membuat</a:t>
            </a:r>
            <a:r>
              <a:rPr spc="-25" dirty="0"/>
              <a:t> </a:t>
            </a:r>
            <a:r>
              <a:rPr spc="-20" dirty="0"/>
              <a:t>aset </a:t>
            </a:r>
            <a:r>
              <a:rPr spc="-10" dirty="0"/>
              <a:t>visual.</a:t>
            </a:r>
          </a:p>
          <a:p>
            <a:pPr marL="702945" indent="-344805">
              <a:lnSpc>
                <a:spcPct val="100000"/>
              </a:lnSpc>
              <a:buChar char="•"/>
              <a:tabLst>
                <a:tab pos="702945" algn="l"/>
              </a:tabLst>
            </a:pPr>
            <a:r>
              <a:rPr dirty="0"/>
              <a:t>Teknis:</a:t>
            </a:r>
            <a:r>
              <a:rPr spc="-30" dirty="0"/>
              <a:t> </a:t>
            </a:r>
            <a:r>
              <a:rPr dirty="0"/>
              <a:t>Melakukan</a:t>
            </a:r>
            <a:r>
              <a:rPr spc="-25" dirty="0"/>
              <a:t> </a:t>
            </a:r>
            <a:r>
              <a:rPr dirty="0"/>
              <a:t>scripting</a:t>
            </a:r>
            <a:r>
              <a:rPr spc="-30" dirty="0"/>
              <a:t> </a:t>
            </a:r>
            <a:r>
              <a:rPr dirty="0"/>
              <a:t>atau</a:t>
            </a:r>
            <a:r>
              <a:rPr spc="-25" dirty="0"/>
              <a:t> </a:t>
            </a:r>
            <a:r>
              <a:rPr spc="-10" dirty="0"/>
              <a:t>pemrograman.</a:t>
            </a:r>
          </a:p>
          <a:p>
            <a:pPr marL="702945" indent="-344805">
              <a:lnSpc>
                <a:spcPct val="100000"/>
              </a:lnSpc>
              <a:spcBef>
                <a:spcPts val="160"/>
              </a:spcBef>
              <a:buChar char="•"/>
              <a:tabLst>
                <a:tab pos="702945" algn="l"/>
              </a:tabLst>
            </a:pPr>
            <a:r>
              <a:rPr dirty="0"/>
              <a:t>Administrasi:</a:t>
            </a:r>
            <a:r>
              <a:rPr spc="-55" dirty="0"/>
              <a:t> </a:t>
            </a:r>
            <a:r>
              <a:rPr dirty="0"/>
              <a:t>Menyusun</a:t>
            </a:r>
            <a:r>
              <a:rPr spc="-50" dirty="0"/>
              <a:t> </a:t>
            </a:r>
            <a:r>
              <a:rPr dirty="0"/>
              <a:t>dokumentasi</a:t>
            </a:r>
            <a:r>
              <a:rPr spc="-50" dirty="0"/>
              <a:t> </a:t>
            </a:r>
            <a:r>
              <a:rPr spc="-10" dirty="0"/>
              <a:t>proyek.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319699"/>
            <a:ext cx="8303496" cy="4967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7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1819" rIns="0" bIns="0" rtlCol="0">
            <a:spAutoFit/>
          </a:bodyPr>
          <a:lstStyle/>
          <a:p>
            <a:pPr marL="9175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Evaluasi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82969" y="1007579"/>
            <a:ext cx="11297920" cy="73680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4775">
              <a:lnSpc>
                <a:spcPts val="3629"/>
              </a:lnSpc>
              <a:spcBef>
                <a:spcPts val="95"/>
              </a:spcBef>
            </a:pP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Seluruh</a:t>
            </a:r>
            <a:r>
              <a:rPr sz="2900" spc="-4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7</a:t>
            </a:r>
            <a:r>
              <a:rPr sz="2900" spc="-4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fitur</a:t>
            </a:r>
            <a:r>
              <a:rPr sz="2900" spc="-4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utama</a:t>
            </a:r>
            <a:r>
              <a:rPr sz="2900" spc="-4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pada</a:t>
            </a:r>
            <a:r>
              <a:rPr sz="2900" spc="-4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game</a:t>
            </a:r>
            <a:r>
              <a:rPr sz="2900" spc="-4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Sawit:</a:t>
            </a:r>
            <a:r>
              <a:rPr sz="2900" spc="-4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The</a:t>
            </a:r>
            <a:r>
              <a:rPr sz="2900" spc="-4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Last</a:t>
            </a:r>
            <a:r>
              <a:rPr sz="2900" spc="-4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Chance</a:t>
            </a:r>
            <a:r>
              <a:rPr sz="2900" spc="-4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6D2009"/>
                </a:solidFill>
                <a:latin typeface="Arial"/>
                <a:cs typeface="Arial"/>
              </a:rPr>
              <a:t>sukses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mencatatkan</a:t>
            </a:r>
            <a:r>
              <a:rPr sz="2900" spc="-7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tingkat</a:t>
            </a:r>
            <a:r>
              <a:rPr sz="2900" spc="-7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kelulusan</a:t>
            </a:r>
            <a:r>
              <a:rPr sz="2900" spc="-7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fungsional</a:t>
            </a:r>
            <a:r>
              <a:rPr sz="2900" spc="-7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yang</a:t>
            </a:r>
            <a:r>
              <a:rPr sz="2900" spc="-7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sempurna.</a:t>
            </a:r>
            <a:r>
              <a:rPr sz="2900" spc="-7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6D2009"/>
                </a:solidFill>
                <a:latin typeface="Arial"/>
                <a:cs typeface="Arial"/>
              </a:rPr>
              <a:t>Ketujuh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komponen</a:t>
            </a:r>
            <a:r>
              <a:rPr sz="2900" spc="-6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yang</a:t>
            </a:r>
            <a:r>
              <a:rPr sz="2900" spc="-5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dievaluasi</a:t>
            </a:r>
            <a:r>
              <a:rPr sz="2900" spc="-5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secara</a:t>
            </a:r>
            <a:r>
              <a:rPr sz="2900" spc="-5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komprehensif</a:t>
            </a:r>
            <a:r>
              <a:rPr sz="2900" spc="-5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tersebut</a:t>
            </a:r>
            <a:r>
              <a:rPr sz="2900" spc="-5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6D2009"/>
                </a:solidFill>
                <a:latin typeface="Arial"/>
                <a:cs typeface="Arial"/>
              </a:rPr>
              <a:t>meliputi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modul</a:t>
            </a:r>
            <a:r>
              <a:rPr sz="2900" spc="-8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Interaksi</a:t>
            </a:r>
            <a:r>
              <a:rPr sz="2900" spc="-8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NPC,</a:t>
            </a:r>
            <a:r>
              <a:rPr sz="2900" spc="-8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Sistem</a:t>
            </a:r>
            <a:r>
              <a:rPr sz="2900" spc="-8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Misi,</a:t>
            </a:r>
            <a:r>
              <a:rPr sz="2900" spc="-8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Panen</a:t>
            </a:r>
            <a:r>
              <a:rPr sz="2900" spc="-8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Sawit,</a:t>
            </a:r>
            <a:r>
              <a:rPr sz="2900" spc="-8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Penjualan</a:t>
            </a:r>
            <a:r>
              <a:rPr sz="2900" spc="-8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6D2009"/>
                </a:solidFill>
                <a:latin typeface="Arial"/>
                <a:cs typeface="Arial"/>
              </a:rPr>
              <a:t>Sawit,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Sistem</a:t>
            </a:r>
            <a:r>
              <a:rPr sz="2900" spc="-8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Kendaraan,</a:t>
            </a:r>
            <a:r>
              <a:rPr sz="2900" spc="-8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Investigasi</a:t>
            </a:r>
            <a:r>
              <a:rPr sz="2900" spc="-7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Korupsi,</a:t>
            </a:r>
            <a:r>
              <a:rPr sz="2900" spc="-8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hingga</a:t>
            </a:r>
            <a:r>
              <a:rPr sz="2900" spc="-8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pemicu</a:t>
            </a:r>
            <a:r>
              <a:rPr sz="2900" spc="-7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6D2009"/>
                </a:solidFill>
                <a:latin typeface="Arial"/>
                <a:cs typeface="Arial"/>
              </a:rPr>
              <a:t>Event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Bencana</a:t>
            </a:r>
            <a:r>
              <a:rPr sz="2900" spc="-7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Banjir.</a:t>
            </a:r>
            <a:r>
              <a:rPr sz="2900" spc="-7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Seluruh</a:t>
            </a:r>
            <a:r>
              <a:rPr sz="2900" spc="-7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skenario</a:t>
            </a:r>
            <a:r>
              <a:rPr sz="2900" spc="-7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uji</a:t>
            </a:r>
            <a:r>
              <a:rPr sz="2900" spc="-7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Black</a:t>
            </a:r>
            <a:r>
              <a:rPr sz="2900" spc="-7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Box</a:t>
            </a:r>
            <a:r>
              <a:rPr sz="2900" spc="-7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dinyatakan</a:t>
            </a:r>
            <a:r>
              <a:rPr sz="2900" spc="-7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6D2009"/>
                </a:solidFill>
                <a:latin typeface="Arial"/>
                <a:cs typeface="Arial"/>
              </a:rPr>
              <a:t>berstatus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lolos</a:t>
            </a:r>
            <a:r>
              <a:rPr sz="2900" spc="-3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(Pass)</a:t>
            </a:r>
            <a:r>
              <a:rPr sz="2900" spc="-3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secara</a:t>
            </a:r>
            <a:r>
              <a:rPr sz="2900" spc="-3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menyeluruh</a:t>
            </a:r>
            <a:r>
              <a:rPr sz="2900" spc="-3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tanpa</a:t>
            </a:r>
            <a:r>
              <a:rPr sz="2900" spc="-3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menyisakan</a:t>
            </a:r>
            <a:r>
              <a:rPr sz="2900" spc="-3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galat</a:t>
            </a:r>
            <a:r>
              <a:rPr sz="2900" spc="-3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6D2009"/>
                </a:solidFill>
                <a:latin typeface="Arial"/>
                <a:cs typeface="Arial"/>
              </a:rPr>
              <a:t>ataupun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kegagalan</a:t>
            </a:r>
            <a:r>
              <a:rPr sz="2900" spc="-10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sistem</a:t>
            </a:r>
            <a:r>
              <a:rPr sz="2900" spc="-10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sedikit</a:t>
            </a:r>
            <a:r>
              <a:rPr sz="2900" spc="-10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spc="-20" dirty="0">
                <a:solidFill>
                  <a:srgbClr val="6D2009"/>
                </a:solidFill>
                <a:latin typeface="Arial"/>
                <a:cs typeface="Arial"/>
              </a:rPr>
              <a:t>pun.</a:t>
            </a:r>
            <a:endParaRPr lang="en-US" sz="2900" spc="-20" dirty="0">
              <a:solidFill>
                <a:srgbClr val="6D2009"/>
              </a:solidFill>
              <a:latin typeface="Arial"/>
              <a:cs typeface="Arial"/>
            </a:endParaRPr>
          </a:p>
          <a:p>
            <a:pPr marL="12700" marR="104775">
              <a:lnSpc>
                <a:spcPts val="3629"/>
              </a:lnSpc>
              <a:spcBef>
                <a:spcPts val="95"/>
              </a:spcBef>
            </a:pPr>
            <a:endParaRPr sz="2900" dirty="0">
              <a:latin typeface="Arial"/>
              <a:cs typeface="Arial"/>
            </a:endParaRPr>
          </a:p>
          <a:p>
            <a:pPr marL="12700">
              <a:lnSpc>
                <a:spcPts val="3445"/>
              </a:lnSpc>
            </a:pPr>
            <a:r>
              <a:rPr sz="2900" spc="-10" dirty="0">
                <a:solidFill>
                  <a:srgbClr val="6D2009"/>
                </a:solidFill>
                <a:latin typeface="Arial"/>
                <a:cs typeface="Arial"/>
              </a:rPr>
              <a:t>Keberhasilan</a:t>
            </a:r>
            <a:r>
              <a:rPr sz="2900" spc="-7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ini</a:t>
            </a:r>
            <a:r>
              <a:rPr sz="2900" spc="-7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membuktikan</a:t>
            </a:r>
            <a:r>
              <a:rPr sz="2900" spc="-7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bahwa</a:t>
            </a:r>
            <a:r>
              <a:rPr sz="2900" spc="-7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arsitektur</a:t>
            </a:r>
            <a:r>
              <a:rPr sz="2900" spc="-7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pemrograman</a:t>
            </a:r>
            <a:r>
              <a:rPr sz="2900" spc="-7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spc="-20" dirty="0">
                <a:solidFill>
                  <a:srgbClr val="6D2009"/>
                </a:solidFill>
                <a:latin typeface="Arial"/>
                <a:cs typeface="Arial"/>
              </a:rPr>
              <a:t>yang</a:t>
            </a:r>
            <a:endParaRPr sz="2900" dirty="0">
              <a:latin typeface="Arial"/>
              <a:cs typeface="Arial"/>
            </a:endParaRPr>
          </a:p>
          <a:p>
            <a:pPr marL="12700" marR="5080">
              <a:lnSpc>
                <a:spcPts val="3629"/>
              </a:lnSpc>
              <a:spcBef>
                <a:spcPts val="70"/>
              </a:spcBef>
              <a:tabLst>
                <a:tab pos="8154034" algn="l"/>
              </a:tabLst>
            </a:pP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dibangun</a:t>
            </a:r>
            <a:r>
              <a:rPr sz="2900" spc="-9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di</a:t>
            </a:r>
            <a:r>
              <a:rPr sz="2900" spc="-8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atas</a:t>
            </a:r>
            <a:r>
              <a:rPr sz="2900" spc="-8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platform</a:t>
            </a:r>
            <a:r>
              <a:rPr sz="2900" spc="-8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Roblox</a:t>
            </a:r>
            <a:r>
              <a:rPr sz="2900" spc="-8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Studio</a:t>
            </a:r>
            <a:r>
              <a:rPr sz="2900" spc="-8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memiliki</a:t>
            </a:r>
            <a:r>
              <a:rPr sz="2900" spc="-8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reliabilitas</a:t>
            </a:r>
            <a:r>
              <a:rPr sz="2900" spc="-8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spc="-20" dirty="0">
                <a:solidFill>
                  <a:srgbClr val="6D2009"/>
                </a:solidFill>
                <a:latin typeface="Arial"/>
                <a:cs typeface="Arial"/>
              </a:rPr>
              <a:t>yang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sangat</a:t>
            </a:r>
            <a:r>
              <a:rPr sz="2900" spc="-7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tinggi.</a:t>
            </a:r>
            <a:r>
              <a:rPr sz="2900" spc="-7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6D2009"/>
                </a:solidFill>
                <a:latin typeface="Arial"/>
                <a:cs typeface="Arial"/>
              </a:rPr>
              <a:t>Sinkronisasi</a:t>
            </a:r>
            <a:r>
              <a:rPr sz="2900" spc="-7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logika</a:t>
            </a:r>
            <a:r>
              <a:rPr sz="2900" spc="-7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perangkat</a:t>
            </a:r>
            <a:r>
              <a:rPr sz="2900" spc="-7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6D2009"/>
                </a:solidFill>
                <a:latin typeface="Arial"/>
                <a:cs typeface="Arial"/>
              </a:rPr>
              <a:t>klien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	berjalan</a:t>
            </a:r>
            <a:r>
              <a:rPr sz="2900" spc="-14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6D2009"/>
                </a:solidFill>
                <a:latin typeface="Arial"/>
                <a:cs typeface="Arial"/>
              </a:rPr>
              <a:t>dengan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sangat</a:t>
            </a:r>
            <a:r>
              <a:rPr sz="2900" spc="-5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responsif,</a:t>
            </a:r>
            <a:r>
              <a:rPr sz="2900" spc="-4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stabil,</a:t>
            </a:r>
            <a:r>
              <a:rPr sz="2900" spc="-4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dan</a:t>
            </a:r>
            <a:r>
              <a:rPr sz="2900" spc="-5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presisi</a:t>
            </a:r>
            <a:r>
              <a:rPr sz="2900" spc="-4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pada</a:t>
            </a:r>
            <a:r>
              <a:rPr sz="2900" spc="-4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setiap</a:t>
            </a:r>
            <a:r>
              <a:rPr sz="2900" spc="-4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fiturnya.</a:t>
            </a:r>
            <a:r>
              <a:rPr sz="2900" spc="-5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6D2009"/>
                </a:solidFill>
                <a:latin typeface="Arial"/>
                <a:cs typeface="Arial"/>
              </a:rPr>
              <a:t>Dengan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performa</a:t>
            </a:r>
            <a:r>
              <a:rPr sz="2900" spc="-4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yang</a:t>
            </a:r>
            <a:r>
              <a:rPr sz="2900" spc="-4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telah</a:t>
            </a:r>
            <a:r>
              <a:rPr sz="2900" spc="-4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optimal</a:t>
            </a:r>
            <a:r>
              <a:rPr sz="2900" spc="-4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secara</a:t>
            </a:r>
            <a:r>
              <a:rPr sz="2900" spc="-4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menyeluruh</a:t>
            </a:r>
            <a:r>
              <a:rPr sz="2900" spc="-4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ini,</a:t>
            </a:r>
            <a:r>
              <a:rPr sz="2900" spc="-4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sistem</a:t>
            </a:r>
            <a:r>
              <a:rPr sz="2900" spc="-4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6D2009"/>
                </a:solidFill>
                <a:latin typeface="Arial"/>
                <a:cs typeface="Arial"/>
              </a:rPr>
              <a:t>perangkat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lunak</a:t>
            </a:r>
            <a:r>
              <a:rPr sz="2900" spc="-7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dinyatakan</a:t>
            </a:r>
            <a:r>
              <a:rPr sz="2900" spc="-6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bisa</a:t>
            </a:r>
            <a:r>
              <a:rPr sz="2900" spc="-7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memenuhi</a:t>
            </a:r>
            <a:r>
              <a:rPr sz="2900" spc="-6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kriteria</a:t>
            </a:r>
            <a:r>
              <a:rPr sz="2900" spc="-7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kelayakan</a:t>
            </a:r>
            <a:r>
              <a:rPr sz="2900" spc="-6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teknis</a:t>
            </a:r>
            <a:r>
              <a:rPr sz="2900" spc="-70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dan</a:t>
            </a:r>
            <a:r>
              <a:rPr sz="2900" spc="-65" dirty="0">
                <a:solidFill>
                  <a:srgbClr val="6D2009"/>
                </a:solidFill>
                <a:latin typeface="Arial"/>
                <a:cs typeface="Arial"/>
              </a:rPr>
              <a:t> </a:t>
            </a:r>
            <a:r>
              <a:rPr sz="2900" spc="-20" dirty="0">
                <a:solidFill>
                  <a:srgbClr val="6D2009"/>
                </a:solidFill>
                <a:latin typeface="Arial"/>
                <a:cs typeface="Arial"/>
              </a:rPr>
              <a:t>siap </a:t>
            </a:r>
            <a:r>
              <a:rPr sz="2900" dirty="0">
                <a:solidFill>
                  <a:srgbClr val="6D2009"/>
                </a:solidFill>
                <a:latin typeface="Arial"/>
                <a:cs typeface="Arial"/>
              </a:rPr>
              <a:t>untuk</a:t>
            </a:r>
            <a:r>
              <a:rPr sz="2900" spc="-10" dirty="0">
                <a:solidFill>
                  <a:srgbClr val="6D2009"/>
                </a:solidFill>
                <a:latin typeface="Arial"/>
                <a:cs typeface="Arial"/>
              </a:rPr>
              <a:t> dipublikasikan.</a:t>
            </a:r>
            <a:endParaRPr sz="2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8736" y="2104771"/>
            <a:ext cx="6610984" cy="4029075"/>
          </a:xfrm>
          <a:prstGeom prst="rect">
            <a:avLst/>
          </a:prstGeom>
        </p:spPr>
        <p:txBody>
          <a:bodyPr vert="horz" wrap="square" lIns="0" tIns="672465" rIns="0" bIns="0" rtlCol="0">
            <a:spAutoFit/>
          </a:bodyPr>
          <a:lstStyle/>
          <a:p>
            <a:pPr marL="1199515" marR="5080" indent="-1187450">
              <a:lnSpc>
                <a:spcPct val="71700"/>
              </a:lnSpc>
              <a:spcBef>
                <a:spcPts val="5295"/>
              </a:spcBef>
            </a:pPr>
            <a:r>
              <a:rPr sz="15300" spc="-10" dirty="0">
                <a:solidFill>
                  <a:srgbClr val="366D1E"/>
                </a:solidFill>
              </a:rPr>
              <a:t>THANK </a:t>
            </a:r>
            <a:r>
              <a:rPr sz="15300" spc="-25" dirty="0">
                <a:solidFill>
                  <a:srgbClr val="366D1E"/>
                </a:solidFill>
              </a:rPr>
              <a:t>YOU</a:t>
            </a:r>
            <a:endParaRPr sz="15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596</Words>
  <Application>Microsoft Office PowerPoint</Application>
  <PresentationFormat>Custom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PowerPoint Presentation</vt:lpstr>
      <vt:lpstr>Latar Belakang &amp; Tujuan Proyek</vt:lpstr>
      <vt:lpstr>Deployment</vt:lpstr>
      <vt:lpstr>Rancangan Basis Data (ERD)</vt:lpstr>
      <vt:lpstr>Fitur Utama: Interaksi NPC &amp; Alur Misi</vt:lpstr>
      <vt:lpstr>Fitur Utama: Narasi &amp; Dialog</vt:lpstr>
      <vt:lpstr>Mekanisme Ekonomi &amp; Panen</vt:lpstr>
      <vt:lpstr>Demo Sistem</vt:lpstr>
      <vt:lpstr>Proyek ini dikembangkan secara kolaboratif menggunakan fitur Team Create di Roblox Studio, dengan pembagian tugas yang meliputi desain map, pembuatan aset, scripting, dan dokumentasi.</vt:lpstr>
      <vt:lpstr>Evaluasi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Lovendo Danuartha</cp:lastModifiedBy>
  <cp:revision>1</cp:revision>
  <dcterms:created xsi:type="dcterms:W3CDTF">2026-06-09T18:12:13Z</dcterms:created>
  <dcterms:modified xsi:type="dcterms:W3CDTF">2026-06-09T18:15:13Z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2026-06-09T00:00:00Z</vt:filetime>
  </property>
  <property fmtid="{D5CDD505-2E9C-101B-9397-08002B2CF9AE}" pid="3" name="LastSaved">
    <vt:filetime>2026-06-09T00:00:00Z</vt:filetime>
  </property>
  <property fmtid="{D5CDD505-2E9C-101B-9397-08002B2CF9AE}" pid="4" name="Producer">
    <vt:lpwstr>3-Heights(TM) PDF Security Shell 4.8.25.2 (http://www.pdf-tools.com)</vt:lpwstr>
  </property>
</Properties>
</file>