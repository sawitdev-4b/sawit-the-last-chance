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Open Sauce" charset="1" panose="00000500000000000000"/>
      <p:regular r:id="rId14"/>
    </p:embeddedFont>
    <p:embeddedFont>
      <p:font typeface="Open Sauce Bold Italics" charset="1" panose="000008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embeddings/oleObject1.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embeddings/oleObject2.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5904" y="386376"/>
            <a:ext cx="17436192" cy="9514247"/>
            <a:chOff x="0" y="0"/>
            <a:chExt cx="23248256" cy="12685663"/>
          </a:xfrm>
        </p:grpSpPr>
        <p:pic>
          <p:nvPicPr>
            <p:cNvPr name="Picture 3" id="3"/>
            <p:cNvPicPr>
              <a:picLocks noChangeAspect="true"/>
            </p:cNvPicPr>
            <p:nvPr/>
          </p:nvPicPr>
          <p:blipFill>
            <a:blip r:embed="rId2"/>
            <a:srcRect l="0" t="1424" r="0" b="1424"/>
            <a:stretch>
              <a:fillRect/>
            </a:stretch>
          </p:blipFill>
          <p:spPr>
            <a:xfrm flipH="false" flipV="false">
              <a:off x="0" y="0"/>
              <a:ext cx="23248256" cy="12685663"/>
            </a:xfrm>
            <a:prstGeom prst="rect">
              <a:avLst/>
            </a:prstGeom>
          </p:spPr>
        </p:pic>
      </p:grpSp>
      <p:sp>
        <p:nvSpPr>
          <p:cNvPr name="TextBox 4" id="4"/>
          <p:cNvSpPr txBox="true"/>
          <p:nvPr/>
        </p:nvSpPr>
        <p:spPr>
          <a:xfrm rot="0">
            <a:off x="2605929" y="4148167"/>
            <a:ext cx="12483624" cy="1471941"/>
          </a:xfrm>
          <a:prstGeom prst="rect">
            <a:avLst/>
          </a:prstGeom>
        </p:spPr>
        <p:txBody>
          <a:bodyPr anchor="t" rtlCol="false" tIns="0" lIns="0" bIns="0" rIns="0">
            <a:spAutoFit/>
          </a:bodyPr>
          <a:lstStyle/>
          <a:p>
            <a:pPr algn="ctr">
              <a:lnSpc>
                <a:spcPts val="12061"/>
              </a:lnSpc>
              <a:spcBef>
                <a:spcPct val="0"/>
              </a:spcBef>
            </a:pPr>
            <a:r>
              <a:rPr lang="en-US" sz="8615" spc="-706">
                <a:solidFill>
                  <a:srgbClr val="FFFFFF"/>
                </a:solidFill>
                <a:latin typeface="Open Sauce"/>
                <a:ea typeface="Open Sauce"/>
                <a:cs typeface="Open Sauce"/>
                <a:sym typeface="Open Sauce"/>
              </a:rPr>
              <a:t>Sawit: The Last Chance</a:t>
            </a:r>
          </a:p>
        </p:txBody>
      </p:sp>
      <p:grpSp>
        <p:nvGrpSpPr>
          <p:cNvPr name="Group 5" id="5"/>
          <p:cNvGrpSpPr/>
          <p:nvPr/>
        </p:nvGrpSpPr>
        <p:grpSpPr>
          <a:xfrm rot="0">
            <a:off x="6393452" y="5986318"/>
            <a:ext cx="5501095" cy="836102"/>
            <a:chOff x="0" y="0"/>
            <a:chExt cx="1448848" cy="220208"/>
          </a:xfrm>
        </p:grpSpPr>
        <p:sp>
          <p:nvSpPr>
            <p:cNvPr name="Freeform 6" id="6"/>
            <p:cNvSpPr/>
            <p:nvPr/>
          </p:nvSpPr>
          <p:spPr>
            <a:xfrm flipH="false" flipV="false" rot="0">
              <a:off x="0" y="0"/>
              <a:ext cx="1448848" cy="220208"/>
            </a:xfrm>
            <a:custGeom>
              <a:avLst/>
              <a:gdLst/>
              <a:ahLst/>
              <a:cxnLst/>
              <a:rect r="r" b="b" t="t" l="l"/>
              <a:pathLst>
                <a:path h="220208" w="1448848">
                  <a:moveTo>
                    <a:pt x="110104" y="0"/>
                  </a:moveTo>
                  <a:lnTo>
                    <a:pt x="1338744" y="0"/>
                  </a:lnTo>
                  <a:cubicBezTo>
                    <a:pt x="1367945" y="0"/>
                    <a:pt x="1395951" y="11600"/>
                    <a:pt x="1416599" y="32249"/>
                  </a:cubicBezTo>
                  <a:cubicBezTo>
                    <a:pt x="1437248" y="52897"/>
                    <a:pt x="1448848" y="80903"/>
                    <a:pt x="1448848" y="110104"/>
                  </a:cubicBezTo>
                  <a:lnTo>
                    <a:pt x="1448848" y="110104"/>
                  </a:lnTo>
                  <a:cubicBezTo>
                    <a:pt x="1448848" y="170913"/>
                    <a:pt x="1399553" y="220208"/>
                    <a:pt x="1338744" y="220208"/>
                  </a:cubicBezTo>
                  <a:lnTo>
                    <a:pt x="110104" y="220208"/>
                  </a:lnTo>
                  <a:cubicBezTo>
                    <a:pt x="80903" y="220208"/>
                    <a:pt x="52897" y="208608"/>
                    <a:pt x="32249" y="187959"/>
                  </a:cubicBezTo>
                  <a:cubicBezTo>
                    <a:pt x="11600" y="167311"/>
                    <a:pt x="0" y="139305"/>
                    <a:pt x="0" y="110104"/>
                  </a:cubicBezTo>
                  <a:lnTo>
                    <a:pt x="0" y="110104"/>
                  </a:lnTo>
                  <a:cubicBezTo>
                    <a:pt x="0" y="80903"/>
                    <a:pt x="11600" y="52897"/>
                    <a:pt x="32249" y="32249"/>
                  </a:cubicBezTo>
                  <a:cubicBezTo>
                    <a:pt x="52897" y="11600"/>
                    <a:pt x="80903" y="0"/>
                    <a:pt x="110104" y="0"/>
                  </a:cubicBezTo>
                  <a:close/>
                </a:path>
              </a:pathLst>
            </a:custGeom>
            <a:solidFill>
              <a:srgbClr val="C1FF72"/>
            </a:solidFill>
          </p:spPr>
        </p:sp>
        <p:sp>
          <p:nvSpPr>
            <p:cNvPr name="TextBox 7" id="7"/>
            <p:cNvSpPr txBox="true"/>
            <p:nvPr/>
          </p:nvSpPr>
          <p:spPr>
            <a:xfrm>
              <a:off x="0" y="-38100"/>
              <a:ext cx="1448848" cy="25830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058445" y="5986318"/>
            <a:ext cx="836102" cy="83610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1211408" y="6139281"/>
            <a:ext cx="530176" cy="530176"/>
          </a:xfrm>
          <a:custGeom>
            <a:avLst/>
            <a:gdLst/>
            <a:ahLst/>
            <a:cxnLst/>
            <a:rect r="r" b="b" t="t" l="l"/>
            <a:pathLst>
              <a:path h="530176" w="530176">
                <a:moveTo>
                  <a:pt x="0" y="0"/>
                </a:moveTo>
                <a:lnTo>
                  <a:pt x="530177" y="0"/>
                </a:lnTo>
                <a:lnTo>
                  <a:pt x="530177" y="530177"/>
                </a:lnTo>
                <a:lnTo>
                  <a:pt x="0" y="5301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6608462" y="6109095"/>
            <a:ext cx="4478558" cy="523875"/>
          </a:xfrm>
          <a:prstGeom prst="rect">
            <a:avLst/>
          </a:prstGeom>
        </p:spPr>
        <p:txBody>
          <a:bodyPr anchor="t" rtlCol="false" tIns="0" lIns="0" bIns="0" rIns="0">
            <a:spAutoFit/>
          </a:bodyPr>
          <a:lstStyle/>
          <a:p>
            <a:pPr algn="ctr">
              <a:lnSpc>
                <a:spcPts val="4200"/>
              </a:lnSpc>
              <a:spcBef>
                <a:spcPct val="0"/>
              </a:spcBef>
            </a:pPr>
            <a:r>
              <a:rPr lang="en-US" sz="3000" spc="-120">
                <a:solidFill>
                  <a:srgbClr val="132617"/>
                </a:solidFill>
                <a:latin typeface="Open Sauce"/>
                <a:ea typeface="Open Sauce"/>
                <a:cs typeface="Open Sauce"/>
                <a:sym typeface="Open Sauce"/>
              </a:rPr>
              <a:t>Tegar Faturrahman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43980" y="4980455"/>
            <a:ext cx="8315320" cy="4381559"/>
            <a:chOff x="0" y="0"/>
            <a:chExt cx="11087094" cy="5842078"/>
          </a:xfrm>
        </p:grpSpPr>
        <p:pic>
          <p:nvPicPr>
            <p:cNvPr name="Picture 3" id="3"/>
            <p:cNvPicPr>
              <a:picLocks noChangeAspect="true"/>
            </p:cNvPicPr>
            <p:nvPr/>
          </p:nvPicPr>
          <p:blipFill>
            <a:blip r:embed="rId2"/>
            <a:srcRect l="0" t="10516" r="0" b="10516"/>
            <a:stretch>
              <a:fillRect/>
            </a:stretch>
          </p:blipFill>
          <p:spPr>
            <a:xfrm flipH="false" flipV="false">
              <a:off x="0" y="0"/>
              <a:ext cx="11087094" cy="5842078"/>
            </a:xfrm>
            <a:prstGeom prst="rect">
              <a:avLst/>
            </a:prstGeom>
          </p:spPr>
        </p:pic>
      </p:grpSp>
      <p:grpSp>
        <p:nvGrpSpPr>
          <p:cNvPr name="Group 4" id="4"/>
          <p:cNvGrpSpPr/>
          <p:nvPr/>
        </p:nvGrpSpPr>
        <p:grpSpPr>
          <a:xfrm rot="0">
            <a:off x="827387" y="1416090"/>
            <a:ext cx="6886580" cy="965093"/>
            <a:chOff x="0" y="0"/>
            <a:chExt cx="1813749" cy="254181"/>
          </a:xfrm>
        </p:grpSpPr>
        <p:sp>
          <p:nvSpPr>
            <p:cNvPr name="Freeform 5" id="5"/>
            <p:cNvSpPr/>
            <p:nvPr/>
          </p:nvSpPr>
          <p:spPr>
            <a:xfrm flipH="false" flipV="false" rot="0">
              <a:off x="0" y="0"/>
              <a:ext cx="1813749" cy="254181"/>
            </a:xfrm>
            <a:custGeom>
              <a:avLst/>
              <a:gdLst/>
              <a:ahLst/>
              <a:cxnLst/>
              <a:rect r="r" b="b" t="t" l="l"/>
              <a:pathLst>
                <a:path h="254181" w="1813749">
                  <a:moveTo>
                    <a:pt x="0" y="0"/>
                  </a:moveTo>
                  <a:lnTo>
                    <a:pt x="1813749" y="0"/>
                  </a:lnTo>
                  <a:lnTo>
                    <a:pt x="1813749" y="254181"/>
                  </a:lnTo>
                  <a:lnTo>
                    <a:pt x="0" y="254181"/>
                  </a:lnTo>
                  <a:close/>
                </a:path>
              </a:pathLst>
            </a:custGeom>
            <a:solidFill>
              <a:srgbClr val="C1FF72"/>
            </a:solidFill>
          </p:spPr>
        </p:sp>
        <p:sp>
          <p:nvSpPr>
            <p:cNvPr name="TextBox 6" id="6"/>
            <p:cNvSpPr txBox="true"/>
            <p:nvPr/>
          </p:nvSpPr>
          <p:spPr>
            <a:xfrm>
              <a:off x="0" y="-38100"/>
              <a:ext cx="1813749" cy="292281"/>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8943980" y="393511"/>
            <a:ext cx="3957640" cy="4399711"/>
            <a:chOff x="0" y="0"/>
            <a:chExt cx="5276853" cy="5866281"/>
          </a:xfrm>
        </p:grpSpPr>
        <p:pic>
          <p:nvPicPr>
            <p:cNvPr name="Picture 8" id="8"/>
            <p:cNvPicPr>
              <a:picLocks noChangeAspect="true"/>
            </p:cNvPicPr>
            <p:nvPr/>
          </p:nvPicPr>
          <p:blipFill>
            <a:blip r:embed="rId3"/>
            <a:srcRect l="19988" t="0" r="19988" b="0"/>
            <a:stretch>
              <a:fillRect/>
            </a:stretch>
          </p:blipFill>
          <p:spPr>
            <a:xfrm flipH="false" flipV="false">
              <a:off x="0" y="0"/>
              <a:ext cx="5276853" cy="5866281"/>
            </a:xfrm>
            <a:prstGeom prst="rect">
              <a:avLst/>
            </a:prstGeom>
          </p:spPr>
        </p:pic>
      </p:grpSp>
      <p:grpSp>
        <p:nvGrpSpPr>
          <p:cNvPr name="Group 9" id="9"/>
          <p:cNvGrpSpPr/>
          <p:nvPr/>
        </p:nvGrpSpPr>
        <p:grpSpPr>
          <a:xfrm rot="0">
            <a:off x="13866831" y="1028700"/>
            <a:ext cx="3392469" cy="2599156"/>
            <a:chOff x="0" y="0"/>
            <a:chExt cx="4523292" cy="3465541"/>
          </a:xfrm>
        </p:grpSpPr>
        <p:pic>
          <p:nvPicPr>
            <p:cNvPr name="Picture 10" id="10"/>
            <p:cNvPicPr>
              <a:picLocks noChangeAspect="true"/>
            </p:cNvPicPr>
            <p:nvPr/>
          </p:nvPicPr>
          <p:blipFill>
            <a:blip r:embed="rId4"/>
            <a:srcRect l="15575" t="2915" r="0" b="0"/>
            <a:stretch>
              <a:fillRect/>
            </a:stretch>
          </p:blipFill>
          <p:spPr>
            <a:xfrm flipH="false" flipV="false">
              <a:off x="0" y="0"/>
              <a:ext cx="4523292" cy="3465541"/>
            </a:xfrm>
            <a:prstGeom prst="rect">
              <a:avLst/>
            </a:prstGeom>
          </p:spPr>
        </p:pic>
      </p:grpSp>
      <p:grpSp>
        <p:nvGrpSpPr>
          <p:cNvPr name="Group 11" id="11"/>
          <p:cNvGrpSpPr/>
          <p:nvPr/>
        </p:nvGrpSpPr>
        <p:grpSpPr>
          <a:xfrm rot="0">
            <a:off x="13352481" y="1794827"/>
            <a:ext cx="1028700" cy="10287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606870" y="2978379"/>
            <a:ext cx="5327614" cy="6279921"/>
          </a:xfrm>
          <a:prstGeom prst="rect">
            <a:avLst/>
          </a:prstGeom>
        </p:spPr>
        <p:txBody>
          <a:bodyPr anchor="t" rtlCol="false" tIns="0" lIns="0" bIns="0" rIns="0">
            <a:spAutoFit/>
          </a:bodyPr>
          <a:lstStyle/>
          <a:p>
            <a:pPr algn="l">
              <a:lnSpc>
                <a:spcPts val="3565"/>
              </a:lnSpc>
              <a:spcBef>
                <a:spcPct val="0"/>
              </a:spcBef>
            </a:pPr>
            <a:r>
              <a:rPr lang="en-US" sz="2546" spc="-101">
                <a:solidFill>
                  <a:srgbClr val="132617"/>
                </a:solidFill>
                <a:latin typeface="Open Sauce"/>
                <a:ea typeface="Open Sauce"/>
                <a:cs typeface="Open Sauce"/>
                <a:sym typeface="Open Sauce"/>
              </a:rPr>
              <a:t>Sawit: The Last Chance merupakan game edukasi berbasis cerita (story game) yang dikembangkan menggunakan Roblox Studio. Pemain berperan sebagai seorang pegawai perusahaan sawit yang dipindahkan ke sebuah desa dan menemukan berbagai praktik korupsi serta eksploitasi lingkungan yang berdampak pada masyarakat sekitar. Melalui berbagai misi, pemain diajak memahami hubungan antara aktivitas industri, kerusakan lingkungan, dan bencana alam.</a:t>
            </a:r>
          </a:p>
        </p:txBody>
      </p:sp>
      <p:sp>
        <p:nvSpPr>
          <p:cNvPr name="TextBox 15" id="15"/>
          <p:cNvSpPr txBox="true"/>
          <p:nvPr/>
        </p:nvSpPr>
        <p:spPr>
          <a:xfrm rot="0">
            <a:off x="827387" y="1603329"/>
            <a:ext cx="6886580" cy="523875"/>
          </a:xfrm>
          <a:prstGeom prst="rect">
            <a:avLst/>
          </a:prstGeom>
        </p:spPr>
        <p:txBody>
          <a:bodyPr anchor="t" rtlCol="false" tIns="0" lIns="0" bIns="0" rIns="0">
            <a:spAutoFit/>
          </a:bodyPr>
          <a:lstStyle/>
          <a:p>
            <a:pPr algn="ctr">
              <a:lnSpc>
                <a:spcPts val="4200"/>
              </a:lnSpc>
              <a:spcBef>
                <a:spcPct val="0"/>
              </a:spcBef>
            </a:pPr>
            <a:r>
              <a:rPr lang="en-US" sz="3000" spc="-120">
                <a:solidFill>
                  <a:srgbClr val="132617"/>
                </a:solidFill>
                <a:latin typeface="Open Sauce"/>
                <a:ea typeface="Open Sauce"/>
                <a:cs typeface="Open Sauce"/>
                <a:sym typeface="Open Sauce"/>
              </a:rPr>
              <a:t>Apa itu Sawit: The Last Chance</a:t>
            </a:r>
          </a:p>
        </p:txBody>
      </p:sp>
      <p:sp>
        <p:nvSpPr>
          <p:cNvPr name="Freeform 16" id="16"/>
          <p:cNvSpPr/>
          <p:nvPr/>
        </p:nvSpPr>
        <p:spPr>
          <a:xfrm flipH="false" flipV="false" rot="0">
            <a:off x="13601742" y="2063190"/>
            <a:ext cx="530176" cy="530176"/>
          </a:xfrm>
          <a:custGeom>
            <a:avLst/>
            <a:gdLst/>
            <a:ahLst/>
            <a:cxnLst/>
            <a:rect r="r" b="b" t="t" l="l"/>
            <a:pathLst>
              <a:path h="530176" w="530176">
                <a:moveTo>
                  <a:pt x="0" y="0"/>
                </a:moveTo>
                <a:lnTo>
                  <a:pt x="530177" y="0"/>
                </a:lnTo>
                <a:lnTo>
                  <a:pt x="530177" y="530176"/>
                </a:lnTo>
                <a:lnTo>
                  <a:pt x="0" y="5301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991230"/>
            <a:ext cx="8464665" cy="6267070"/>
            <a:chOff x="0" y="0"/>
            <a:chExt cx="2229377" cy="1650586"/>
          </a:xfrm>
        </p:grpSpPr>
        <p:sp>
          <p:nvSpPr>
            <p:cNvPr name="Freeform 3" id="3"/>
            <p:cNvSpPr/>
            <p:nvPr/>
          </p:nvSpPr>
          <p:spPr>
            <a:xfrm flipH="false" flipV="false" rot="0">
              <a:off x="0" y="0"/>
              <a:ext cx="2229377" cy="1650586"/>
            </a:xfrm>
            <a:custGeom>
              <a:avLst/>
              <a:gdLst/>
              <a:ahLst/>
              <a:cxnLst/>
              <a:rect r="r" b="b" t="t" l="l"/>
              <a:pathLst>
                <a:path h="1650586" w="2229377">
                  <a:moveTo>
                    <a:pt x="0" y="0"/>
                  </a:moveTo>
                  <a:lnTo>
                    <a:pt x="2229377" y="0"/>
                  </a:lnTo>
                  <a:lnTo>
                    <a:pt x="2229377" y="1650586"/>
                  </a:lnTo>
                  <a:lnTo>
                    <a:pt x="0" y="1650586"/>
                  </a:lnTo>
                  <a:close/>
                </a:path>
              </a:pathLst>
            </a:custGeom>
            <a:solidFill>
              <a:srgbClr val="C1FF72"/>
            </a:solidFill>
          </p:spPr>
        </p:sp>
        <p:sp>
          <p:nvSpPr>
            <p:cNvPr name="TextBox 4" id="4"/>
            <p:cNvSpPr txBox="true"/>
            <p:nvPr/>
          </p:nvSpPr>
          <p:spPr>
            <a:xfrm>
              <a:off x="0" y="-38100"/>
              <a:ext cx="2229377" cy="168868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522065" y="6419805"/>
            <a:ext cx="7182160" cy="2838461"/>
          </a:xfrm>
          <a:prstGeom prst="rect">
            <a:avLst/>
          </a:prstGeom>
        </p:spPr>
        <p:txBody>
          <a:bodyPr anchor="t" rtlCol="false" tIns="0" lIns="0" bIns="0" rIns="0">
            <a:spAutoFit/>
          </a:bodyPr>
          <a:lstStyle/>
          <a:p>
            <a:pPr algn="l">
              <a:lnSpc>
                <a:spcPts val="10800"/>
              </a:lnSpc>
            </a:pPr>
            <a:r>
              <a:rPr lang="en-US" sz="11250" spc="-922">
                <a:solidFill>
                  <a:srgbClr val="132617"/>
                </a:solidFill>
                <a:latin typeface="Open Sauce"/>
                <a:ea typeface="Open Sauce"/>
                <a:cs typeface="Open Sauce"/>
                <a:sym typeface="Open Sauce"/>
              </a:rPr>
              <a:t>Demo Sistem</a:t>
            </a:r>
          </a:p>
        </p:txBody>
      </p:sp>
      <p:sp>
        <p:nvSpPr>
          <p:cNvPr name="TextBox 6" id="6"/>
          <p:cNvSpPr txBox="true"/>
          <p:nvPr/>
        </p:nvSpPr>
        <p:spPr>
          <a:xfrm rot="0">
            <a:off x="10522065" y="1652112"/>
            <a:ext cx="6411860" cy="3940445"/>
          </a:xfrm>
          <a:prstGeom prst="rect">
            <a:avLst/>
          </a:prstGeom>
        </p:spPr>
        <p:txBody>
          <a:bodyPr anchor="t" rtlCol="false" tIns="0" lIns="0" bIns="0" rIns="0">
            <a:spAutoFit/>
          </a:bodyPr>
          <a:lstStyle/>
          <a:p>
            <a:pPr algn="l">
              <a:lnSpc>
                <a:spcPts val="2604"/>
              </a:lnSpc>
            </a:pPr>
            <a:r>
              <a:rPr lang="en-US" sz="1860" spc="-74">
                <a:solidFill>
                  <a:srgbClr val="132617"/>
                </a:solidFill>
                <a:latin typeface="Open Sauce"/>
                <a:ea typeface="Open Sauce"/>
                <a:cs typeface="Open Sauce"/>
                <a:sym typeface="Open Sauce"/>
              </a:rPr>
              <a:t>Pada saat demonstrasi, fitur-fitur yang ditunjukkan meliputi:</a:t>
            </a:r>
          </a:p>
          <a:p>
            <a:pPr algn="l" marL="401713" indent="-200856" lvl="1">
              <a:lnSpc>
                <a:spcPts val="2604"/>
              </a:lnSpc>
              <a:buAutoNum type="arabicPeriod" startAt="1"/>
            </a:pPr>
            <a:r>
              <a:rPr lang="en-US" sz="1860" spc="-74">
                <a:solidFill>
                  <a:srgbClr val="132617"/>
                </a:solidFill>
                <a:latin typeface="Open Sauce"/>
                <a:ea typeface="Open Sauce"/>
                <a:cs typeface="Open Sauce"/>
                <a:sym typeface="Open Sauce"/>
              </a:rPr>
              <a:t>Memulai permainan dan menjelajahi lingkungan desa.</a:t>
            </a:r>
          </a:p>
          <a:p>
            <a:pPr algn="l" marL="401713" indent="-200856" lvl="1">
              <a:lnSpc>
                <a:spcPts val="2604"/>
              </a:lnSpc>
              <a:buAutoNum type="arabicPeriod" startAt="1"/>
            </a:pPr>
            <a:r>
              <a:rPr lang="en-US" sz="1860" spc="-74">
                <a:solidFill>
                  <a:srgbClr val="132617"/>
                </a:solidFill>
                <a:latin typeface="Open Sauce"/>
                <a:ea typeface="Open Sauce"/>
                <a:cs typeface="Open Sauce"/>
                <a:sym typeface="Open Sauce"/>
              </a:rPr>
              <a:t>Berinteraksi dengan NPC untuk memperoleh informasi dan misi.</a:t>
            </a:r>
          </a:p>
          <a:p>
            <a:pPr algn="l" marL="401713" indent="-200856" lvl="1">
              <a:lnSpc>
                <a:spcPts val="2604"/>
              </a:lnSpc>
              <a:buAutoNum type="arabicPeriod" startAt="1"/>
            </a:pPr>
            <a:r>
              <a:rPr lang="en-US" sz="1860" spc="-74">
                <a:solidFill>
                  <a:srgbClr val="132617"/>
                </a:solidFill>
                <a:latin typeface="Open Sauce"/>
                <a:ea typeface="Open Sauce"/>
                <a:cs typeface="Open Sauce"/>
                <a:sym typeface="Open Sauce"/>
              </a:rPr>
              <a:t>Melakukan aktivitas panen sawit.</a:t>
            </a:r>
          </a:p>
          <a:p>
            <a:pPr algn="l" marL="401713" indent="-200856" lvl="1">
              <a:lnSpc>
                <a:spcPts val="2604"/>
              </a:lnSpc>
              <a:buAutoNum type="arabicPeriod" startAt="1"/>
            </a:pPr>
            <a:r>
              <a:rPr lang="en-US" sz="1860" spc="-74">
                <a:solidFill>
                  <a:srgbClr val="132617"/>
                </a:solidFill>
                <a:latin typeface="Open Sauce"/>
                <a:ea typeface="Open Sauce"/>
                <a:cs typeface="Open Sauce"/>
                <a:sym typeface="Open Sauce"/>
              </a:rPr>
              <a:t>Menjual hasil panen sawit.</a:t>
            </a:r>
          </a:p>
          <a:p>
            <a:pPr algn="l" marL="401713" indent="-200856" lvl="1">
              <a:lnSpc>
                <a:spcPts val="2604"/>
              </a:lnSpc>
              <a:buAutoNum type="arabicPeriod" startAt="1"/>
            </a:pPr>
            <a:r>
              <a:rPr lang="en-US" sz="1860" spc="-74">
                <a:solidFill>
                  <a:srgbClr val="132617"/>
                </a:solidFill>
                <a:latin typeface="Open Sauce"/>
                <a:ea typeface="Open Sauce"/>
                <a:cs typeface="Open Sauce"/>
                <a:sym typeface="Open Sauce"/>
              </a:rPr>
              <a:t>Menggunakan kendaraan untuk berpindah lokasi.</a:t>
            </a:r>
          </a:p>
          <a:p>
            <a:pPr algn="l" marL="401713" indent="-200856" lvl="1">
              <a:lnSpc>
                <a:spcPts val="2604"/>
              </a:lnSpc>
              <a:buAutoNum type="arabicPeriod" startAt="1"/>
            </a:pPr>
            <a:r>
              <a:rPr lang="en-US" sz="1860" spc="-74">
                <a:solidFill>
                  <a:srgbClr val="132617"/>
                </a:solidFill>
                <a:latin typeface="Open Sauce"/>
                <a:ea typeface="Open Sauce"/>
                <a:cs typeface="Open Sauce"/>
                <a:sym typeface="Open Sauce"/>
              </a:rPr>
              <a:t>Mengumpulkan bukti terkait praktik korupsi.</a:t>
            </a:r>
          </a:p>
          <a:p>
            <a:pPr algn="l" marL="401713" indent="-200856" lvl="1">
              <a:lnSpc>
                <a:spcPts val="2604"/>
              </a:lnSpc>
              <a:buAutoNum type="arabicPeriod" startAt="1"/>
            </a:pPr>
            <a:r>
              <a:rPr lang="en-US" sz="1860" spc="-74">
                <a:solidFill>
                  <a:srgbClr val="132617"/>
                </a:solidFill>
                <a:latin typeface="Open Sauce"/>
                <a:ea typeface="Open Sauce"/>
                <a:cs typeface="Open Sauce"/>
                <a:sym typeface="Open Sauce"/>
              </a:rPr>
              <a:t>Memicu event banjir ketika jumlah pohon yang ditebang melebihi 15 pohon.</a:t>
            </a:r>
          </a:p>
          <a:p>
            <a:pPr algn="l" marL="401713" indent="-200856" lvl="1">
              <a:lnSpc>
                <a:spcPts val="2604"/>
              </a:lnSpc>
              <a:spcBef>
                <a:spcPct val="0"/>
              </a:spcBef>
              <a:buAutoNum type="arabicPeriod" startAt="1"/>
            </a:pPr>
            <a:r>
              <a:rPr lang="en-US" sz="1860" spc="-74">
                <a:solidFill>
                  <a:srgbClr val="132617"/>
                </a:solidFill>
                <a:latin typeface="Open Sauce"/>
                <a:ea typeface="Open Sauce"/>
                <a:cs typeface="Open Sauce"/>
                <a:sym typeface="Open Sauce"/>
              </a:rPr>
              <a:t>Menampilkan ending dan pesan edukasi kepada pemain.</a:t>
            </a:r>
          </a:p>
          <a:p>
            <a:pPr algn="l">
              <a:lnSpc>
                <a:spcPts val="2604"/>
              </a:lnSpc>
              <a:spcBef>
                <a:spcPct val="0"/>
              </a:spcBef>
            </a:pPr>
          </a:p>
        </p:txBody>
      </p:sp>
      <p:grpSp>
        <p:nvGrpSpPr>
          <p:cNvPr name="Group 7" id="7"/>
          <p:cNvGrpSpPr/>
          <p:nvPr/>
        </p:nvGrpSpPr>
        <p:grpSpPr>
          <a:xfrm rot="0">
            <a:off x="0" y="3512638"/>
            <a:ext cx="8979015" cy="6774362"/>
            <a:chOff x="0" y="0"/>
            <a:chExt cx="11972021" cy="9032482"/>
          </a:xfrm>
        </p:grpSpPr>
        <p:pic>
          <p:nvPicPr>
            <p:cNvPr name="Picture 8" id="8"/>
            <p:cNvPicPr>
              <a:picLocks noChangeAspect="true"/>
            </p:cNvPicPr>
            <p:nvPr/>
          </p:nvPicPr>
          <p:blipFill>
            <a:blip r:embed="rId2"/>
            <a:srcRect l="5846" t="0" r="5846" b="0"/>
            <a:stretch>
              <a:fillRect/>
            </a:stretch>
          </p:blipFill>
          <p:spPr>
            <a:xfrm flipH="false" flipV="false">
              <a:off x="0" y="0"/>
              <a:ext cx="11972021" cy="9032482"/>
            </a:xfrm>
            <a:prstGeom prst="rect">
              <a:avLst/>
            </a:prstGeom>
          </p:spPr>
        </p:pic>
      </p:grpSp>
      <p:grpSp>
        <p:nvGrpSpPr>
          <p:cNvPr name="Group 9" id="9"/>
          <p:cNvGrpSpPr/>
          <p:nvPr/>
        </p:nvGrpSpPr>
        <p:grpSpPr>
          <a:xfrm rot="0">
            <a:off x="8199577" y="3263377"/>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448839" y="3512638"/>
            <a:ext cx="530176" cy="530176"/>
          </a:xfrm>
          <a:custGeom>
            <a:avLst/>
            <a:gdLst/>
            <a:ahLst/>
            <a:cxnLst/>
            <a:rect r="r" b="b" t="t" l="l"/>
            <a:pathLst>
              <a:path h="530176" w="530176">
                <a:moveTo>
                  <a:pt x="0" y="0"/>
                </a:moveTo>
                <a:lnTo>
                  <a:pt x="530176" y="0"/>
                </a:lnTo>
                <a:lnTo>
                  <a:pt x="530176" y="530177"/>
                </a:lnTo>
                <a:lnTo>
                  <a:pt x="0" y="5301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14350" y="6061941"/>
            <a:ext cx="11873687" cy="2181302"/>
          </a:xfrm>
          <a:prstGeom prst="rect">
            <a:avLst/>
          </a:prstGeom>
        </p:spPr>
        <p:txBody>
          <a:bodyPr anchor="t" rtlCol="false" tIns="0" lIns="0" bIns="0" rIns="0">
            <a:spAutoFit/>
          </a:bodyPr>
          <a:lstStyle/>
          <a:p>
            <a:pPr algn="l">
              <a:lnSpc>
                <a:spcPts val="17322"/>
              </a:lnSpc>
            </a:pPr>
            <a:r>
              <a:rPr lang="en-US" sz="14435" spc="-1183">
                <a:solidFill>
                  <a:srgbClr val="132617"/>
                </a:solidFill>
                <a:latin typeface="Open Sauce"/>
                <a:ea typeface="Open Sauce"/>
                <a:cs typeface="Open Sauce"/>
                <a:sym typeface="Open Sauce"/>
              </a:rPr>
              <a:t>Evaluasi Proyek</a:t>
            </a:r>
          </a:p>
        </p:txBody>
      </p:sp>
      <p:sp>
        <p:nvSpPr>
          <p:cNvPr name="TextBox 3" id="3"/>
          <p:cNvSpPr txBox="true"/>
          <p:nvPr/>
        </p:nvSpPr>
        <p:spPr>
          <a:xfrm rot="0">
            <a:off x="1028700" y="962025"/>
            <a:ext cx="6488074" cy="523875"/>
          </a:xfrm>
          <a:prstGeom prst="rect">
            <a:avLst/>
          </a:prstGeom>
        </p:spPr>
        <p:txBody>
          <a:bodyPr anchor="t" rtlCol="false" tIns="0" lIns="0" bIns="0" rIns="0">
            <a:spAutoFit/>
          </a:bodyPr>
          <a:lstStyle/>
          <a:p>
            <a:pPr algn="l">
              <a:lnSpc>
                <a:spcPts val="4200"/>
              </a:lnSpc>
              <a:spcBef>
                <a:spcPct val="0"/>
              </a:spcBef>
            </a:pPr>
            <a:r>
              <a:rPr lang="en-US" sz="3000" spc="-120">
                <a:solidFill>
                  <a:srgbClr val="132617"/>
                </a:solidFill>
                <a:latin typeface="Open Sauce"/>
                <a:ea typeface="Open Sauce"/>
                <a:cs typeface="Open Sauce"/>
                <a:sym typeface="Open Sauce"/>
              </a:rPr>
              <a:t>1. Kesesuaian Kebutuhan</a:t>
            </a:r>
          </a:p>
        </p:txBody>
      </p:sp>
      <p:grpSp>
        <p:nvGrpSpPr>
          <p:cNvPr name="Group 4" id="4"/>
          <p:cNvGrpSpPr/>
          <p:nvPr/>
        </p:nvGrpSpPr>
        <p:grpSpPr>
          <a:xfrm rot="0">
            <a:off x="1028700" y="2302496"/>
            <a:ext cx="11094249" cy="2556736"/>
            <a:chOff x="0" y="0"/>
            <a:chExt cx="2921942" cy="673379"/>
          </a:xfrm>
        </p:grpSpPr>
        <p:sp>
          <p:nvSpPr>
            <p:cNvPr name="Freeform 5" id="5"/>
            <p:cNvSpPr/>
            <p:nvPr/>
          </p:nvSpPr>
          <p:spPr>
            <a:xfrm flipH="false" flipV="false" rot="0">
              <a:off x="0" y="0"/>
              <a:ext cx="2921942" cy="673379"/>
            </a:xfrm>
            <a:custGeom>
              <a:avLst/>
              <a:gdLst/>
              <a:ahLst/>
              <a:cxnLst/>
              <a:rect r="r" b="b" t="t" l="l"/>
              <a:pathLst>
                <a:path h="673379" w="2921942">
                  <a:moveTo>
                    <a:pt x="0" y="0"/>
                  </a:moveTo>
                  <a:lnTo>
                    <a:pt x="2921942" y="0"/>
                  </a:lnTo>
                  <a:lnTo>
                    <a:pt x="2921942" y="673379"/>
                  </a:lnTo>
                  <a:lnTo>
                    <a:pt x="0" y="673379"/>
                  </a:lnTo>
                  <a:close/>
                </a:path>
              </a:pathLst>
            </a:custGeom>
            <a:solidFill>
              <a:srgbClr val="C1FF72"/>
            </a:solidFill>
          </p:spPr>
        </p:sp>
        <p:sp>
          <p:nvSpPr>
            <p:cNvPr name="TextBox 6" id="6"/>
            <p:cNvSpPr txBox="true"/>
            <p:nvPr/>
          </p:nvSpPr>
          <p:spPr>
            <a:xfrm>
              <a:off x="0" y="-38100"/>
              <a:ext cx="2921942" cy="711479"/>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441611" y="2510889"/>
            <a:ext cx="10268426" cy="2101850"/>
          </a:xfrm>
          <a:prstGeom prst="rect">
            <a:avLst/>
          </a:prstGeom>
        </p:spPr>
        <p:txBody>
          <a:bodyPr anchor="t" rtlCol="false" tIns="0" lIns="0" bIns="0" rIns="0">
            <a:spAutoFit/>
          </a:bodyPr>
          <a:lstStyle/>
          <a:p>
            <a:pPr algn="l">
              <a:lnSpc>
                <a:spcPts val="2799"/>
              </a:lnSpc>
              <a:spcBef>
                <a:spcPct val="0"/>
              </a:spcBef>
            </a:pPr>
            <a:r>
              <a:rPr lang="en-US" sz="1999" spc="-79">
                <a:solidFill>
                  <a:srgbClr val="132617"/>
                </a:solidFill>
                <a:latin typeface="Open Sauce"/>
                <a:ea typeface="Open Sauce"/>
                <a:cs typeface="Open Sauce"/>
                <a:sym typeface="Open Sauce"/>
              </a:rPr>
              <a:t>Sistem yang dikembangkan telah memenuhi kebutuhan yang diidentifikasi pada tahap analisis. Fitur-fitur utama seperti sistem misi, interaksi NPC, eksplorasi lingkungan, panen dan penjualan sawit, kendaraan, pengumpulan bukti, serta event bencana berhasil diimplementasikan sesuai dengan konsep awal. Selain itu, tujuan edukasi mengenai dampak eksploitasi lingkungan dan korupsi juga dapat disampaikan melalui alur cerita dan mekanisme permainan.</a:t>
            </a:r>
          </a:p>
        </p:txBody>
      </p:sp>
      <p:grpSp>
        <p:nvGrpSpPr>
          <p:cNvPr name="Group 8" id="8"/>
          <p:cNvGrpSpPr/>
          <p:nvPr/>
        </p:nvGrpSpPr>
        <p:grpSpPr>
          <a:xfrm rot="0">
            <a:off x="12388037" y="1024128"/>
            <a:ext cx="4871263" cy="4365281"/>
            <a:chOff x="0" y="0"/>
            <a:chExt cx="1282966" cy="1149704"/>
          </a:xfrm>
        </p:grpSpPr>
        <p:sp>
          <p:nvSpPr>
            <p:cNvPr name="Freeform 9" id="9"/>
            <p:cNvSpPr/>
            <p:nvPr/>
          </p:nvSpPr>
          <p:spPr>
            <a:xfrm flipH="false" flipV="false" rot="0">
              <a:off x="0" y="0"/>
              <a:ext cx="1282966" cy="1149704"/>
            </a:xfrm>
            <a:custGeom>
              <a:avLst/>
              <a:gdLst/>
              <a:ahLst/>
              <a:cxnLst/>
              <a:rect r="r" b="b" t="t" l="l"/>
              <a:pathLst>
                <a:path h="1149704" w="1282966">
                  <a:moveTo>
                    <a:pt x="0" y="0"/>
                  </a:moveTo>
                  <a:lnTo>
                    <a:pt x="1282966" y="0"/>
                  </a:lnTo>
                  <a:lnTo>
                    <a:pt x="1282966" y="1149704"/>
                  </a:lnTo>
                  <a:lnTo>
                    <a:pt x="0" y="1149704"/>
                  </a:lnTo>
                  <a:close/>
                </a:path>
              </a:pathLst>
            </a:custGeom>
            <a:solidFill>
              <a:srgbClr val="C1FF72"/>
            </a:solidFill>
          </p:spPr>
        </p:sp>
        <p:sp>
          <p:nvSpPr>
            <p:cNvPr name="TextBox 10" id="10"/>
            <p:cNvSpPr txBox="true"/>
            <p:nvPr/>
          </p:nvSpPr>
          <p:spPr>
            <a:xfrm>
              <a:off x="0" y="-38100"/>
              <a:ext cx="1282966" cy="118780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2902387" y="1028700"/>
            <a:ext cx="4356913" cy="3839300"/>
            <a:chOff x="0" y="0"/>
            <a:chExt cx="5809217" cy="5119067"/>
          </a:xfrm>
        </p:grpSpPr>
        <p:pic>
          <p:nvPicPr>
            <p:cNvPr name="Picture 12" id="12"/>
            <p:cNvPicPr>
              <a:picLocks noChangeAspect="true"/>
            </p:cNvPicPr>
            <p:nvPr/>
          </p:nvPicPr>
          <p:blipFill>
            <a:blip r:embed="rId2"/>
            <a:srcRect l="12196" t="0" r="12196" b="0"/>
            <a:stretch>
              <a:fillRect/>
            </a:stretch>
          </p:blipFill>
          <p:spPr>
            <a:xfrm flipH="false" flipV="false">
              <a:off x="0" y="0"/>
              <a:ext cx="5809217" cy="5119067"/>
            </a:xfrm>
            <a:prstGeom prst="rect">
              <a:avLst/>
            </a:prstGeom>
          </p:spPr>
        </p:pic>
      </p:grpSp>
      <p:grpSp>
        <p:nvGrpSpPr>
          <p:cNvPr name="Group 13" id="13"/>
          <p:cNvGrpSpPr/>
          <p:nvPr/>
        </p:nvGrpSpPr>
        <p:grpSpPr>
          <a:xfrm rot="0">
            <a:off x="12902387" y="5389409"/>
            <a:ext cx="4356913" cy="3868891"/>
            <a:chOff x="0" y="0"/>
            <a:chExt cx="5809217" cy="5158522"/>
          </a:xfrm>
        </p:grpSpPr>
        <p:pic>
          <p:nvPicPr>
            <p:cNvPr name="Picture 14" id="14"/>
            <p:cNvPicPr>
              <a:picLocks noChangeAspect="true"/>
            </p:cNvPicPr>
            <p:nvPr/>
          </p:nvPicPr>
          <p:blipFill>
            <a:blip r:embed="rId3"/>
            <a:srcRect l="12427" t="0" r="12427" b="0"/>
            <a:stretch>
              <a:fillRect/>
            </a:stretch>
          </p:blipFill>
          <p:spPr>
            <a:xfrm flipH="false" flipV="false">
              <a:off x="0" y="0"/>
              <a:ext cx="5809217" cy="5158522"/>
            </a:xfrm>
            <a:prstGeom prst="rect">
              <a:avLst/>
            </a:prstGeom>
          </p:spPr>
        </p:pic>
      </p:grpSp>
      <p:grpSp>
        <p:nvGrpSpPr>
          <p:cNvPr name="Group 15" id="15"/>
          <p:cNvGrpSpPr/>
          <p:nvPr/>
        </p:nvGrpSpPr>
        <p:grpSpPr>
          <a:xfrm rot="0">
            <a:off x="12122949" y="4609970"/>
            <a:ext cx="1028700" cy="10287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2372210" y="4859232"/>
            <a:ext cx="530176" cy="530176"/>
          </a:xfrm>
          <a:custGeom>
            <a:avLst/>
            <a:gdLst/>
            <a:ahLst/>
            <a:cxnLst/>
            <a:rect r="r" b="b" t="t" l="l"/>
            <a:pathLst>
              <a:path h="530176" w="530176">
                <a:moveTo>
                  <a:pt x="0" y="0"/>
                </a:moveTo>
                <a:lnTo>
                  <a:pt x="530177" y="0"/>
                </a:lnTo>
                <a:lnTo>
                  <a:pt x="530177" y="530177"/>
                </a:lnTo>
                <a:lnTo>
                  <a:pt x="0" y="5301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5400000">
            <a:off x="-3131754" y="4438890"/>
            <a:ext cx="9424810" cy="1517501"/>
          </a:xfrm>
          <a:prstGeom prst="rect">
            <a:avLst/>
          </a:prstGeom>
        </p:spPr>
        <p:txBody>
          <a:bodyPr anchor="t" rtlCol="false" tIns="0" lIns="0" bIns="0" rIns="0">
            <a:spAutoFit/>
          </a:bodyPr>
          <a:lstStyle/>
          <a:p>
            <a:pPr algn="l">
              <a:lnSpc>
                <a:spcPts val="11203"/>
              </a:lnSpc>
            </a:pPr>
            <a:r>
              <a:rPr lang="en-US" sz="11918" spc="-977">
                <a:solidFill>
                  <a:srgbClr val="132617"/>
                </a:solidFill>
                <a:latin typeface="Open Sauce"/>
                <a:ea typeface="Open Sauce"/>
                <a:cs typeface="Open Sauce"/>
                <a:sym typeface="Open Sauce"/>
              </a:rPr>
              <a:t>Hasil Evaluasi</a:t>
            </a:r>
          </a:p>
        </p:txBody>
      </p:sp>
      <p:graphicFrame>
        <p:nvGraphicFramePr>
          <p:cNvPr name="Object 3" id="3"/>
          <p:cNvGraphicFramePr/>
          <p:nvPr/>
        </p:nvGraphicFramePr>
        <p:xfrm>
          <a:off x="3260715" y="668923"/>
          <a:ext cx="3771900" cy="5029200"/>
        </p:xfrm>
        <a:graphic>
          <a:graphicData uri="http://schemas.openxmlformats.org/presentationml/2006/ole">
            <p:oleObj imgW="4775200" imgH="6032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0783989" cy="5555750"/>
            <a:chOff x="0" y="0"/>
            <a:chExt cx="2840228" cy="1463243"/>
          </a:xfrm>
        </p:grpSpPr>
        <p:sp>
          <p:nvSpPr>
            <p:cNvPr name="Freeform 3" id="3"/>
            <p:cNvSpPr/>
            <p:nvPr/>
          </p:nvSpPr>
          <p:spPr>
            <a:xfrm flipH="false" flipV="false" rot="0">
              <a:off x="0" y="0"/>
              <a:ext cx="2840228" cy="1463243"/>
            </a:xfrm>
            <a:custGeom>
              <a:avLst/>
              <a:gdLst/>
              <a:ahLst/>
              <a:cxnLst/>
              <a:rect r="r" b="b" t="t" l="l"/>
              <a:pathLst>
                <a:path h="1463243" w="2840228">
                  <a:moveTo>
                    <a:pt x="0" y="0"/>
                  </a:moveTo>
                  <a:lnTo>
                    <a:pt x="2840228" y="0"/>
                  </a:lnTo>
                  <a:lnTo>
                    <a:pt x="2840228" y="1463243"/>
                  </a:lnTo>
                  <a:lnTo>
                    <a:pt x="0" y="1463243"/>
                  </a:lnTo>
                  <a:close/>
                </a:path>
              </a:pathLst>
            </a:custGeom>
            <a:solidFill>
              <a:srgbClr val="C1FF72"/>
            </a:solidFill>
          </p:spPr>
        </p:sp>
        <p:sp>
          <p:nvSpPr>
            <p:cNvPr name="TextBox 4" id="4"/>
            <p:cNvSpPr txBox="true"/>
            <p:nvPr/>
          </p:nvSpPr>
          <p:spPr>
            <a:xfrm>
              <a:off x="0" y="-38100"/>
              <a:ext cx="2840228" cy="150134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1298339" cy="6063041"/>
            <a:chOff x="0" y="0"/>
            <a:chExt cx="15064452" cy="8084055"/>
          </a:xfrm>
        </p:grpSpPr>
        <p:pic>
          <p:nvPicPr>
            <p:cNvPr name="Picture 6" id="6"/>
            <p:cNvPicPr>
              <a:picLocks noChangeAspect="true"/>
            </p:cNvPicPr>
            <p:nvPr/>
          </p:nvPicPr>
          <p:blipFill>
            <a:blip r:embed="rId2"/>
            <a:srcRect l="0" t="9651" r="0" b="9651"/>
            <a:stretch>
              <a:fillRect/>
            </a:stretch>
          </p:blipFill>
          <p:spPr>
            <a:xfrm flipH="false" flipV="false">
              <a:off x="0" y="0"/>
              <a:ext cx="15064452" cy="8084055"/>
            </a:xfrm>
            <a:prstGeom prst="rect">
              <a:avLst/>
            </a:prstGeom>
          </p:spPr>
        </p:pic>
      </p:grpSp>
      <p:sp>
        <p:nvSpPr>
          <p:cNvPr name="TextBox 7" id="7"/>
          <p:cNvSpPr txBox="true"/>
          <p:nvPr/>
        </p:nvSpPr>
        <p:spPr>
          <a:xfrm rot="0">
            <a:off x="1028700" y="7631047"/>
            <a:ext cx="10938965" cy="1730967"/>
          </a:xfrm>
          <a:prstGeom prst="rect">
            <a:avLst/>
          </a:prstGeom>
        </p:spPr>
        <p:txBody>
          <a:bodyPr anchor="t" rtlCol="false" tIns="0" lIns="0" bIns="0" rIns="0">
            <a:spAutoFit/>
          </a:bodyPr>
          <a:lstStyle/>
          <a:p>
            <a:pPr algn="l">
              <a:lnSpc>
                <a:spcPts val="13670"/>
              </a:lnSpc>
            </a:pPr>
            <a:r>
              <a:rPr lang="en-US" sz="11392" spc="-934">
                <a:solidFill>
                  <a:srgbClr val="132617"/>
                </a:solidFill>
                <a:latin typeface="Open Sauce"/>
                <a:ea typeface="Open Sauce"/>
                <a:cs typeface="Open Sauce"/>
                <a:sym typeface="Open Sauce"/>
              </a:rPr>
              <a:t>2. Kualitas Desain</a:t>
            </a:r>
          </a:p>
        </p:txBody>
      </p:sp>
      <p:sp>
        <p:nvSpPr>
          <p:cNvPr name="TextBox 8" id="8"/>
          <p:cNvSpPr txBox="true"/>
          <p:nvPr/>
        </p:nvSpPr>
        <p:spPr>
          <a:xfrm rot="0">
            <a:off x="11967665" y="198321"/>
            <a:ext cx="6131074" cy="10237378"/>
          </a:xfrm>
          <a:prstGeom prst="rect">
            <a:avLst/>
          </a:prstGeom>
        </p:spPr>
        <p:txBody>
          <a:bodyPr anchor="t" rtlCol="false" tIns="0" lIns="0" bIns="0" rIns="0">
            <a:spAutoFit/>
          </a:bodyPr>
          <a:lstStyle/>
          <a:p>
            <a:pPr algn="l">
              <a:lnSpc>
                <a:spcPts val="3693"/>
              </a:lnSpc>
            </a:pPr>
            <a:r>
              <a:rPr lang="en-US" sz="2638" spc="-105">
                <a:solidFill>
                  <a:srgbClr val="132617"/>
                </a:solidFill>
                <a:latin typeface="Open Sauce"/>
                <a:ea typeface="Open Sauce"/>
                <a:cs typeface="Open Sauce"/>
                <a:sym typeface="Open Sauce"/>
              </a:rPr>
              <a:t>Desain sistem telah dibuat menggunakan beberapa diagram perancangan seperti Use Case Diagram, Activity Diagram, Class Diagram, ERD, dan Deployment Diagram. Struktur game juga dirancang menggunakan pendekatan GDLC sehingga proses pengembangan menjadi lebih terarah.</a:t>
            </a:r>
          </a:p>
          <a:p>
            <a:pPr algn="l">
              <a:lnSpc>
                <a:spcPts val="3693"/>
              </a:lnSpc>
            </a:pPr>
            <a:r>
              <a:rPr lang="en-US" sz="2638" spc="-105">
                <a:solidFill>
                  <a:srgbClr val="132617"/>
                </a:solidFill>
                <a:latin typeface="Open Sauce"/>
                <a:ea typeface="Open Sauce"/>
                <a:cs typeface="Open Sauce"/>
                <a:sym typeface="Open Sauce"/>
              </a:rPr>
              <a:t>Kelebihan desain:</a:t>
            </a:r>
          </a:p>
          <a:p>
            <a:pPr algn="l" marL="569552" indent="-284776" lvl="1">
              <a:lnSpc>
                <a:spcPts val="3693"/>
              </a:lnSpc>
              <a:buFont typeface="Arial"/>
              <a:buChar char="•"/>
            </a:pPr>
            <a:r>
              <a:rPr lang="en-US" sz="2638" spc="-105">
                <a:solidFill>
                  <a:srgbClr val="132617"/>
                </a:solidFill>
                <a:latin typeface="Open Sauce"/>
                <a:ea typeface="Open Sauce"/>
                <a:cs typeface="Open Sauce"/>
                <a:sym typeface="Open Sauce"/>
              </a:rPr>
              <a:t>Alur permainan mudah dipahami.</a:t>
            </a:r>
          </a:p>
          <a:p>
            <a:pPr algn="l" marL="569552" indent="-284776" lvl="1">
              <a:lnSpc>
                <a:spcPts val="3693"/>
              </a:lnSpc>
              <a:buFont typeface="Arial"/>
              <a:buChar char="•"/>
            </a:pPr>
            <a:r>
              <a:rPr lang="en-US" sz="2638" spc="-105">
                <a:solidFill>
                  <a:srgbClr val="132617"/>
                </a:solidFill>
                <a:latin typeface="Open Sauce"/>
                <a:ea typeface="Open Sauce"/>
                <a:cs typeface="Open Sauce"/>
                <a:sym typeface="Open Sauce"/>
              </a:rPr>
              <a:t>Storyline mendukung tujuan edukasi.</a:t>
            </a:r>
          </a:p>
          <a:p>
            <a:pPr algn="l" marL="569552" indent="-284776" lvl="1">
              <a:lnSpc>
                <a:spcPts val="3693"/>
              </a:lnSpc>
              <a:buFont typeface="Arial"/>
              <a:buChar char="•"/>
            </a:pPr>
            <a:r>
              <a:rPr lang="en-US" sz="2638" spc="-105">
                <a:solidFill>
                  <a:srgbClr val="132617"/>
                </a:solidFill>
                <a:latin typeface="Open Sauce"/>
                <a:ea typeface="Open Sauce"/>
                <a:cs typeface="Open Sauce"/>
                <a:sym typeface="Open Sauce"/>
              </a:rPr>
              <a:t>Struktur sistem modular.</a:t>
            </a:r>
          </a:p>
          <a:p>
            <a:pPr algn="l" marL="569552" indent="-284776" lvl="1">
              <a:lnSpc>
                <a:spcPts val="3693"/>
              </a:lnSpc>
              <a:buFont typeface="Arial"/>
              <a:buChar char="•"/>
            </a:pPr>
            <a:r>
              <a:rPr lang="en-US" sz="2638" spc="-105">
                <a:solidFill>
                  <a:srgbClr val="132617"/>
                </a:solidFill>
                <a:latin typeface="Open Sauce"/>
                <a:ea typeface="Open Sauce"/>
                <a:cs typeface="Open Sauce"/>
                <a:sym typeface="Open Sauce"/>
              </a:rPr>
              <a:t>Navigasi sederhana dan mudah digunakan.</a:t>
            </a:r>
          </a:p>
          <a:p>
            <a:pPr algn="l">
              <a:lnSpc>
                <a:spcPts val="3693"/>
              </a:lnSpc>
            </a:pPr>
            <a:r>
              <a:rPr lang="en-US" sz="2638" spc="-105">
                <a:solidFill>
                  <a:srgbClr val="132617"/>
                </a:solidFill>
                <a:latin typeface="Open Sauce"/>
                <a:ea typeface="Open Sauce"/>
                <a:cs typeface="Open Sauce"/>
                <a:sym typeface="Open Sauce"/>
              </a:rPr>
              <a:t>Kekurangan desain:</a:t>
            </a:r>
          </a:p>
          <a:p>
            <a:pPr algn="l" marL="569552" indent="-284776" lvl="1">
              <a:lnSpc>
                <a:spcPts val="3693"/>
              </a:lnSpc>
              <a:buFont typeface="Arial"/>
              <a:buChar char="•"/>
            </a:pPr>
            <a:r>
              <a:rPr lang="en-US" sz="2638" spc="-105">
                <a:solidFill>
                  <a:srgbClr val="132617"/>
                </a:solidFill>
                <a:latin typeface="Open Sauce"/>
                <a:ea typeface="Open Sauce"/>
                <a:cs typeface="Open Sauce"/>
                <a:sym typeface="Open Sauce"/>
              </a:rPr>
              <a:t>Variasi misi masih terbatas.</a:t>
            </a:r>
          </a:p>
          <a:p>
            <a:pPr algn="l" marL="569552" indent="-284776" lvl="1">
              <a:lnSpc>
                <a:spcPts val="3693"/>
              </a:lnSpc>
              <a:buFont typeface="Arial"/>
              <a:buChar char="•"/>
            </a:pPr>
            <a:r>
              <a:rPr lang="en-US" sz="2638" spc="-105">
                <a:solidFill>
                  <a:srgbClr val="132617"/>
                </a:solidFill>
                <a:latin typeface="Open Sauce"/>
                <a:ea typeface="Open Sauce"/>
                <a:cs typeface="Open Sauce"/>
                <a:sym typeface="Open Sauce"/>
              </a:rPr>
              <a:t>Interaksi NPC masih sederhana.</a:t>
            </a:r>
          </a:p>
          <a:p>
            <a:pPr algn="l" marL="569552" indent="-284776" lvl="1">
              <a:lnSpc>
                <a:spcPts val="3693"/>
              </a:lnSpc>
              <a:buFont typeface="Arial"/>
              <a:buChar char="•"/>
            </a:pPr>
            <a:r>
              <a:rPr lang="en-US" sz="2638" spc="-105">
                <a:solidFill>
                  <a:srgbClr val="132617"/>
                </a:solidFill>
                <a:latin typeface="Open Sauce"/>
                <a:ea typeface="Open Sauce"/>
                <a:cs typeface="Open Sauce"/>
                <a:sym typeface="Open Sauce"/>
              </a:rPr>
              <a:t>Belum terdapat sistem penyimpanan statistik yang kompleks.</a:t>
            </a:r>
          </a:p>
          <a:p>
            <a:pPr algn="l" marL="569552" indent="-284776" lvl="1">
              <a:lnSpc>
                <a:spcPts val="3693"/>
              </a:lnSpc>
              <a:spcBef>
                <a:spcPct val="0"/>
              </a:spcBef>
              <a:buFont typeface="Arial"/>
              <a:buChar char="•"/>
            </a:pPr>
            <a:r>
              <a:rPr lang="en-US" sz="2638" spc="-105">
                <a:solidFill>
                  <a:srgbClr val="132617"/>
                </a:solidFill>
                <a:latin typeface="Open Sauce"/>
                <a:ea typeface="Open Sauce"/>
                <a:cs typeface="Open Sauce"/>
                <a:sym typeface="Open Sauce"/>
              </a:rPr>
              <a:t>Visual lingkungan masih dapat dikembangkan lebih lanjut.</a:t>
            </a:r>
          </a:p>
          <a:p>
            <a:pPr algn="l">
              <a:lnSpc>
                <a:spcPts val="3693"/>
              </a:lnSpc>
              <a:spcBef>
                <a:spcPct val="0"/>
              </a:spcBef>
            </a:pPr>
          </a:p>
        </p:txBody>
      </p:sp>
      <p:grpSp>
        <p:nvGrpSpPr>
          <p:cNvPr name="Group 9" id="9"/>
          <p:cNvGrpSpPr/>
          <p:nvPr/>
        </p:nvGrpSpPr>
        <p:grpSpPr>
          <a:xfrm rot="0">
            <a:off x="10783989" y="5548691"/>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1033251" y="5797953"/>
            <a:ext cx="530176" cy="530176"/>
          </a:xfrm>
          <a:custGeom>
            <a:avLst/>
            <a:gdLst/>
            <a:ahLst/>
            <a:cxnLst/>
            <a:rect r="r" b="b" t="t" l="l"/>
            <a:pathLst>
              <a:path h="530176" w="530176">
                <a:moveTo>
                  <a:pt x="0" y="0"/>
                </a:moveTo>
                <a:lnTo>
                  <a:pt x="530176" y="0"/>
                </a:lnTo>
                <a:lnTo>
                  <a:pt x="530176" y="530177"/>
                </a:lnTo>
                <a:lnTo>
                  <a:pt x="0" y="5301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133652"/>
            <a:ext cx="2316177" cy="5124648"/>
            <a:chOff x="0" y="0"/>
            <a:chExt cx="3088236" cy="6832864"/>
          </a:xfrm>
        </p:grpSpPr>
        <p:pic>
          <p:nvPicPr>
            <p:cNvPr name="Picture 3" id="3"/>
            <p:cNvPicPr>
              <a:picLocks noChangeAspect="true"/>
            </p:cNvPicPr>
            <p:nvPr/>
          </p:nvPicPr>
          <p:blipFill>
            <a:blip r:embed="rId2"/>
            <a:srcRect l="34943" t="0" r="34943" b="0"/>
            <a:stretch>
              <a:fillRect/>
            </a:stretch>
          </p:blipFill>
          <p:spPr>
            <a:xfrm flipH="false" flipV="false">
              <a:off x="0" y="0"/>
              <a:ext cx="3088236" cy="6832864"/>
            </a:xfrm>
            <a:prstGeom prst="rect">
              <a:avLst/>
            </a:prstGeom>
          </p:spPr>
        </p:pic>
      </p:grpSp>
      <p:graphicFrame>
        <p:nvGraphicFramePr>
          <p:cNvPr name="Object 4" id="4"/>
          <p:cNvGraphicFramePr/>
          <p:nvPr/>
        </p:nvGraphicFramePr>
        <p:xfrm>
          <a:off x="7632837" y="3015975"/>
          <a:ext cx="3771900" cy="3771900"/>
        </p:xfrm>
        <a:graphic>
          <a:graphicData uri="http://schemas.openxmlformats.org/presentationml/2006/ole">
            <p:oleObj imgW="4521200" imgH="452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5" id="5"/>
          <p:cNvSpPr txBox="true"/>
          <p:nvPr/>
        </p:nvSpPr>
        <p:spPr>
          <a:xfrm rot="0">
            <a:off x="1028700" y="900352"/>
            <a:ext cx="10052629" cy="1096354"/>
          </a:xfrm>
          <a:prstGeom prst="rect">
            <a:avLst/>
          </a:prstGeom>
        </p:spPr>
        <p:txBody>
          <a:bodyPr anchor="t" rtlCol="false" tIns="0" lIns="0" bIns="0" rIns="0">
            <a:spAutoFit/>
          </a:bodyPr>
          <a:lstStyle/>
          <a:p>
            <a:pPr algn="l">
              <a:lnSpc>
                <a:spcPts val="8453"/>
              </a:lnSpc>
            </a:pPr>
            <a:r>
              <a:rPr lang="en-US" sz="8051" spc="-660">
                <a:solidFill>
                  <a:srgbClr val="132617"/>
                </a:solidFill>
                <a:latin typeface="Open Sauce"/>
                <a:ea typeface="Open Sauce"/>
                <a:cs typeface="Open Sauce"/>
                <a:sym typeface="Open Sauce"/>
              </a:rPr>
              <a:t>3. Evaluasi Kerja Tim</a:t>
            </a:r>
          </a:p>
        </p:txBody>
      </p:sp>
      <p:sp>
        <p:nvSpPr>
          <p:cNvPr name="TextBox 6" id="6"/>
          <p:cNvSpPr txBox="true"/>
          <p:nvPr/>
        </p:nvSpPr>
        <p:spPr>
          <a:xfrm rot="0">
            <a:off x="7632837" y="2289585"/>
            <a:ext cx="5613792" cy="523875"/>
          </a:xfrm>
          <a:prstGeom prst="rect">
            <a:avLst/>
          </a:prstGeom>
        </p:spPr>
        <p:txBody>
          <a:bodyPr anchor="t" rtlCol="false" tIns="0" lIns="0" bIns="0" rIns="0">
            <a:spAutoFit/>
          </a:bodyPr>
          <a:lstStyle/>
          <a:p>
            <a:pPr algn="l">
              <a:lnSpc>
                <a:spcPts val="4200"/>
              </a:lnSpc>
              <a:spcBef>
                <a:spcPct val="0"/>
              </a:spcBef>
            </a:pPr>
            <a:r>
              <a:rPr lang="en-US" sz="3000" spc="-120">
                <a:solidFill>
                  <a:srgbClr val="132617"/>
                </a:solidFill>
                <a:latin typeface="Open Sauce"/>
                <a:ea typeface="Open Sauce"/>
                <a:cs typeface="Open Sauce"/>
                <a:sym typeface="Open Sauce"/>
              </a:rPr>
              <a:t>Hasil Evaluasi Kerja Tim</a:t>
            </a:r>
          </a:p>
        </p:txBody>
      </p:sp>
      <p:sp>
        <p:nvSpPr>
          <p:cNvPr name="TextBox 7" id="7"/>
          <p:cNvSpPr txBox="true"/>
          <p:nvPr/>
        </p:nvSpPr>
        <p:spPr>
          <a:xfrm rot="0">
            <a:off x="2841595" y="2289585"/>
            <a:ext cx="3420638" cy="7072429"/>
          </a:xfrm>
          <a:prstGeom prst="rect">
            <a:avLst/>
          </a:prstGeom>
        </p:spPr>
        <p:txBody>
          <a:bodyPr anchor="t" rtlCol="false" tIns="0" lIns="0" bIns="0" rIns="0">
            <a:spAutoFit/>
          </a:bodyPr>
          <a:lstStyle/>
          <a:p>
            <a:pPr algn="l">
              <a:lnSpc>
                <a:spcPts val="4001"/>
              </a:lnSpc>
              <a:spcBef>
                <a:spcPct val="0"/>
              </a:spcBef>
            </a:pPr>
            <a:r>
              <a:rPr lang="en-US" sz="2858" spc="-114">
                <a:solidFill>
                  <a:srgbClr val="132617"/>
                </a:solidFill>
                <a:latin typeface="Open Sauce"/>
                <a:ea typeface="Open Sauce"/>
                <a:cs typeface="Open Sauce"/>
                <a:sym typeface="Open Sauce"/>
              </a:rPr>
              <a:t>Pengembangan proyek dilakukan secara kolaboratif menggunakan fitur Team Create pada Roblox Studio. Setiap anggota tim memiliki tanggung jawab pada bagian yang berbeda seperti desain map, pembuatan aset, scripting, dan dokumentasi.</a:t>
            </a:r>
          </a:p>
        </p:txBody>
      </p:sp>
      <p:sp>
        <p:nvSpPr>
          <p:cNvPr name="TextBox 8" id="8"/>
          <p:cNvSpPr txBox="true"/>
          <p:nvPr/>
        </p:nvSpPr>
        <p:spPr>
          <a:xfrm rot="0">
            <a:off x="6311573" y="8216731"/>
            <a:ext cx="11976427" cy="2016463"/>
          </a:xfrm>
          <a:prstGeom prst="rect">
            <a:avLst/>
          </a:prstGeom>
        </p:spPr>
        <p:txBody>
          <a:bodyPr anchor="t" rtlCol="false" tIns="0" lIns="0" bIns="0" rIns="0">
            <a:spAutoFit/>
          </a:bodyPr>
          <a:lstStyle/>
          <a:p>
            <a:pPr algn="l">
              <a:lnSpc>
                <a:spcPts val="4001"/>
              </a:lnSpc>
              <a:spcBef>
                <a:spcPct val="0"/>
              </a:spcBef>
            </a:pPr>
            <a:r>
              <a:rPr lang="en-US" sz="2858" spc="-114">
                <a:solidFill>
                  <a:srgbClr val="132617"/>
                </a:solidFill>
                <a:latin typeface="Open Sauce"/>
                <a:ea typeface="Open Sauce"/>
                <a:cs typeface="Open Sauce"/>
                <a:sym typeface="Open Sauce"/>
              </a:rPr>
              <a:t>Tim mampu bekerja sama dalam menyelesaikan proyek hingga tahap implementasi dan pengujian. Penggunaan Team Create juga membantu anggota tim bekerja secara bersamaan pada satu proyek yang sama.</a:t>
            </a:r>
          </a:p>
          <a:p>
            <a:pPr algn="l">
              <a:lnSpc>
                <a:spcPts val="4001"/>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11137" y="324174"/>
            <a:ext cx="18409565" cy="2286000"/>
          </a:xfrm>
          <a:prstGeom prst="rect">
            <a:avLst/>
          </a:prstGeom>
        </p:spPr>
        <p:txBody>
          <a:bodyPr anchor="t" rtlCol="false" tIns="0" lIns="0" bIns="0" rIns="0">
            <a:spAutoFit/>
          </a:bodyPr>
          <a:lstStyle/>
          <a:p>
            <a:pPr algn="l">
              <a:lnSpc>
                <a:spcPts val="18000"/>
              </a:lnSpc>
            </a:pPr>
            <a:r>
              <a:rPr lang="en-US" sz="15000" spc="-1230">
                <a:solidFill>
                  <a:srgbClr val="132617"/>
                </a:solidFill>
                <a:latin typeface="Open Sauce"/>
                <a:ea typeface="Open Sauce"/>
                <a:cs typeface="Open Sauce"/>
                <a:sym typeface="Open Sauce"/>
              </a:rPr>
              <a:t>Kesimpulan Evaluasi</a:t>
            </a:r>
          </a:p>
        </p:txBody>
      </p:sp>
      <p:sp>
        <p:nvSpPr>
          <p:cNvPr name="TextBox 3" id="3"/>
          <p:cNvSpPr txBox="true"/>
          <p:nvPr/>
        </p:nvSpPr>
        <p:spPr>
          <a:xfrm rot="0">
            <a:off x="706600" y="3194799"/>
            <a:ext cx="8437400" cy="6753509"/>
          </a:xfrm>
          <a:prstGeom prst="rect">
            <a:avLst/>
          </a:prstGeom>
        </p:spPr>
        <p:txBody>
          <a:bodyPr anchor="t" rtlCol="false" tIns="0" lIns="0" bIns="0" rIns="0">
            <a:spAutoFit/>
          </a:bodyPr>
          <a:lstStyle/>
          <a:p>
            <a:pPr algn="l">
              <a:lnSpc>
                <a:spcPts val="3830"/>
              </a:lnSpc>
              <a:spcBef>
                <a:spcPct val="0"/>
              </a:spcBef>
            </a:pPr>
            <a:r>
              <a:rPr lang="en-US" b="true" sz="2735" i="true" spc="-109">
                <a:solidFill>
                  <a:srgbClr val="132617"/>
                </a:solidFill>
                <a:latin typeface="Open Sauce Bold Italics"/>
                <a:ea typeface="Open Sauce Bold Italics"/>
                <a:cs typeface="Open Sauce Bold Italics"/>
                <a:sym typeface="Open Sauce Bold Italics"/>
              </a:rPr>
              <a:t>Berdasarkan hasil evaluasi, proyek Sawit: The Last Chance telah berhasil memenuhi kebutuhan utama yang telah ditentukan pada tahap perencanaan. Sistem berjalan sesuai fungsi yang dirancang dan mampu menyampaikan pesan edukasi mengenai dampak korupsi serta kerusakan lingkungan melalui media permainan interaktif. Meskipun masih terdapat beberapa aspek yang dapat dikembangkan pada versi berikutnya, seperti peningkatan kualitas visual, penambahan variasi misi, dan pengembangan AI NPC, secara keseluruhan proyek telah berhasil mencapai tujuan yang ditetapkan dan layak untuk dipresentasikan kepada stakeholder maupun pengguna.</a:t>
            </a:r>
          </a:p>
        </p:txBody>
      </p:sp>
      <p:grpSp>
        <p:nvGrpSpPr>
          <p:cNvPr name="Group 4" id="4"/>
          <p:cNvGrpSpPr/>
          <p:nvPr/>
        </p:nvGrpSpPr>
        <p:grpSpPr>
          <a:xfrm rot="0">
            <a:off x="16744950" y="8656790"/>
            <a:ext cx="1028700" cy="10287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6994212" y="8906051"/>
            <a:ext cx="530176" cy="530176"/>
          </a:xfrm>
          <a:custGeom>
            <a:avLst/>
            <a:gdLst/>
            <a:ahLst/>
            <a:cxnLst/>
            <a:rect r="r" b="b" t="t" l="l"/>
            <a:pathLst>
              <a:path h="530176" w="530176">
                <a:moveTo>
                  <a:pt x="0" y="0"/>
                </a:moveTo>
                <a:lnTo>
                  <a:pt x="530176" y="0"/>
                </a:lnTo>
                <a:lnTo>
                  <a:pt x="530176" y="530177"/>
                </a:lnTo>
                <a:lnTo>
                  <a:pt x="0" y="5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9415920" y="3242424"/>
            <a:ext cx="10480443" cy="5372133"/>
            <a:chOff x="0" y="0"/>
            <a:chExt cx="13973925" cy="7162844"/>
          </a:xfrm>
        </p:grpSpPr>
        <p:pic>
          <p:nvPicPr>
            <p:cNvPr name="Picture 9" id="9"/>
            <p:cNvPicPr>
              <a:picLocks noChangeAspect="true"/>
            </p:cNvPicPr>
            <p:nvPr/>
          </p:nvPicPr>
          <p:blipFill>
            <a:blip r:embed="rId4"/>
            <a:srcRect l="0" t="11590" r="0" b="11590"/>
            <a:stretch>
              <a:fillRect/>
            </a:stretch>
          </p:blipFill>
          <p:spPr>
            <a:xfrm flipH="false" flipV="false">
              <a:off x="0" y="0"/>
              <a:ext cx="13973925" cy="7162844"/>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DAHMFAvjt-M</dc:identifier>
  <dcterms:modified xsi:type="dcterms:W3CDTF">2011-08-01T06:04:30Z</dcterms:modified>
  <cp:revision>1</cp:revision>
  <dc:title>Tegar 14</dc:title>
</cp:coreProperties>
</file>